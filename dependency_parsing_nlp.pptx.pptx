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libri (MS) Bold" charset="1" panose="020F0702030404030204"/>
      <p:regular r:id="rId26"/>
    </p:embeddedFont>
    <p:embeddedFont>
      <p:font typeface="Calibri (MS) Italics" charset="1" panose="020F05020202040A0204"/>
      <p:regular r:id="rId27"/>
    </p:embeddedFont>
    <p:embeddedFont>
      <p:font typeface="Calibri (MS)" charset="1" panose="020F0502020204030204"/>
      <p:regular r:id="rId28"/>
    </p:embeddedFont>
    <p:embeddedFont>
      <p:font typeface="Consolas" charset="1" panose="020B060902020403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Relationship Id="rId7" Target="../media/image3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8.png" Type="http://schemas.openxmlformats.org/officeDocument/2006/relationships/image"/><Relationship Id="rId6" Target="../media/image12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Relationship Id="rId6" Target="../media/image16.jpe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9.png" Type="http://schemas.openxmlformats.org/officeDocument/2006/relationships/image"/><Relationship Id="rId6" Target="../media/image4.png" Type="http://schemas.openxmlformats.org/officeDocument/2006/relationships/image"/><Relationship Id="rId7" Target="../media/image10.png" Type="http://schemas.openxmlformats.org/officeDocument/2006/relationships/image"/><Relationship Id="rId8" Target="../media/image3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11.png" Type="http://schemas.openxmlformats.org/officeDocument/2006/relationships/image"/><Relationship Id="rId6" Target="../media/image19.png" Type="http://schemas.openxmlformats.org/officeDocument/2006/relationships/image"/><Relationship Id="rId7" Target="../media/image12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4.png" Type="http://schemas.openxmlformats.org/officeDocument/2006/relationships/image"/><Relationship Id="rId6" Target="../media/image9.png" Type="http://schemas.openxmlformats.org/officeDocument/2006/relationships/image"/><Relationship Id="rId7" Target="../media/image8.png" Type="http://schemas.openxmlformats.org/officeDocument/2006/relationships/image"/><Relationship Id="rId8" Target="../media/image12.png" Type="http://schemas.openxmlformats.org/officeDocument/2006/relationships/image"/><Relationship Id="rId9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6759" y="-12697"/>
            <a:ext cx="18093947" cy="135131"/>
            <a:chOff x="0" y="0"/>
            <a:chExt cx="24125263" cy="1801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091392" cy="146304"/>
            </a:xfrm>
            <a:custGeom>
              <a:avLst/>
              <a:gdLst/>
              <a:ahLst/>
              <a:cxnLst/>
              <a:rect r="r" b="b" t="t" l="l"/>
              <a:pathLst>
                <a:path h="146304" w="24091392">
                  <a:moveTo>
                    <a:pt x="0" y="0"/>
                  </a:moveTo>
                  <a:lnTo>
                    <a:pt x="24091392" y="0"/>
                  </a:lnTo>
                  <a:lnTo>
                    <a:pt x="24091392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25174" cy="180088"/>
            </a:xfrm>
            <a:custGeom>
              <a:avLst/>
              <a:gdLst/>
              <a:ahLst/>
              <a:cxnLst/>
              <a:rect r="r" b="b" t="t" l="l"/>
              <a:pathLst>
                <a:path h="180088" w="24125174">
                  <a:moveTo>
                    <a:pt x="16891" y="0"/>
                  </a:moveTo>
                  <a:lnTo>
                    <a:pt x="24108283" y="0"/>
                  </a:lnTo>
                  <a:cubicBezTo>
                    <a:pt x="24117681" y="0"/>
                    <a:pt x="24125174" y="7620"/>
                    <a:pt x="24125174" y="16891"/>
                  </a:cubicBezTo>
                  <a:lnTo>
                    <a:pt x="24125174" y="163195"/>
                  </a:lnTo>
                  <a:cubicBezTo>
                    <a:pt x="24125174" y="172593"/>
                    <a:pt x="24117554" y="180086"/>
                    <a:pt x="24108283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24108283" y="146304"/>
                  </a:lnTo>
                  <a:lnTo>
                    <a:pt x="24108283" y="163195"/>
                  </a:lnTo>
                  <a:lnTo>
                    <a:pt x="24091393" y="163195"/>
                  </a:lnTo>
                  <a:lnTo>
                    <a:pt x="24091393" y="16891"/>
                  </a:lnTo>
                  <a:lnTo>
                    <a:pt x="24108283" y="16891"/>
                  </a:lnTo>
                  <a:lnTo>
                    <a:pt x="24108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36576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433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 OF COMPUTER SCIENCE &amp; ENGINEERING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950976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90CAF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Indian Institute of Technology (BHU), Varanasi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10607040" cy="2743200"/>
            <a:chOff x="0" y="0"/>
            <a:chExt cx="14142720" cy="365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427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42" r="0" b="-2534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14142720" cy="3781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Dependency Parsing for</a:t>
              </a:r>
            </a:p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 Resource Languages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4608576"/>
            <a:ext cx="10607040" cy="1737360"/>
            <a:chOff x="0" y="0"/>
            <a:chExt cx="14142720" cy="2316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1427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61" r="0" b="-6896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4142720" cy="2392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Stanza NLP with</a:t>
              </a:r>
            </a:p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Django Web Integration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8823" y="6479543"/>
            <a:ext cx="8255003" cy="98555"/>
            <a:chOff x="0" y="0"/>
            <a:chExt cx="11006671" cy="1314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972800" cy="97536"/>
            </a:xfrm>
            <a:custGeom>
              <a:avLst/>
              <a:gdLst/>
              <a:ahLst/>
              <a:cxnLst/>
              <a:rect r="r" b="b" t="t" l="l"/>
              <a:pathLst>
                <a:path h="975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06582" cy="131320"/>
            </a:xfrm>
            <a:custGeom>
              <a:avLst/>
              <a:gdLst/>
              <a:ahLst/>
              <a:cxnLst/>
              <a:rect r="r" b="b" t="t" l="l"/>
              <a:pathLst>
                <a:path h="13132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4427"/>
                  </a:lnTo>
                  <a:cubicBezTo>
                    <a:pt x="11006582" y="123825"/>
                    <a:pt x="10998962" y="131318"/>
                    <a:pt x="109896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989691" y="97536"/>
                  </a:lnTo>
                  <a:lnTo>
                    <a:pt x="10989691" y="114427"/>
                  </a:lnTo>
                  <a:lnTo>
                    <a:pt x="10972800" y="114427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31520" y="6675120"/>
            <a:ext cx="7315200" cy="548640"/>
            <a:chOff x="0" y="0"/>
            <a:chExt cx="97536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8823" y="7223760"/>
            <a:ext cx="8425177" cy="2664466"/>
            <a:chOff x="0" y="0"/>
            <a:chExt cx="11233569" cy="35526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66" y="16044"/>
              <a:ext cx="11199750" cy="3520450"/>
            </a:xfrm>
            <a:custGeom>
              <a:avLst/>
              <a:gdLst/>
              <a:ahLst/>
              <a:cxnLst/>
              <a:rect r="r" b="b" t="t" l="l"/>
              <a:pathLst>
                <a:path h="3520450" w="11199750">
                  <a:moveTo>
                    <a:pt x="0" y="0"/>
                  </a:moveTo>
                  <a:lnTo>
                    <a:pt x="11199749" y="0"/>
                  </a:lnTo>
                  <a:lnTo>
                    <a:pt x="11199749" y="3520450"/>
                  </a:lnTo>
                  <a:lnTo>
                    <a:pt x="0" y="352045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33480" cy="3552537"/>
            </a:xfrm>
            <a:custGeom>
              <a:avLst/>
              <a:gdLst/>
              <a:ahLst/>
              <a:cxnLst/>
              <a:rect r="r" b="b" t="t" l="l"/>
              <a:pathLst>
                <a:path h="3552537" w="11233480">
                  <a:moveTo>
                    <a:pt x="16866" y="0"/>
                  </a:moveTo>
                  <a:lnTo>
                    <a:pt x="11216615" y="0"/>
                  </a:lnTo>
                  <a:cubicBezTo>
                    <a:pt x="11225998" y="0"/>
                    <a:pt x="11233480" y="7238"/>
                    <a:pt x="11233480" y="16044"/>
                  </a:cubicBezTo>
                  <a:lnTo>
                    <a:pt x="11233480" y="3536494"/>
                  </a:lnTo>
                  <a:cubicBezTo>
                    <a:pt x="11233480" y="3545420"/>
                    <a:pt x="11225872" y="3552537"/>
                    <a:pt x="11216615" y="3552537"/>
                  </a:cubicBezTo>
                  <a:lnTo>
                    <a:pt x="16866" y="3552537"/>
                  </a:lnTo>
                  <a:cubicBezTo>
                    <a:pt x="7482" y="3552537"/>
                    <a:pt x="0" y="3545300"/>
                    <a:pt x="0" y="3536494"/>
                  </a:cubicBezTo>
                  <a:lnTo>
                    <a:pt x="0" y="16044"/>
                  </a:lnTo>
                  <a:cubicBezTo>
                    <a:pt x="0" y="7238"/>
                    <a:pt x="7609" y="0"/>
                    <a:pt x="16866" y="0"/>
                  </a:cubicBezTo>
                  <a:moveTo>
                    <a:pt x="16866" y="32208"/>
                  </a:moveTo>
                  <a:lnTo>
                    <a:pt x="16866" y="16044"/>
                  </a:lnTo>
                  <a:lnTo>
                    <a:pt x="33858" y="16044"/>
                  </a:lnTo>
                  <a:lnTo>
                    <a:pt x="33858" y="3536494"/>
                  </a:lnTo>
                  <a:lnTo>
                    <a:pt x="16866" y="3536494"/>
                  </a:lnTo>
                  <a:lnTo>
                    <a:pt x="16866" y="3520450"/>
                  </a:lnTo>
                  <a:lnTo>
                    <a:pt x="11216615" y="3520450"/>
                  </a:lnTo>
                  <a:lnTo>
                    <a:pt x="11216615" y="3536494"/>
                  </a:lnTo>
                  <a:lnTo>
                    <a:pt x="11199750" y="3536494"/>
                  </a:lnTo>
                  <a:lnTo>
                    <a:pt x="11199750" y="16044"/>
                  </a:lnTo>
                  <a:lnTo>
                    <a:pt x="11216615" y="16044"/>
                  </a:lnTo>
                  <a:lnTo>
                    <a:pt x="11216615" y="32208"/>
                  </a:lnTo>
                  <a:lnTo>
                    <a:pt x="16866" y="32208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97285" y="7347966"/>
            <a:ext cx="7498080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0BC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Submitted by: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Narra siri</a:t>
            </a:r>
          </a:p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0CA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Roll NO: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90CA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24074024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00BCD4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Supervisor</a:t>
            </a:r>
            <a:r>
              <a:rPr lang="en-US" sz="2200" b="true">
                <a:solidFill>
                  <a:srgbClr val="00BC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Prof.Anil Kumar Singh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90CAF9"/>
                </a:solidFill>
                <a:latin typeface="Calibri (MS)"/>
                <a:ea typeface="Calibri (MS)"/>
                <a:cs typeface="Calibri (MS)"/>
                <a:sym typeface="Calibri (MS)"/>
              </a:rPr>
              <a:t>Department of CSE, IIT (BHU)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880847" y="2371087"/>
            <a:ext cx="5133337" cy="927097"/>
            <a:chOff x="0" y="0"/>
            <a:chExt cx="6844449" cy="12361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8509" y="8509"/>
              <a:ext cx="6827519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19">
                  <a:moveTo>
                    <a:pt x="0" y="243840"/>
                  </a:moveTo>
                  <a:cubicBezTo>
                    <a:pt x="0" y="109093"/>
                    <a:pt x="110363" y="0"/>
                    <a:pt x="246634" y="0"/>
                  </a:cubicBezTo>
                  <a:lnTo>
                    <a:pt x="6580886" y="0"/>
                  </a:lnTo>
                  <a:cubicBezTo>
                    <a:pt x="6717029" y="0"/>
                    <a:pt x="6827519" y="109220"/>
                    <a:pt x="6827519" y="243840"/>
                  </a:cubicBezTo>
                  <a:lnTo>
                    <a:pt x="6827519" y="975360"/>
                  </a:lnTo>
                  <a:cubicBezTo>
                    <a:pt x="6827519" y="1109980"/>
                    <a:pt x="6717156" y="1219200"/>
                    <a:pt x="6580886" y="1219200"/>
                  </a:cubicBezTo>
                  <a:lnTo>
                    <a:pt x="246634" y="1219200"/>
                  </a:lnTo>
                  <a:cubicBezTo>
                    <a:pt x="110363" y="1219200"/>
                    <a:pt x="0" y="1109980"/>
                    <a:pt x="0" y="975360"/>
                  </a:cubicBezTo>
                  <a:close/>
                </a:path>
              </a:pathLst>
            </a:custGeom>
            <a:solidFill>
              <a:srgbClr val="1565C0">
                <a:alpha val="63922"/>
              </a:srgbClr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44538" cy="1236218"/>
            </a:xfrm>
            <a:custGeom>
              <a:avLst/>
              <a:gdLst/>
              <a:ahLst/>
              <a:cxnLst/>
              <a:rect r="r" b="b" t="t" l="l"/>
              <a:pathLst>
                <a:path h="1236218" w="6844538">
                  <a:moveTo>
                    <a:pt x="0" y="252349"/>
                  </a:moveTo>
                  <a:cubicBezTo>
                    <a:pt x="0" y="112903"/>
                    <a:pt x="114300" y="0"/>
                    <a:pt x="255143" y="0"/>
                  </a:cubicBezTo>
                  <a:lnTo>
                    <a:pt x="6589395" y="0"/>
                  </a:lnTo>
                  <a:lnTo>
                    <a:pt x="6589395" y="8509"/>
                  </a:lnTo>
                  <a:lnTo>
                    <a:pt x="6589395" y="0"/>
                  </a:lnTo>
                  <a:cubicBezTo>
                    <a:pt x="6730238" y="0"/>
                    <a:pt x="6844538" y="112903"/>
                    <a:pt x="6844538" y="252349"/>
                  </a:cubicBezTo>
                  <a:lnTo>
                    <a:pt x="6836028" y="252349"/>
                  </a:lnTo>
                  <a:lnTo>
                    <a:pt x="6844538" y="252349"/>
                  </a:lnTo>
                  <a:lnTo>
                    <a:pt x="6844538" y="983869"/>
                  </a:lnTo>
                  <a:lnTo>
                    <a:pt x="6836028" y="983869"/>
                  </a:lnTo>
                  <a:lnTo>
                    <a:pt x="6844538" y="983869"/>
                  </a:lnTo>
                  <a:cubicBezTo>
                    <a:pt x="6844538" y="1123315"/>
                    <a:pt x="6730238" y="1236218"/>
                    <a:pt x="6589395" y="1236218"/>
                  </a:cubicBezTo>
                  <a:lnTo>
                    <a:pt x="6589395" y="1227709"/>
                  </a:lnTo>
                  <a:lnTo>
                    <a:pt x="6589395" y="1236218"/>
                  </a:lnTo>
                  <a:lnTo>
                    <a:pt x="255143" y="1236218"/>
                  </a:lnTo>
                  <a:lnTo>
                    <a:pt x="255143" y="1227709"/>
                  </a:lnTo>
                  <a:lnTo>
                    <a:pt x="255143" y="1236218"/>
                  </a:lnTo>
                  <a:cubicBezTo>
                    <a:pt x="114300" y="1236091"/>
                    <a:pt x="0" y="1123315"/>
                    <a:pt x="0" y="98386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983869"/>
                  </a:lnTo>
                  <a:lnTo>
                    <a:pt x="8509" y="983869"/>
                  </a:lnTo>
                  <a:lnTo>
                    <a:pt x="17018" y="983869"/>
                  </a:lnTo>
                  <a:cubicBezTo>
                    <a:pt x="16891" y="1113790"/>
                    <a:pt x="123444" y="1219200"/>
                    <a:pt x="255143" y="1219200"/>
                  </a:cubicBezTo>
                  <a:lnTo>
                    <a:pt x="6589395" y="1219200"/>
                  </a:lnTo>
                  <a:cubicBezTo>
                    <a:pt x="6720967" y="1219200"/>
                    <a:pt x="6827520" y="1113790"/>
                    <a:pt x="6827520" y="983869"/>
                  </a:cubicBezTo>
                  <a:lnTo>
                    <a:pt x="6827520" y="252349"/>
                  </a:lnTo>
                  <a:cubicBezTo>
                    <a:pt x="6827520" y="122428"/>
                    <a:pt x="6720967" y="17018"/>
                    <a:pt x="6589395" y="17018"/>
                  </a:cubicBezTo>
                  <a:lnTo>
                    <a:pt x="255143" y="17018"/>
                  </a:lnTo>
                  <a:lnTo>
                    <a:pt x="255143" y="8509"/>
                  </a:lnTo>
                  <a:lnTo>
                    <a:pt x="255143" y="17018"/>
                  </a:lnTo>
                  <a:cubicBezTo>
                    <a:pt x="123444" y="16891"/>
                    <a:pt x="16891" y="122428"/>
                    <a:pt x="16891" y="252349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887200" y="2377440"/>
            <a:ext cx="5120640" cy="914400"/>
            <a:chOff x="0" y="0"/>
            <a:chExt cx="682752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6827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Stanza NLP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80847" y="3687823"/>
            <a:ext cx="5133337" cy="927097"/>
            <a:chOff x="0" y="0"/>
            <a:chExt cx="6844449" cy="12361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6827519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19">
                  <a:moveTo>
                    <a:pt x="0" y="243840"/>
                  </a:moveTo>
                  <a:cubicBezTo>
                    <a:pt x="0" y="109093"/>
                    <a:pt x="110363" y="0"/>
                    <a:pt x="246634" y="0"/>
                  </a:cubicBezTo>
                  <a:lnTo>
                    <a:pt x="6580886" y="0"/>
                  </a:lnTo>
                  <a:cubicBezTo>
                    <a:pt x="6717029" y="0"/>
                    <a:pt x="6827519" y="109220"/>
                    <a:pt x="6827519" y="243840"/>
                  </a:cubicBezTo>
                  <a:lnTo>
                    <a:pt x="6827519" y="975360"/>
                  </a:lnTo>
                  <a:cubicBezTo>
                    <a:pt x="6827519" y="1109980"/>
                    <a:pt x="6717156" y="1219200"/>
                    <a:pt x="6580886" y="1219200"/>
                  </a:cubicBezTo>
                  <a:lnTo>
                    <a:pt x="246634" y="1219200"/>
                  </a:lnTo>
                  <a:cubicBezTo>
                    <a:pt x="110363" y="1219200"/>
                    <a:pt x="0" y="1109980"/>
                    <a:pt x="0" y="975360"/>
                  </a:cubicBezTo>
                  <a:close/>
                </a:path>
              </a:pathLst>
            </a:custGeom>
            <a:solidFill>
              <a:srgbClr val="1B5E20">
                <a:alpha val="63922"/>
              </a:srgbClr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44538" cy="1236218"/>
            </a:xfrm>
            <a:custGeom>
              <a:avLst/>
              <a:gdLst/>
              <a:ahLst/>
              <a:cxnLst/>
              <a:rect r="r" b="b" t="t" l="l"/>
              <a:pathLst>
                <a:path h="1236218" w="6844538">
                  <a:moveTo>
                    <a:pt x="0" y="252349"/>
                  </a:moveTo>
                  <a:cubicBezTo>
                    <a:pt x="0" y="112903"/>
                    <a:pt x="114300" y="0"/>
                    <a:pt x="255143" y="0"/>
                  </a:cubicBezTo>
                  <a:lnTo>
                    <a:pt x="6589395" y="0"/>
                  </a:lnTo>
                  <a:lnTo>
                    <a:pt x="6589395" y="8509"/>
                  </a:lnTo>
                  <a:lnTo>
                    <a:pt x="6589395" y="0"/>
                  </a:lnTo>
                  <a:cubicBezTo>
                    <a:pt x="6730238" y="0"/>
                    <a:pt x="6844538" y="112903"/>
                    <a:pt x="6844538" y="252349"/>
                  </a:cubicBezTo>
                  <a:lnTo>
                    <a:pt x="6836028" y="252349"/>
                  </a:lnTo>
                  <a:lnTo>
                    <a:pt x="6844538" y="252349"/>
                  </a:lnTo>
                  <a:lnTo>
                    <a:pt x="6844538" y="983869"/>
                  </a:lnTo>
                  <a:lnTo>
                    <a:pt x="6836028" y="983869"/>
                  </a:lnTo>
                  <a:lnTo>
                    <a:pt x="6844538" y="983869"/>
                  </a:lnTo>
                  <a:cubicBezTo>
                    <a:pt x="6844538" y="1123315"/>
                    <a:pt x="6730238" y="1236218"/>
                    <a:pt x="6589395" y="1236218"/>
                  </a:cubicBezTo>
                  <a:lnTo>
                    <a:pt x="6589395" y="1227709"/>
                  </a:lnTo>
                  <a:lnTo>
                    <a:pt x="6589395" y="1236218"/>
                  </a:lnTo>
                  <a:lnTo>
                    <a:pt x="255143" y="1236218"/>
                  </a:lnTo>
                  <a:lnTo>
                    <a:pt x="255143" y="1227709"/>
                  </a:lnTo>
                  <a:lnTo>
                    <a:pt x="255143" y="1236218"/>
                  </a:lnTo>
                  <a:cubicBezTo>
                    <a:pt x="114300" y="1236091"/>
                    <a:pt x="0" y="1123315"/>
                    <a:pt x="0" y="98386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983869"/>
                  </a:lnTo>
                  <a:lnTo>
                    <a:pt x="8509" y="983869"/>
                  </a:lnTo>
                  <a:lnTo>
                    <a:pt x="17018" y="983869"/>
                  </a:lnTo>
                  <a:cubicBezTo>
                    <a:pt x="16891" y="1113790"/>
                    <a:pt x="123444" y="1219200"/>
                    <a:pt x="255143" y="1219200"/>
                  </a:cubicBezTo>
                  <a:lnTo>
                    <a:pt x="6589395" y="1219200"/>
                  </a:lnTo>
                  <a:cubicBezTo>
                    <a:pt x="6720967" y="1219200"/>
                    <a:pt x="6827520" y="1113790"/>
                    <a:pt x="6827520" y="983869"/>
                  </a:cubicBezTo>
                  <a:lnTo>
                    <a:pt x="6827520" y="252349"/>
                  </a:lnTo>
                  <a:cubicBezTo>
                    <a:pt x="6827520" y="122428"/>
                    <a:pt x="6720967" y="17018"/>
                    <a:pt x="6589395" y="17018"/>
                  </a:cubicBezTo>
                  <a:lnTo>
                    <a:pt x="255143" y="17018"/>
                  </a:lnTo>
                  <a:lnTo>
                    <a:pt x="255143" y="8509"/>
                  </a:lnTo>
                  <a:lnTo>
                    <a:pt x="255143" y="17018"/>
                  </a:lnTo>
                  <a:cubicBezTo>
                    <a:pt x="123444" y="16891"/>
                    <a:pt x="16891" y="122428"/>
                    <a:pt x="16891" y="252349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887200" y="3694176"/>
            <a:ext cx="5120640" cy="914400"/>
            <a:chOff x="0" y="0"/>
            <a:chExt cx="682752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6827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Django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80847" y="5004559"/>
            <a:ext cx="5133337" cy="927097"/>
            <a:chOff x="0" y="0"/>
            <a:chExt cx="6844449" cy="12361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8509" y="8509"/>
              <a:ext cx="6827519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19">
                  <a:moveTo>
                    <a:pt x="0" y="243840"/>
                  </a:moveTo>
                  <a:cubicBezTo>
                    <a:pt x="0" y="109093"/>
                    <a:pt x="110363" y="0"/>
                    <a:pt x="246634" y="0"/>
                  </a:cubicBezTo>
                  <a:lnTo>
                    <a:pt x="6580886" y="0"/>
                  </a:lnTo>
                  <a:cubicBezTo>
                    <a:pt x="6717029" y="0"/>
                    <a:pt x="6827519" y="109220"/>
                    <a:pt x="6827519" y="243840"/>
                  </a:cubicBezTo>
                  <a:lnTo>
                    <a:pt x="6827519" y="975360"/>
                  </a:lnTo>
                  <a:cubicBezTo>
                    <a:pt x="6827519" y="1109980"/>
                    <a:pt x="6717156" y="1219200"/>
                    <a:pt x="6580886" y="1219200"/>
                  </a:cubicBezTo>
                  <a:lnTo>
                    <a:pt x="246634" y="1219200"/>
                  </a:lnTo>
                  <a:cubicBezTo>
                    <a:pt x="110363" y="1219200"/>
                    <a:pt x="0" y="1109980"/>
                    <a:pt x="0" y="975360"/>
                  </a:cubicBezTo>
                  <a:close/>
                </a:path>
              </a:pathLst>
            </a:custGeom>
            <a:solidFill>
              <a:srgbClr val="4527A0">
                <a:alpha val="63922"/>
              </a:srgbClr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44538" cy="1236218"/>
            </a:xfrm>
            <a:custGeom>
              <a:avLst/>
              <a:gdLst/>
              <a:ahLst/>
              <a:cxnLst/>
              <a:rect r="r" b="b" t="t" l="l"/>
              <a:pathLst>
                <a:path h="1236218" w="6844538">
                  <a:moveTo>
                    <a:pt x="0" y="252349"/>
                  </a:moveTo>
                  <a:cubicBezTo>
                    <a:pt x="0" y="112903"/>
                    <a:pt x="114300" y="0"/>
                    <a:pt x="255143" y="0"/>
                  </a:cubicBezTo>
                  <a:lnTo>
                    <a:pt x="6589395" y="0"/>
                  </a:lnTo>
                  <a:lnTo>
                    <a:pt x="6589395" y="8509"/>
                  </a:lnTo>
                  <a:lnTo>
                    <a:pt x="6589395" y="0"/>
                  </a:lnTo>
                  <a:cubicBezTo>
                    <a:pt x="6730238" y="0"/>
                    <a:pt x="6844538" y="112903"/>
                    <a:pt x="6844538" y="252349"/>
                  </a:cubicBezTo>
                  <a:lnTo>
                    <a:pt x="6836028" y="252349"/>
                  </a:lnTo>
                  <a:lnTo>
                    <a:pt x="6844538" y="252349"/>
                  </a:lnTo>
                  <a:lnTo>
                    <a:pt x="6844538" y="983869"/>
                  </a:lnTo>
                  <a:lnTo>
                    <a:pt x="6836028" y="983869"/>
                  </a:lnTo>
                  <a:lnTo>
                    <a:pt x="6844538" y="983869"/>
                  </a:lnTo>
                  <a:cubicBezTo>
                    <a:pt x="6844538" y="1123315"/>
                    <a:pt x="6730238" y="1236218"/>
                    <a:pt x="6589395" y="1236218"/>
                  </a:cubicBezTo>
                  <a:lnTo>
                    <a:pt x="6589395" y="1227709"/>
                  </a:lnTo>
                  <a:lnTo>
                    <a:pt x="6589395" y="1236218"/>
                  </a:lnTo>
                  <a:lnTo>
                    <a:pt x="255143" y="1236218"/>
                  </a:lnTo>
                  <a:lnTo>
                    <a:pt x="255143" y="1227709"/>
                  </a:lnTo>
                  <a:lnTo>
                    <a:pt x="255143" y="1236218"/>
                  </a:lnTo>
                  <a:cubicBezTo>
                    <a:pt x="114300" y="1236091"/>
                    <a:pt x="0" y="1123315"/>
                    <a:pt x="0" y="98386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983869"/>
                  </a:lnTo>
                  <a:lnTo>
                    <a:pt x="8509" y="983869"/>
                  </a:lnTo>
                  <a:lnTo>
                    <a:pt x="17018" y="983869"/>
                  </a:lnTo>
                  <a:cubicBezTo>
                    <a:pt x="16891" y="1113790"/>
                    <a:pt x="123444" y="1219200"/>
                    <a:pt x="255143" y="1219200"/>
                  </a:cubicBezTo>
                  <a:lnTo>
                    <a:pt x="6589395" y="1219200"/>
                  </a:lnTo>
                  <a:cubicBezTo>
                    <a:pt x="6720967" y="1219200"/>
                    <a:pt x="6827520" y="1113790"/>
                    <a:pt x="6827520" y="983869"/>
                  </a:cubicBezTo>
                  <a:lnTo>
                    <a:pt x="6827520" y="252349"/>
                  </a:lnTo>
                  <a:cubicBezTo>
                    <a:pt x="6827520" y="122428"/>
                    <a:pt x="6720967" y="17018"/>
                    <a:pt x="6589395" y="17018"/>
                  </a:cubicBezTo>
                  <a:lnTo>
                    <a:pt x="255143" y="17018"/>
                  </a:lnTo>
                  <a:lnTo>
                    <a:pt x="255143" y="8509"/>
                  </a:lnTo>
                  <a:lnTo>
                    <a:pt x="255143" y="17018"/>
                  </a:lnTo>
                  <a:cubicBezTo>
                    <a:pt x="123444" y="16891"/>
                    <a:pt x="16891" y="122428"/>
                    <a:pt x="16891" y="252349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887200" y="5010912"/>
            <a:ext cx="5120640" cy="914400"/>
            <a:chOff x="0" y="0"/>
            <a:chExt cx="682752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6827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880847" y="6321295"/>
            <a:ext cx="5133337" cy="927097"/>
            <a:chOff x="0" y="0"/>
            <a:chExt cx="6844449" cy="123612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8509" y="8509"/>
              <a:ext cx="6827519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19">
                  <a:moveTo>
                    <a:pt x="0" y="243840"/>
                  </a:moveTo>
                  <a:cubicBezTo>
                    <a:pt x="0" y="109093"/>
                    <a:pt x="110363" y="0"/>
                    <a:pt x="246634" y="0"/>
                  </a:cubicBezTo>
                  <a:lnTo>
                    <a:pt x="6580886" y="0"/>
                  </a:lnTo>
                  <a:cubicBezTo>
                    <a:pt x="6717029" y="0"/>
                    <a:pt x="6827519" y="109220"/>
                    <a:pt x="6827519" y="243840"/>
                  </a:cubicBezTo>
                  <a:lnTo>
                    <a:pt x="6827519" y="975360"/>
                  </a:lnTo>
                  <a:cubicBezTo>
                    <a:pt x="6827519" y="1109980"/>
                    <a:pt x="6717156" y="1219200"/>
                    <a:pt x="6580886" y="1219200"/>
                  </a:cubicBezTo>
                  <a:lnTo>
                    <a:pt x="246634" y="1219200"/>
                  </a:lnTo>
                  <a:cubicBezTo>
                    <a:pt x="110363" y="1219200"/>
                    <a:pt x="0" y="1109980"/>
                    <a:pt x="0" y="975360"/>
                  </a:cubicBezTo>
                  <a:close/>
                </a:path>
              </a:pathLst>
            </a:custGeom>
            <a:solidFill>
              <a:srgbClr val="880E4F">
                <a:alpha val="63922"/>
              </a:srgbClr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44538" cy="1236218"/>
            </a:xfrm>
            <a:custGeom>
              <a:avLst/>
              <a:gdLst/>
              <a:ahLst/>
              <a:cxnLst/>
              <a:rect r="r" b="b" t="t" l="l"/>
              <a:pathLst>
                <a:path h="1236218" w="6844538">
                  <a:moveTo>
                    <a:pt x="0" y="252349"/>
                  </a:moveTo>
                  <a:cubicBezTo>
                    <a:pt x="0" y="112903"/>
                    <a:pt x="114300" y="0"/>
                    <a:pt x="255143" y="0"/>
                  </a:cubicBezTo>
                  <a:lnTo>
                    <a:pt x="6589395" y="0"/>
                  </a:lnTo>
                  <a:lnTo>
                    <a:pt x="6589395" y="8509"/>
                  </a:lnTo>
                  <a:lnTo>
                    <a:pt x="6589395" y="0"/>
                  </a:lnTo>
                  <a:cubicBezTo>
                    <a:pt x="6730238" y="0"/>
                    <a:pt x="6844538" y="112903"/>
                    <a:pt x="6844538" y="252349"/>
                  </a:cubicBezTo>
                  <a:lnTo>
                    <a:pt x="6836028" y="252349"/>
                  </a:lnTo>
                  <a:lnTo>
                    <a:pt x="6844538" y="252349"/>
                  </a:lnTo>
                  <a:lnTo>
                    <a:pt x="6844538" y="983869"/>
                  </a:lnTo>
                  <a:lnTo>
                    <a:pt x="6836028" y="983869"/>
                  </a:lnTo>
                  <a:lnTo>
                    <a:pt x="6844538" y="983869"/>
                  </a:lnTo>
                  <a:cubicBezTo>
                    <a:pt x="6844538" y="1123315"/>
                    <a:pt x="6730238" y="1236218"/>
                    <a:pt x="6589395" y="1236218"/>
                  </a:cubicBezTo>
                  <a:lnTo>
                    <a:pt x="6589395" y="1227709"/>
                  </a:lnTo>
                  <a:lnTo>
                    <a:pt x="6589395" y="1236218"/>
                  </a:lnTo>
                  <a:lnTo>
                    <a:pt x="255143" y="1236218"/>
                  </a:lnTo>
                  <a:lnTo>
                    <a:pt x="255143" y="1227709"/>
                  </a:lnTo>
                  <a:lnTo>
                    <a:pt x="255143" y="1236218"/>
                  </a:lnTo>
                  <a:cubicBezTo>
                    <a:pt x="114300" y="1236091"/>
                    <a:pt x="0" y="1123315"/>
                    <a:pt x="0" y="983869"/>
                  </a:cubicBezTo>
                  <a:lnTo>
                    <a:pt x="0" y="252349"/>
                  </a:lnTo>
                  <a:lnTo>
                    <a:pt x="8509" y="252349"/>
                  </a:lnTo>
                  <a:lnTo>
                    <a:pt x="0" y="252349"/>
                  </a:lnTo>
                  <a:moveTo>
                    <a:pt x="16891" y="252349"/>
                  </a:moveTo>
                  <a:lnTo>
                    <a:pt x="16891" y="983869"/>
                  </a:lnTo>
                  <a:lnTo>
                    <a:pt x="8509" y="983869"/>
                  </a:lnTo>
                  <a:lnTo>
                    <a:pt x="17018" y="983869"/>
                  </a:lnTo>
                  <a:cubicBezTo>
                    <a:pt x="16891" y="1113790"/>
                    <a:pt x="123444" y="1219200"/>
                    <a:pt x="255143" y="1219200"/>
                  </a:cubicBezTo>
                  <a:lnTo>
                    <a:pt x="6589395" y="1219200"/>
                  </a:lnTo>
                  <a:cubicBezTo>
                    <a:pt x="6720967" y="1219200"/>
                    <a:pt x="6827520" y="1113790"/>
                    <a:pt x="6827520" y="983869"/>
                  </a:cubicBezTo>
                  <a:lnTo>
                    <a:pt x="6827520" y="252349"/>
                  </a:lnTo>
                  <a:cubicBezTo>
                    <a:pt x="6827520" y="122428"/>
                    <a:pt x="6720967" y="17018"/>
                    <a:pt x="6589395" y="17018"/>
                  </a:cubicBezTo>
                  <a:lnTo>
                    <a:pt x="255143" y="17018"/>
                  </a:lnTo>
                  <a:lnTo>
                    <a:pt x="255143" y="8509"/>
                  </a:lnTo>
                  <a:lnTo>
                    <a:pt x="255143" y="17018"/>
                  </a:lnTo>
                  <a:cubicBezTo>
                    <a:pt x="123444" y="16891"/>
                    <a:pt x="16891" y="122428"/>
                    <a:pt x="16891" y="252349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887200" y="6327648"/>
            <a:ext cx="5120640" cy="914400"/>
            <a:chOff x="0" y="0"/>
            <a:chExt cx="682752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6827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Multilingual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-12697" y="9679943"/>
            <a:ext cx="18313403" cy="619763"/>
            <a:chOff x="0" y="0"/>
            <a:chExt cx="24417871" cy="82635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24383999" cy="792480"/>
            </a:xfrm>
            <a:custGeom>
              <a:avLst/>
              <a:gdLst/>
              <a:ahLst/>
              <a:cxnLst/>
              <a:rect r="r" b="b" t="t" l="l"/>
              <a:pathLst>
                <a:path h="7924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792480"/>
                  </a:lnTo>
                  <a:lnTo>
                    <a:pt x="0" y="79248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417782" cy="826264"/>
            </a:xfrm>
            <a:custGeom>
              <a:avLst/>
              <a:gdLst/>
              <a:ahLst/>
              <a:cxnLst/>
              <a:rect r="r" b="b" t="t" l="l"/>
              <a:pathLst>
                <a:path h="82626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809371"/>
                  </a:lnTo>
                  <a:cubicBezTo>
                    <a:pt x="24417782" y="818769"/>
                    <a:pt x="24410163" y="826262"/>
                    <a:pt x="24400890" y="826262"/>
                  </a:cubicBezTo>
                  <a:lnTo>
                    <a:pt x="16891" y="826262"/>
                  </a:lnTo>
                  <a:cubicBezTo>
                    <a:pt x="7620" y="826389"/>
                    <a:pt x="0" y="818769"/>
                    <a:pt x="0" y="809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9371"/>
                  </a:lnTo>
                  <a:lnTo>
                    <a:pt x="16891" y="809371"/>
                  </a:lnTo>
                  <a:lnTo>
                    <a:pt x="16891" y="792480"/>
                  </a:lnTo>
                  <a:lnTo>
                    <a:pt x="24400890" y="792480"/>
                  </a:lnTo>
                  <a:lnTo>
                    <a:pt x="24400890" y="809371"/>
                  </a:lnTo>
                  <a:lnTo>
                    <a:pt x="24384000" y="8093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31520" y="9729216"/>
            <a:ext cx="16824960" cy="512064"/>
            <a:chOff x="0" y="0"/>
            <a:chExt cx="22433280" cy="6827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433280" cy="682752"/>
            </a:xfrm>
            <a:custGeom>
              <a:avLst/>
              <a:gdLst/>
              <a:ahLst/>
              <a:cxnLst/>
              <a:rect r="r" b="b" t="t" l="l"/>
              <a:pathLst>
                <a:path h="6827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2433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Academic Year 2024–25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92096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907543"/>
            <a:ext cx="5603243" cy="3591563"/>
            <a:chOff x="0" y="0"/>
            <a:chExt cx="7470991" cy="4788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709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771771"/>
                  </a:lnTo>
                  <a:cubicBezTo>
                    <a:pt x="7470901" y="4781169"/>
                    <a:pt x="7463282" y="4788662"/>
                    <a:pt x="74540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454011" y="4754880"/>
                  </a:lnTo>
                  <a:lnTo>
                    <a:pt x="7454011" y="4771771"/>
                  </a:lnTo>
                  <a:lnTo>
                    <a:pt x="7437120" y="477177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3" y="1907543"/>
            <a:ext cx="5603243" cy="153419"/>
            <a:chOff x="0" y="0"/>
            <a:chExt cx="7470991" cy="204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437120" cy="170688"/>
            </a:xfrm>
            <a:custGeom>
              <a:avLst/>
              <a:gdLst/>
              <a:ahLst/>
              <a:cxnLst/>
              <a:rect r="r" b="b" t="t" l="l"/>
              <a:pathLst>
                <a:path h="17068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70901" cy="204472"/>
            </a:xfrm>
            <a:custGeom>
              <a:avLst/>
              <a:gdLst/>
              <a:ahLst/>
              <a:cxnLst/>
              <a:rect r="r" b="b" t="t" l="l"/>
              <a:pathLst>
                <a:path h="20447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87579"/>
                  </a:lnTo>
                  <a:cubicBezTo>
                    <a:pt x="7470901" y="196977"/>
                    <a:pt x="7463282" y="204470"/>
                    <a:pt x="74540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454011" y="170688"/>
                  </a:lnTo>
                  <a:lnTo>
                    <a:pt x="7454011" y="187579"/>
                  </a:lnTo>
                  <a:lnTo>
                    <a:pt x="7437120" y="18757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18823" y="2181863"/>
            <a:ext cx="939803" cy="939803"/>
            <a:chOff x="0" y="0"/>
            <a:chExt cx="1253071" cy="1253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9536" y="2322576"/>
            <a:ext cx="658368" cy="658368"/>
            <a:chOff x="0" y="0"/>
            <a:chExt cx="877824" cy="877824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828800" y="2249424"/>
            <a:ext cx="4023360" cy="822960"/>
            <a:chOff x="0" y="0"/>
            <a:chExt cx="53644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364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Natural Language Processing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76656" y="3125724"/>
            <a:ext cx="5157216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Computational methods to analyze and understand human language structure and meaning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333239" y="1907543"/>
            <a:ext cx="5603243" cy="3591563"/>
            <a:chOff x="0" y="0"/>
            <a:chExt cx="7470991" cy="47887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709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771771"/>
                  </a:lnTo>
                  <a:cubicBezTo>
                    <a:pt x="7470901" y="4781169"/>
                    <a:pt x="7463282" y="4788662"/>
                    <a:pt x="74540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454011" y="4754880"/>
                  </a:lnTo>
                  <a:lnTo>
                    <a:pt x="7454011" y="4771771"/>
                  </a:lnTo>
                  <a:lnTo>
                    <a:pt x="7437120" y="477177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333239" y="1907543"/>
            <a:ext cx="5603243" cy="153419"/>
            <a:chOff x="0" y="0"/>
            <a:chExt cx="7470991" cy="2045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437120" cy="170688"/>
            </a:xfrm>
            <a:custGeom>
              <a:avLst/>
              <a:gdLst/>
              <a:ahLst/>
              <a:cxnLst/>
              <a:rect r="r" b="b" t="t" l="l"/>
              <a:pathLst>
                <a:path h="17068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70901" cy="204472"/>
            </a:xfrm>
            <a:custGeom>
              <a:avLst/>
              <a:gdLst/>
              <a:ahLst/>
              <a:cxnLst/>
              <a:rect r="r" b="b" t="t" l="l"/>
              <a:pathLst>
                <a:path h="20447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87579"/>
                  </a:lnTo>
                  <a:cubicBezTo>
                    <a:pt x="7470901" y="196977"/>
                    <a:pt x="7463282" y="204470"/>
                    <a:pt x="74540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454011" y="170688"/>
                  </a:lnTo>
                  <a:lnTo>
                    <a:pt x="7454011" y="187579"/>
                  </a:lnTo>
                  <a:lnTo>
                    <a:pt x="7437120" y="18757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607559" y="2181863"/>
            <a:ext cx="939803" cy="939803"/>
            <a:chOff x="0" y="0"/>
            <a:chExt cx="1253071" cy="12530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748272" y="2322576"/>
            <a:ext cx="658368" cy="658368"/>
            <a:chOff x="0" y="0"/>
            <a:chExt cx="877824" cy="877824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717536" y="2249424"/>
            <a:ext cx="4023360" cy="822960"/>
            <a:chOff x="0" y="0"/>
            <a:chExt cx="536448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364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Dependency Parsing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565392" y="3125724"/>
            <a:ext cx="5157216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Identifies grammatical relationships between words and establishes head–dependent word pairs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221975" y="1907543"/>
            <a:ext cx="5603243" cy="3591563"/>
            <a:chOff x="0" y="0"/>
            <a:chExt cx="7470991" cy="47887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709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771771"/>
                  </a:lnTo>
                  <a:cubicBezTo>
                    <a:pt x="7470901" y="4781169"/>
                    <a:pt x="7463282" y="4788662"/>
                    <a:pt x="74540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454011" y="4754880"/>
                  </a:lnTo>
                  <a:lnTo>
                    <a:pt x="7454011" y="4771771"/>
                  </a:lnTo>
                  <a:lnTo>
                    <a:pt x="7437120" y="477177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221975" y="1907543"/>
            <a:ext cx="5603243" cy="153419"/>
            <a:chOff x="0" y="0"/>
            <a:chExt cx="7470991" cy="2045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437120" cy="170688"/>
            </a:xfrm>
            <a:custGeom>
              <a:avLst/>
              <a:gdLst/>
              <a:ahLst/>
              <a:cxnLst/>
              <a:rect r="r" b="b" t="t" l="l"/>
              <a:pathLst>
                <a:path h="17068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470901" cy="204472"/>
            </a:xfrm>
            <a:custGeom>
              <a:avLst/>
              <a:gdLst/>
              <a:ahLst/>
              <a:cxnLst/>
              <a:rect r="r" b="b" t="t" l="l"/>
              <a:pathLst>
                <a:path h="20447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87579"/>
                  </a:lnTo>
                  <a:cubicBezTo>
                    <a:pt x="7470901" y="196977"/>
                    <a:pt x="7463282" y="204470"/>
                    <a:pt x="74540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454011" y="170688"/>
                  </a:lnTo>
                  <a:lnTo>
                    <a:pt x="7454011" y="187579"/>
                  </a:lnTo>
                  <a:lnTo>
                    <a:pt x="7437120" y="18757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496295" y="2181863"/>
            <a:ext cx="939803" cy="939803"/>
            <a:chOff x="0" y="0"/>
            <a:chExt cx="1253071" cy="12530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637008" y="2322576"/>
            <a:ext cx="658368" cy="658368"/>
            <a:chOff x="0" y="0"/>
            <a:chExt cx="877824" cy="877824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606272" y="2249424"/>
            <a:ext cx="4023360" cy="822960"/>
            <a:chOff x="0" y="0"/>
            <a:chExt cx="536448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5364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Multilingual Parsing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454128" y="3125724"/>
            <a:ext cx="5157216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Single NLP framework supporting multiple languages — English and Hindi in this project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444503" y="5784599"/>
            <a:ext cx="5603243" cy="3591563"/>
            <a:chOff x="0" y="0"/>
            <a:chExt cx="7470991" cy="47887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4709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771771"/>
                  </a:lnTo>
                  <a:cubicBezTo>
                    <a:pt x="7470901" y="4781169"/>
                    <a:pt x="7463282" y="4788662"/>
                    <a:pt x="74540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454011" y="4754880"/>
                  </a:lnTo>
                  <a:lnTo>
                    <a:pt x="7454011" y="4771771"/>
                  </a:lnTo>
                  <a:lnTo>
                    <a:pt x="7437120" y="477177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44503" y="5784599"/>
            <a:ext cx="5603243" cy="153419"/>
            <a:chOff x="0" y="0"/>
            <a:chExt cx="7470991" cy="2045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7437120" cy="170688"/>
            </a:xfrm>
            <a:custGeom>
              <a:avLst/>
              <a:gdLst/>
              <a:ahLst/>
              <a:cxnLst/>
              <a:rect r="r" b="b" t="t" l="l"/>
              <a:pathLst>
                <a:path h="17068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470901" cy="204472"/>
            </a:xfrm>
            <a:custGeom>
              <a:avLst/>
              <a:gdLst/>
              <a:ahLst/>
              <a:cxnLst/>
              <a:rect r="r" b="b" t="t" l="l"/>
              <a:pathLst>
                <a:path h="20447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87579"/>
                  </a:lnTo>
                  <a:cubicBezTo>
                    <a:pt x="7470901" y="196977"/>
                    <a:pt x="7463282" y="204470"/>
                    <a:pt x="74540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454011" y="170688"/>
                  </a:lnTo>
                  <a:lnTo>
                    <a:pt x="7454011" y="187579"/>
                  </a:lnTo>
                  <a:lnTo>
                    <a:pt x="7437120" y="18757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18823" y="6058919"/>
            <a:ext cx="939803" cy="939803"/>
            <a:chOff x="0" y="0"/>
            <a:chExt cx="1253071" cy="12530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59536" y="6199632"/>
            <a:ext cx="658368" cy="658368"/>
            <a:chOff x="0" y="0"/>
            <a:chExt cx="877824" cy="877824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828800" y="6126480"/>
            <a:ext cx="4023360" cy="822960"/>
            <a:chOff x="0" y="0"/>
            <a:chExt cx="536448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5364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Web-Based NLP Integration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676656" y="7002780"/>
            <a:ext cx="5157216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NLP backend integrated with Django to enable browser-accessible parsing interface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6333239" y="5784599"/>
            <a:ext cx="5603243" cy="3591563"/>
            <a:chOff x="0" y="0"/>
            <a:chExt cx="7470991" cy="47887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4709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771771"/>
                  </a:lnTo>
                  <a:cubicBezTo>
                    <a:pt x="7470901" y="4781169"/>
                    <a:pt x="7463282" y="4788662"/>
                    <a:pt x="74540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454011" y="4754880"/>
                  </a:lnTo>
                  <a:lnTo>
                    <a:pt x="7454011" y="4771771"/>
                  </a:lnTo>
                  <a:lnTo>
                    <a:pt x="7437120" y="477177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333239" y="5784599"/>
            <a:ext cx="5603243" cy="153419"/>
            <a:chOff x="0" y="0"/>
            <a:chExt cx="7470991" cy="20455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7437120" cy="170688"/>
            </a:xfrm>
            <a:custGeom>
              <a:avLst/>
              <a:gdLst/>
              <a:ahLst/>
              <a:cxnLst/>
              <a:rect r="r" b="b" t="t" l="l"/>
              <a:pathLst>
                <a:path h="17068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470901" cy="204472"/>
            </a:xfrm>
            <a:custGeom>
              <a:avLst/>
              <a:gdLst/>
              <a:ahLst/>
              <a:cxnLst/>
              <a:rect r="r" b="b" t="t" l="l"/>
              <a:pathLst>
                <a:path h="20447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87579"/>
                  </a:lnTo>
                  <a:cubicBezTo>
                    <a:pt x="7470901" y="196977"/>
                    <a:pt x="7463282" y="204470"/>
                    <a:pt x="74540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454011" y="170688"/>
                  </a:lnTo>
                  <a:lnTo>
                    <a:pt x="7454011" y="187579"/>
                  </a:lnTo>
                  <a:lnTo>
                    <a:pt x="7437120" y="18757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607559" y="6058919"/>
            <a:ext cx="939803" cy="939803"/>
            <a:chOff x="0" y="0"/>
            <a:chExt cx="1253071" cy="125307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748272" y="6199632"/>
            <a:ext cx="658368" cy="658368"/>
            <a:chOff x="0" y="0"/>
            <a:chExt cx="877824" cy="877824"/>
          </a:xfrm>
        </p:grpSpPr>
        <p:sp>
          <p:nvSpPr>
            <p:cNvPr name="Freeform 81" id="81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7717536" y="6126480"/>
            <a:ext cx="4023360" cy="822960"/>
            <a:chOff x="0" y="0"/>
            <a:chExt cx="5364480" cy="10972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5364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Syntactic Analysis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6565392" y="7002780"/>
            <a:ext cx="5157216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Structural analysis of sentence grammar: tokenization, POS tagging, and dependency extraction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2221975" y="5784599"/>
            <a:ext cx="5603243" cy="3591563"/>
            <a:chOff x="0" y="0"/>
            <a:chExt cx="7470991" cy="478875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4709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771771"/>
                  </a:lnTo>
                  <a:cubicBezTo>
                    <a:pt x="7470901" y="4781169"/>
                    <a:pt x="7463282" y="4788662"/>
                    <a:pt x="74540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454011" y="4754880"/>
                  </a:lnTo>
                  <a:lnTo>
                    <a:pt x="7454011" y="4771771"/>
                  </a:lnTo>
                  <a:lnTo>
                    <a:pt x="7437120" y="477177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221975" y="5784599"/>
            <a:ext cx="5603243" cy="153419"/>
            <a:chOff x="0" y="0"/>
            <a:chExt cx="7470991" cy="20455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7437120" cy="170688"/>
            </a:xfrm>
            <a:custGeom>
              <a:avLst/>
              <a:gdLst/>
              <a:ahLst/>
              <a:cxnLst/>
              <a:rect r="r" b="b" t="t" l="l"/>
              <a:pathLst>
                <a:path h="17068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470901" cy="204472"/>
            </a:xfrm>
            <a:custGeom>
              <a:avLst/>
              <a:gdLst/>
              <a:ahLst/>
              <a:cxnLst/>
              <a:rect r="r" b="b" t="t" l="l"/>
              <a:pathLst>
                <a:path h="20447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87579"/>
                  </a:lnTo>
                  <a:cubicBezTo>
                    <a:pt x="7470901" y="196977"/>
                    <a:pt x="7463282" y="204470"/>
                    <a:pt x="74540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454011" y="170688"/>
                  </a:lnTo>
                  <a:lnTo>
                    <a:pt x="7454011" y="187579"/>
                  </a:lnTo>
                  <a:lnTo>
                    <a:pt x="7437120" y="18757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496295" y="6058919"/>
            <a:ext cx="939803" cy="939803"/>
            <a:chOff x="0" y="0"/>
            <a:chExt cx="1253071" cy="125307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637008" y="6199632"/>
            <a:ext cx="658368" cy="658368"/>
            <a:chOff x="0" y="0"/>
            <a:chExt cx="877824" cy="877824"/>
          </a:xfrm>
        </p:grpSpPr>
        <p:sp>
          <p:nvSpPr>
            <p:cNvPr name="Freeform 96" id="96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606272" y="6126480"/>
            <a:ext cx="4023360" cy="822960"/>
            <a:chOff x="0" y="0"/>
            <a:chExt cx="5364480" cy="10972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5364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Dependency Relations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2454128" y="7002780"/>
            <a:ext cx="5157216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Linguistic labels like nsubj, obj, ROOT connecting tokens in a syntactic dependency tree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92096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816103"/>
            <a:ext cx="10632443" cy="1451867"/>
            <a:chOff x="0" y="0"/>
            <a:chExt cx="14176591" cy="19358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142719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765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1918843"/>
                  </a:lnTo>
                  <a:cubicBezTo>
                    <a:pt x="14176502" y="1928241"/>
                    <a:pt x="14168882" y="1935734"/>
                    <a:pt x="1415961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4159610" y="1901952"/>
                  </a:lnTo>
                  <a:lnTo>
                    <a:pt x="14159610" y="1918843"/>
                  </a:lnTo>
                  <a:lnTo>
                    <a:pt x="14142720" y="1918843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3" y="1816103"/>
            <a:ext cx="171707" cy="1451867"/>
            <a:chOff x="0" y="0"/>
            <a:chExt cx="228943" cy="19358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9507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854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918843"/>
                  </a:lnTo>
                  <a:cubicBezTo>
                    <a:pt x="228854" y="1928241"/>
                    <a:pt x="221234" y="1935734"/>
                    <a:pt x="211963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11963" y="1901952"/>
                  </a:lnTo>
                  <a:lnTo>
                    <a:pt x="211963" y="1918843"/>
                  </a:lnTo>
                  <a:lnTo>
                    <a:pt x="195072" y="19188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828800"/>
            <a:ext cx="10058400" cy="585216"/>
            <a:chOff x="0" y="0"/>
            <a:chExt cx="1341120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411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Need for Dependency Parsing Systems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22960" y="2339340"/>
            <a:ext cx="10058400" cy="879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Structured syntactic analysis is essential for downstream NLP tasks like information extraction and question answering.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44503" y="3407159"/>
            <a:ext cx="10632443" cy="1451867"/>
            <a:chOff x="0" y="0"/>
            <a:chExt cx="14176591" cy="19358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4142719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1765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1918843"/>
                  </a:lnTo>
                  <a:cubicBezTo>
                    <a:pt x="14176502" y="1928241"/>
                    <a:pt x="14168882" y="1935734"/>
                    <a:pt x="1415961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4159610" y="1901952"/>
                  </a:lnTo>
                  <a:lnTo>
                    <a:pt x="14159610" y="1918843"/>
                  </a:lnTo>
                  <a:lnTo>
                    <a:pt x="14142720" y="1918843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44503" y="3407159"/>
            <a:ext cx="171707" cy="1451867"/>
            <a:chOff x="0" y="0"/>
            <a:chExt cx="228943" cy="19358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9507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8854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918843"/>
                  </a:lnTo>
                  <a:cubicBezTo>
                    <a:pt x="228854" y="1928241"/>
                    <a:pt x="221234" y="1935734"/>
                    <a:pt x="211963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11963" y="1901952"/>
                  </a:lnTo>
                  <a:lnTo>
                    <a:pt x="211963" y="1918843"/>
                  </a:lnTo>
                  <a:lnTo>
                    <a:pt x="195072" y="19188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3419856"/>
            <a:ext cx="10058400" cy="585216"/>
            <a:chOff x="0" y="0"/>
            <a:chExt cx="13411200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3411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Multilingual Parsing Challenges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22960" y="3930396"/>
            <a:ext cx="10058400" cy="879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Most tools are optimized for English; adapting parsers to morphologically rich languages like Hindi requires specialized support.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44503" y="4998215"/>
            <a:ext cx="10632443" cy="1451867"/>
            <a:chOff x="0" y="0"/>
            <a:chExt cx="14176591" cy="19358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4142719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1765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1918843"/>
                  </a:lnTo>
                  <a:cubicBezTo>
                    <a:pt x="14176502" y="1928241"/>
                    <a:pt x="14168882" y="1935734"/>
                    <a:pt x="1415961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4159610" y="1901952"/>
                  </a:lnTo>
                  <a:lnTo>
                    <a:pt x="14159610" y="1918843"/>
                  </a:lnTo>
                  <a:lnTo>
                    <a:pt x="14142720" y="1918843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44503" y="4998215"/>
            <a:ext cx="171707" cy="1451867"/>
            <a:chOff x="0" y="0"/>
            <a:chExt cx="228943" cy="193582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9507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8854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918843"/>
                  </a:lnTo>
                  <a:cubicBezTo>
                    <a:pt x="228854" y="1928241"/>
                    <a:pt x="221234" y="1935734"/>
                    <a:pt x="211963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11963" y="1901952"/>
                  </a:lnTo>
                  <a:lnTo>
                    <a:pt x="211963" y="1918843"/>
                  </a:lnTo>
                  <a:lnTo>
                    <a:pt x="195072" y="19188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5010912"/>
            <a:ext cx="10058400" cy="585216"/>
            <a:chOff x="0" y="0"/>
            <a:chExt cx="13411200" cy="780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3411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Low-Resource Language Support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22960" y="5521452"/>
            <a:ext cx="10058400" cy="879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Hindi, despite millions of speakers, is relatively low-resource in NLP tools. Limited annotated corpora make parsing harder.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444503" y="6589271"/>
            <a:ext cx="10632443" cy="1451867"/>
            <a:chOff x="0" y="0"/>
            <a:chExt cx="14176591" cy="193582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142719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1765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1918843"/>
                  </a:lnTo>
                  <a:cubicBezTo>
                    <a:pt x="14176502" y="1928241"/>
                    <a:pt x="14168882" y="1935734"/>
                    <a:pt x="1415961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4159610" y="1901952"/>
                  </a:lnTo>
                  <a:lnTo>
                    <a:pt x="14159610" y="1918843"/>
                  </a:lnTo>
                  <a:lnTo>
                    <a:pt x="14142720" y="1918843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44503" y="6589271"/>
            <a:ext cx="171707" cy="1451867"/>
            <a:chOff x="0" y="0"/>
            <a:chExt cx="228943" cy="193582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9507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8854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918843"/>
                  </a:lnTo>
                  <a:cubicBezTo>
                    <a:pt x="228854" y="1928241"/>
                    <a:pt x="221234" y="1935734"/>
                    <a:pt x="211963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11963" y="1901952"/>
                  </a:lnTo>
                  <a:lnTo>
                    <a:pt x="211963" y="1918843"/>
                  </a:lnTo>
                  <a:lnTo>
                    <a:pt x="195072" y="19188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" y="6601968"/>
            <a:ext cx="10058400" cy="585216"/>
            <a:chOff x="0" y="0"/>
            <a:chExt cx="13411200" cy="7802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3411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Web-Based NLP Accessibility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822960" y="7112508"/>
            <a:ext cx="10058400" cy="879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Parsing systems are often CLI tools. Integrating them into a web interface improves accessibility for non-technical users.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444503" y="8180327"/>
            <a:ext cx="10632443" cy="1451867"/>
            <a:chOff x="0" y="0"/>
            <a:chExt cx="14176591" cy="193582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14142719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1765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1918843"/>
                  </a:lnTo>
                  <a:cubicBezTo>
                    <a:pt x="14176502" y="1928241"/>
                    <a:pt x="14168882" y="1935734"/>
                    <a:pt x="1415961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4159610" y="1901952"/>
                  </a:lnTo>
                  <a:lnTo>
                    <a:pt x="14159610" y="1918843"/>
                  </a:lnTo>
                  <a:lnTo>
                    <a:pt x="14142720" y="1918843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444503" y="8180327"/>
            <a:ext cx="171707" cy="1451867"/>
            <a:chOff x="0" y="0"/>
            <a:chExt cx="228943" cy="193582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19507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8854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918843"/>
                  </a:lnTo>
                  <a:cubicBezTo>
                    <a:pt x="228854" y="1928241"/>
                    <a:pt x="221234" y="1935734"/>
                    <a:pt x="211963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11963" y="1901952"/>
                  </a:lnTo>
                  <a:lnTo>
                    <a:pt x="211963" y="1918843"/>
                  </a:lnTo>
                  <a:lnTo>
                    <a:pt x="195072" y="19188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22960" y="8193024"/>
            <a:ext cx="10058400" cy="585216"/>
            <a:chOff x="0" y="0"/>
            <a:chExt cx="13411200" cy="7802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3411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Modular NLP Architecture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822960" y="8703564"/>
            <a:ext cx="10058400" cy="879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A clean, extensible pipeline is needed that can support additional languages and tasks without full re-engineering.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1600183" y="1816103"/>
            <a:ext cx="6243323" cy="7889243"/>
            <a:chOff x="0" y="0"/>
            <a:chExt cx="8324431" cy="1051899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829056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32434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0502011"/>
                  </a:lnTo>
                  <a:cubicBezTo>
                    <a:pt x="8324342" y="10511409"/>
                    <a:pt x="8316722" y="10518901"/>
                    <a:pt x="830745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8307451" y="10485120"/>
                  </a:lnTo>
                  <a:lnTo>
                    <a:pt x="8307451" y="10502011"/>
                  </a:lnTo>
                  <a:lnTo>
                    <a:pt x="8290560" y="1050201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887200" y="2048256"/>
            <a:ext cx="5669280" cy="694944"/>
            <a:chOff x="0" y="0"/>
            <a:chExt cx="7559040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75590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Insight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240263" y="2767079"/>
            <a:ext cx="4963163" cy="80267"/>
            <a:chOff x="0" y="0"/>
            <a:chExt cx="6617551" cy="10702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6583681" cy="73152"/>
            </a:xfrm>
            <a:custGeom>
              <a:avLst/>
              <a:gdLst/>
              <a:ahLst/>
              <a:cxnLst/>
              <a:rect r="r" b="b" t="t" l="l"/>
              <a:pathLst>
                <a:path h="73152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617462" cy="106936"/>
            </a:xfrm>
            <a:custGeom>
              <a:avLst/>
              <a:gdLst/>
              <a:ahLst/>
              <a:cxnLst/>
              <a:rect r="r" b="b" t="t" l="l"/>
              <a:pathLst>
                <a:path h="106936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90043"/>
                  </a:lnTo>
                  <a:cubicBezTo>
                    <a:pt x="6617462" y="99441"/>
                    <a:pt x="6609842" y="106934"/>
                    <a:pt x="6600572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600572" y="73152"/>
                  </a:lnTo>
                  <a:lnTo>
                    <a:pt x="6600572" y="90043"/>
                  </a:lnTo>
                  <a:lnTo>
                    <a:pt x="6583680" y="90043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874503" y="3096263"/>
            <a:ext cx="500891" cy="500891"/>
            <a:chOff x="0" y="0"/>
            <a:chExt cx="667855" cy="66785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887200" y="3108960"/>
            <a:ext cx="475488" cy="475488"/>
            <a:chOff x="0" y="0"/>
            <a:chExt cx="633984" cy="63398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6339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527280" y="3108960"/>
            <a:ext cx="5029200" cy="950976"/>
            <a:chOff x="0" y="0"/>
            <a:chExt cx="6705600" cy="126796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70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045" r="0" b="-5304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670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Hindi is a morphologically rich language with free word order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874503" y="4321559"/>
            <a:ext cx="500891" cy="500891"/>
            <a:chOff x="0" y="0"/>
            <a:chExt cx="667855" cy="66785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887200" y="4334256"/>
            <a:ext cx="475488" cy="475488"/>
            <a:chOff x="0" y="0"/>
            <a:chExt cx="633984" cy="63398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6339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527280" y="4334256"/>
            <a:ext cx="5029200" cy="950976"/>
            <a:chOff x="0" y="0"/>
            <a:chExt cx="6705600" cy="126796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70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045" r="0" b="-5304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670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 English parsers fail on Hindi syntax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874503" y="5546855"/>
            <a:ext cx="500891" cy="500891"/>
            <a:chOff x="0" y="0"/>
            <a:chExt cx="667855" cy="66785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1887200" y="5559552"/>
            <a:ext cx="475488" cy="475488"/>
            <a:chOff x="0" y="0"/>
            <a:chExt cx="633984" cy="63398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6339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527280" y="5559552"/>
            <a:ext cx="5029200" cy="950976"/>
            <a:chOff x="0" y="0"/>
            <a:chExt cx="6705600" cy="126796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70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045" r="0" b="-5304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670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Stanza provides pretrained multilingual pipelines addressing this gap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874503" y="6772151"/>
            <a:ext cx="500891" cy="500891"/>
            <a:chOff x="0" y="0"/>
            <a:chExt cx="667855" cy="66785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887200" y="6784848"/>
            <a:ext cx="475488" cy="475488"/>
            <a:chOff x="0" y="0"/>
            <a:chExt cx="633984" cy="63398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6339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527280" y="6784848"/>
            <a:ext cx="5029200" cy="950976"/>
            <a:chOff x="0" y="0"/>
            <a:chExt cx="6705600" cy="126796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70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045" r="0" b="-5304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670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integration democratizes access to NLP tools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874503" y="7997447"/>
            <a:ext cx="500891" cy="500891"/>
            <a:chOff x="0" y="0"/>
            <a:chExt cx="667855" cy="66785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887200" y="8010144"/>
            <a:ext cx="475488" cy="475488"/>
            <a:chOff x="0" y="0"/>
            <a:chExt cx="633984" cy="63398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6339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527280" y="8010144"/>
            <a:ext cx="5029200" cy="950976"/>
            <a:chOff x="0" y="0"/>
            <a:chExt cx="6705600" cy="126796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70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045" r="0" b="-53045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670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modular Django-based architecture enables future extensibility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92096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Objectives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816103"/>
            <a:ext cx="8437883" cy="2494283"/>
            <a:chOff x="0" y="0"/>
            <a:chExt cx="11250511" cy="3325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08731"/>
                  </a:lnTo>
                  <a:cubicBezTo>
                    <a:pt x="11250422" y="3318129"/>
                    <a:pt x="11242802" y="3325622"/>
                    <a:pt x="1123353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1233531" y="3291840"/>
                  </a:lnTo>
                  <a:lnTo>
                    <a:pt x="11233531" y="3308731"/>
                  </a:lnTo>
                  <a:lnTo>
                    <a:pt x="11216640" y="33087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3" y="1816103"/>
            <a:ext cx="1305563" cy="2494283"/>
            <a:chOff x="0" y="0"/>
            <a:chExt cx="1740751" cy="3325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4066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3308731"/>
                  </a:lnTo>
                  <a:cubicBezTo>
                    <a:pt x="1740662" y="3318129"/>
                    <a:pt x="1733042" y="3325622"/>
                    <a:pt x="172377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723771" y="3291840"/>
                  </a:lnTo>
                  <a:lnTo>
                    <a:pt x="1723771" y="3308731"/>
                  </a:lnTo>
                  <a:lnTo>
                    <a:pt x="1706880" y="3308731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57200" y="1828800"/>
            <a:ext cx="1280160" cy="2468880"/>
            <a:chOff x="0" y="0"/>
            <a:chExt cx="1706880" cy="3291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442" t="0" r="-19744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70688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83664" y="2048256"/>
            <a:ext cx="694944" cy="694944"/>
            <a:chOff x="0" y="0"/>
            <a:chExt cx="926592" cy="926592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651760" y="2011680"/>
            <a:ext cx="5943600" cy="768096"/>
            <a:chOff x="0" y="0"/>
            <a:chExt cx="7924800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24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77" r="0" b="-10077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924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 Dependency Parsing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883664" y="2814828"/>
            <a:ext cx="6729984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Build a working dependency parser that extracts syntactic relations between words in a sentence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69047" y="1816103"/>
            <a:ext cx="8437883" cy="2494283"/>
            <a:chOff x="0" y="0"/>
            <a:chExt cx="11250511" cy="33257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5042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08731"/>
                  </a:lnTo>
                  <a:cubicBezTo>
                    <a:pt x="11250422" y="3318129"/>
                    <a:pt x="11242802" y="3325622"/>
                    <a:pt x="1123353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1233531" y="3291840"/>
                  </a:lnTo>
                  <a:lnTo>
                    <a:pt x="11233531" y="3308731"/>
                  </a:lnTo>
                  <a:lnTo>
                    <a:pt x="11216640" y="33087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69047" y="1816103"/>
            <a:ext cx="1305563" cy="2494283"/>
            <a:chOff x="0" y="0"/>
            <a:chExt cx="1740751" cy="33257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4066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3308731"/>
                  </a:lnTo>
                  <a:cubicBezTo>
                    <a:pt x="1740662" y="3318129"/>
                    <a:pt x="1733042" y="3325622"/>
                    <a:pt x="172377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723771" y="3291840"/>
                  </a:lnTo>
                  <a:lnTo>
                    <a:pt x="1723771" y="3308731"/>
                  </a:lnTo>
                  <a:lnTo>
                    <a:pt x="1706880" y="3308731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81744" y="1828800"/>
            <a:ext cx="1280160" cy="2468880"/>
            <a:chOff x="0" y="0"/>
            <a:chExt cx="1706880" cy="3291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442" t="0" r="-19744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170688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808208" y="2048256"/>
            <a:ext cx="694944" cy="694944"/>
            <a:chOff x="0" y="0"/>
            <a:chExt cx="926592" cy="926592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576304" y="2011680"/>
            <a:ext cx="5943600" cy="768096"/>
            <a:chOff x="0" y="0"/>
            <a:chExt cx="7924800" cy="10241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924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77" r="0" b="-10077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924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Support English &amp; Hindi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808208" y="2814828"/>
            <a:ext cx="6729984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Enable multilingual parsing for both English and Hindi using Stanza's pretrained language pipelines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444503" y="4559303"/>
            <a:ext cx="8437883" cy="2494283"/>
            <a:chOff x="0" y="0"/>
            <a:chExt cx="11250511" cy="33257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5042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08731"/>
                  </a:lnTo>
                  <a:cubicBezTo>
                    <a:pt x="11250422" y="3318129"/>
                    <a:pt x="11242802" y="3325622"/>
                    <a:pt x="1123353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1233531" y="3291840"/>
                  </a:lnTo>
                  <a:lnTo>
                    <a:pt x="11233531" y="3308731"/>
                  </a:lnTo>
                  <a:lnTo>
                    <a:pt x="11216640" y="33087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44503" y="4559303"/>
            <a:ext cx="1305563" cy="2494283"/>
            <a:chOff x="0" y="0"/>
            <a:chExt cx="1740751" cy="33257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4066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3308731"/>
                  </a:lnTo>
                  <a:cubicBezTo>
                    <a:pt x="1740662" y="3318129"/>
                    <a:pt x="1733042" y="3325622"/>
                    <a:pt x="172377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723771" y="3291840"/>
                  </a:lnTo>
                  <a:lnTo>
                    <a:pt x="1723771" y="3308731"/>
                  </a:lnTo>
                  <a:lnTo>
                    <a:pt x="1706880" y="3308731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57200" y="4572000"/>
            <a:ext cx="1280160" cy="2468880"/>
            <a:chOff x="0" y="0"/>
            <a:chExt cx="1706880" cy="3291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442" t="0" r="-19744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170688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883664" y="4791456"/>
            <a:ext cx="694944" cy="694944"/>
            <a:chOff x="0" y="0"/>
            <a:chExt cx="926592" cy="926592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651760" y="4754880"/>
            <a:ext cx="5943600" cy="768096"/>
            <a:chOff x="0" y="0"/>
            <a:chExt cx="7924800" cy="10241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924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77" r="0" b="-10077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7924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Django Web Integration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883664" y="5558028"/>
            <a:ext cx="6729984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the NLP backend with a Django web application for browser-based user interaction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369047" y="4559303"/>
            <a:ext cx="8437883" cy="2494283"/>
            <a:chOff x="0" y="0"/>
            <a:chExt cx="11250511" cy="33257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5042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08731"/>
                  </a:lnTo>
                  <a:cubicBezTo>
                    <a:pt x="11250422" y="3318129"/>
                    <a:pt x="11242802" y="3325622"/>
                    <a:pt x="1123353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1233531" y="3291840"/>
                  </a:lnTo>
                  <a:lnTo>
                    <a:pt x="11233531" y="3308731"/>
                  </a:lnTo>
                  <a:lnTo>
                    <a:pt x="11216640" y="33087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369047" y="4559303"/>
            <a:ext cx="1305563" cy="2494283"/>
            <a:chOff x="0" y="0"/>
            <a:chExt cx="1740751" cy="33257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74066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3308731"/>
                  </a:lnTo>
                  <a:cubicBezTo>
                    <a:pt x="1740662" y="3318129"/>
                    <a:pt x="1733042" y="3325622"/>
                    <a:pt x="172377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723771" y="3291840"/>
                  </a:lnTo>
                  <a:lnTo>
                    <a:pt x="1723771" y="3308731"/>
                  </a:lnTo>
                  <a:lnTo>
                    <a:pt x="1706880" y="3308731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381744" y="4572000"/>
            <a:ext cx="1280160" cy="2468880"/>
            <a:chOff x="0" y="0"/>
            <a:chExt cx="1706880" cy="3291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442" t="0" r="-197442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170688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808208" y="4791456"/>
            <a:ext cx="694944" cy="694944"/>
            <a:chOff x="0" y="0"/>
            <a:chExt cx="926592" cy="926592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576304" y="4754880"/>
            <a:ext cx="5943600" cy="768096"/>
            <a:chOff x="0" y="0"/>
            <a:chExt cx="7924800" cy="102412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924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77" r="0" b="-10077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7924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 Dependency Trees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0808208" y="5558028"/>
            <a:ext cx="6729984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Produce structured dependency tree outputs displaying word-level syntactic relationships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444503" y="7302503"/>
            <a:ext cx="8437883" cy="2494283"/>
            <a:chOff x="0" y="0"/>
            <a:chExt cx="11250511" cy="332571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25042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08731"/>
                  </a:lnTo>
                  <a:cubicBezTo>
                    <a:pt x="11250422" y="3318129"/>
                    <a:pt x="11242802" y="3325622"/>
                    <a:pt x="1123353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1233531" y="3291840"/>
                  </a:lnTo>
                  <a:lnTo>
                    <a:pt x="11233531" y="3308731"/>
                  </a:lnTo>
                  <a:lnTo>
                    <a:pt x="11216640" y="33087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44503" y="7302503"/>
            <a:ext cx="1305563" cy="2494283"/>
            <a:chOff x="0" y="0"/>
            <a:chExt cx="1740751" cy="33257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74066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3308731"/>
                  </a:lnTo>
                  <a:cubicBezTo>
                    <a:pt x="1740662" y="3318129"/>
                    <a:pt x="1733042" y="3325622"/>
                    <a:pt x="172377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723771" y="3291840"/>
                  </a:lnTo>
                  <a:lnTo>
                    <a:pt x="1723771" y="3308731"/>
                  </a:lnTo>
                  <a:lnTo>
                    <a:pt x="1706880" y="3308731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57200" y="7315200"/>
            <a:ext cx="1280160" cy="2468880"/>
            <a:chOff x="0" y="0"/>
            <a:chExt cx="1706880" cy="32918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442" t="0" r="-197442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170688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883664" y="7534656"/>
            <a:ext cx="694944" cy="694944"/>
            <a:chOff x="0" y="0"/>
            <a:chExt cx="926592" cy="926592"/>
          </a:xfrm>
        </p:grpSpPr>
        <p:sp>
          <p:nvSpPr>
            <p:cNvPr name="Freeform 81" id="81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2651760" y="7498080"/>
            <a:ext cx="5943600" cy="768096"/>
            <a:chOff x="0" y="0"/>
            <a:chExt cx="7924800" cy="10241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924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77" r="0" b="-10077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7924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Migrate spaCy → Stanza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883664" y="8301228"/>
            <a:ext cx="6729984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 the system by migrating from the initial spaCy prototype to the more capable Stanza library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9369047" y="7302503"/>
            <a:ext cx="8437883" cy="2494283"/>
            <a:chOff x="0" y="0"/>
            <a:chExt cx="11250511" cy="332571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25042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08731"/>
                  </a:lnTo>
                  <a:cubicBezTo>
                    <a:pt x="11250422" y="3318129"/>
                    <a:pt x="11242802" y="3325622"/>
                    <a:pt x="1123353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1233531" y="3291840"/>
                  </a:lnTo>
                  <a:lnTo>
                    <a:pt x="11233531" y="3308731"/>
                  </a:lnTo>
                  <a:lnTo>
                    <a:pt x="11216640" y="33087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369047" y="7302503"/>
            <a:ext cx="1305563" cy="2494283"/>
            <a:chOff x="0" y="0"/>
            <a:chExt cx="1740751" cy="332571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74066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3308731"/>
                  </a:lnTo>
                  <a:cubicBezTo>
                    <a:pt x="1740662" y="3318129"/>
                    <a:pt x="1733042" y="3325622"/>
                    <a:pt x="172377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723771" y="3291840"/>
                  </a:lnTo>
                  <a:lnTo>
                    <a:pt x="1723771" y="3308731"/>
                  </a:lnTo>
                  <a:lnTo>
                    <a:pt x="1706880" y="3308731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381744" y="7315200"/>
            <a:ext cx="1280160" cy="2468880"/>
            <a:chOff x="0" y="0"/>
            <a:chExt cx="1706880" cy="32918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442" t="0" r="-197442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76200"/>
              <a:ext cx="170688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808208" y="7534656"/>
            <a:ext cx="694944" cy="694944"/>
            <a:chOff x="0" y="0"/>
            <a:chExt cx="926592" cy="926592"/>
          </a:xfrm>
        </p:grpSpPr>
        <p:sp>
          <p:nvSpPr>
            <p:cNvPr name="Freeform 96" id="9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1576304" y="7498080"/>
            <a:ext cx="5943600" cy="768096"/>
            <a:chOff x="0" y="0"/>
            <a:chExt cx="7924800" cy="102412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924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77" r="0" b="-10077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7924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Modular Architecture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0808208" y="8301228"/>
            <a:ext cx="6729984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Design a clean, extensible parsing pipeline that allows easy addition of new languages and features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92096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816103"/>
            <a:ext cx="4048763" cy="7889243"/>
            <a:chOff x="0" y="0"/>
            <a:chExt cx="5398351" cy="10518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36448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9826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502011"/>
                  </a:lnTo>
                  <a:cubicBezTo>
                    <a:pt x="5398262" y="10511409"/>
                    <a:pt x="5390642" y="10518901"/>
                    <a:pt x="538137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5381371" y="10485120"/>
                  </a:lnTo>
                  <a:lnTo>
                    <a:pt x="5381371" y="10502011"/>
                  </a:lnTo>
                  <a:lnTo>
                    <a:pt x="5364480" y="105020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3" y="1816103"/>
            <a:ext cx="4048763" cy="1671323"/>
            <a:chOff x="0" y="0"/>
            <a:chExt cx="5398351" cy="22284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364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8262" cy="2228342"/>
            </a:xfrm>
            <a:custGeom>
              <a:avLst/>
              <a:gdLst/>
              <a:ahLst/>
              <a:cxnLst/>
              <a:rect r="r" b="b" t="t" l="l"/>
              <a:pathLst>
                <a:path h="222834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211451"/>
                  </a:lnTo>
                  <a:cubicBezTo>
                    <a:pt x="5398262" y="2220849"/>
                    <a:pt x="5390642" y="2228342"/>
                    <a:pt x="538137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5381371" y="2194560"/>
                  </a:lnTo>
                  <a:lnTo>
                    <a:pt x="5381371" y="2211451"/>
                  </a:lnTo>
                  <a:lnTo>
                    <a:pt x="5364480" y="221145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2048256"/>
            <a:ext cx="768096" cy="768096"/>
            <a:chOff x="0" y="0"/>
            <a:chExt cx="1024128" cy="1024128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91056" y="1920240"/>
            <a:ext cx="2706624" cy="1463040"/>
            <a:chOff x="0" y="0"/>
            <a:chExt cx="3608832" cy="1950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0883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53" t="0" r="-1935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608832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0303" y="3742687"/>
            <a:ext cx="3597145" cy="1109977"/>
            <a:chOff x="0" y="0"/>
            <a:chExt cx="4796193" cy="14799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73687" y="4047239"/>
            <a:ext cx="354587" cy="354587"/>
            <a:chOff x="0" y="0"/>
            <a:chExt cx="472783" cy="4727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25296" y="3749040"/>
            <a:ext cx="2926080" cy="1097280"/>
            <a:chOff x="0" y="0"/>
            <a:chExt cx="390144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70303" y="5114287"/>
            <a:ext cx="3597145" cy="1109977"/>
            <a:chOff x="0" y="0"/>
            <a:chExt cx="4796193" cy="147996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73687" y="5418839"/>
            <a:ext cx="354587" cy="354587"/>
            <a:chOff x="0" y="0"/>
            <a:chExt cx="472783" cy="4727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25296" y="5120640"/>
            <a:ext cx="2926080" cy="1097280"/>
            <a:chOff x="0" y="0"/>
            <a:chExt cx="3901440" cy="1463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CSS3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70303" y="6485887"/>
            <a:ext cx="3597145" cy="1109977"/>
            <a:chOff x="0" y="0"/>
            <a:chExt cx="4796193" cy="147996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73687" y="6790439"/>
            <a:ext cx="354587" cy="354587"/>
            <a:chOff x="0" y="0"/>
            <a:chExt cx="472783" cy="4727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25296" y="6492240"/>
            <a:ext cx="2926080" cy="1097280"/>
            <a:chOff x="0" y="0"/>
            <a:chExt cx="3901440" cy="1463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Django Templates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797047" y="1816103"/>
            <a:ext cx="4048763" cy="7889243"/>
            <a:chOff x="0" y="0"/>
            <a:chExt cx="5398351" cy="105189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536448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9826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502011"/>
                  </a:lnTo>
                  <a:cubicBezTo>
                    <a:pt x="5398262" y="10511409"/>
                    <a:pt x="5390642" y="10518901"/>
                    <a:pt x="538137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5381371" y="10485120"/>
                  </a:lnTo>
                  <a:lnTo>
                    <a:pt x="5381371" y="10502011"/>
                  </a:lnTo>
                  <a:lnTo>
                    <a:pt x="5364480" y="105020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797047" y="1816103"/>
            <a:ext cx="4048763" cy="1671323"/>
            <a:chOff x="0" y="0"/>
            <a:chExt cx="5398351" cy="22284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5364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98262" cy="2228342"/>
            </a:xfrm>
            <a:custGeom>
              <a:avLst/>
              <a:gdLst/>
              <a:ahLst/>
              <a:cxnLst/>
              <a:rect r="r" b="b" t="t" l="l"/>
              <a:pathLst>
                <a:path h="222834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211451"/>
                  </a:lnTo>
                  <a:cubicBezTo>
                    <a:pt x="5398262" y="2220849"/>
                    <a:pt x="5390642" y="2228342"/>
                    <a:pt x="538137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5381371" y="2194560"/>
                  </a:lnTo>
                  <a:lnTo>
                    <a:pt x="5381371" y="2211451"/>
                  </a:lnTo>
                  <a:lnTo>
                    <a:pt x="5364480" y="221145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084064" y="2048256"/>
            <a:ext cx="768096" cy="768096"/>
            <a:chOff x="0" y="0"/>
            <a:chExt cx="1024128" cy="1024128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943600" y="1920240"/>
            <a:ext cx="2706624" cy="1463040"/>
            <a:chOff x="0" y="0"/>
            <a:chExt cx="3608832" cy="1950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0883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53" t="0" r="-1935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3608832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022847" y="3742687"/>
            <a:ext cx="3597145" cy="1109977"/>
            <a:chOff x="0" y="0"/>
            <a:chExt cx="4796193" cy="147996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5126231" y="4047239"/>
            <a:ext cx="354587" cy="354587"/>
            <a:chOff x="0" y="0"/>
            <a:chExt cx="472783" cy="47278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577840" y="3749040"/>
            <a:ext cx="2926080" cy="1097280"/>
            <a:chOff x="0" y="0"/>
            <a:chExt cx="3901440" cy="14630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3.x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022847" y="5114287"/>
            <a:ext cx="3597145" cy="1109977"/>
            <a:chOff x="0" y="0"/>
            <a:chExt cx="4796193" cy="147996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5126231" y="5418839"/>
            <a:ext cx="354587" cy="354587"/>
            <a:chOff x="0" y="0"/>
            <a:chExt cx="472783" cy="47278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5577840" y="5120640"/>
            <a:ext cx="2926080" cy="1097280"/>
            <a:chOff x="0" y="0"/>
            <a:chExt cx="3901440" cy="14630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Django Framework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022847" y="6485887"/>
            <a:ext cx="3597145" cy="1109977"/>
            <a:chOff x="0" y="0"/>
            <a:chExt cx="4796193" cy="147996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5126231" y="6790439"/>
            <a:ext cx="354587" cy="354587"/>
            <a:chOff x="0" y="0"/>
            <a:chExt cx="472783" cy="47278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5577840" y="6492240"/>
            <a:ext cx="2926080" cy="1097280"/>
            <a:chOff x="0" y="0"/>
            <a:chExt cx="3901440" cy="14630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 Database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5022847" y="7857487"/>
            <a:ext cx="3597145" cy="1109977"/>
            <a:chOff x="0" y="0"/>
            <a:chExt cx="4796193" cy="147996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5126231" y="8162039"/>
            <a:ext cx="354587" cy="354587"/>
            <a:chOff x="0" y="0"/>
            <a:chExt cx="472783" cy="472783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5577840" y="7863840"/>
            <a:ext cx="2926080" cy="1097280"/>
            <a:chOff x="0" y="0"/>
            <a:chExt cx="3901440" cy="14630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Django Views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149591" y="1816103"/>
            <a:ext cx="4048763" cy="7889243"/>
            <a:chOff x="0" y="0"/>
            <a:chExt cx="5398351" cy="1051899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6891" y="16891"/>
              <a:ext cx="536448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39826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502011"/>
                  </a:lnTo>
                  <a:cubicBezTo>
                    <a:pt x="5398262" y="10511409"/>
                    <a:pt x="5390642" y="10518901"/>
                    <a:pt x="538137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5381371" y="10485120"/>
                  </a:lnTo>
                  <a:lnTo>
                    <a:pt x="5381371" y="10502011"/>
                  </a:lnTo>
                  <a:lnTo>
                    <a:pt x="5364480" y="105020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149591" y="1816103"/>
            <a:ext cx="4048763" cy="1671323"/>
            <a:chOff x="0" y="0"/>
            <a:chExt cx="5398351" cy="222843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5364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398262" cy="2228342"/>
            </a:xfrm>
            <a:custGeom>
              <a:avLst/>
              <a:gdLst/>
              <a:ahLst/>
              <a:cxnLst/>
              <a:rect r="r" b="b" t="t" l="l"/>
              <a:pathLst>
                <a:path h="222834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211451"/>
                  </a:lnTo>
                  <a:cubicBezTo>
                    <a:pt x="5398262" y="2220849"/>
                    <a:pt x="5390642" y="2228342"/>
                    <a:pt x="538137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5381371" y="2194560"/>
                  </a:lnTo>
                  <a:lnTo>
                    <a:pt x="5381371" y="2211451"/>
                  </a:lnTo>
                  <a:lnTo>
                    <a:pt x="5364480" y="221145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436608" y="2048256"/>
            <a:ext cx="768096" cy="768096"/>
            <a:chOff x="0" y="0"/>
            <a:chExt cx="1024128" cy="1024128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296144" y="1920240"/>
            <a:ext cx="2706624" cy="1463040"/>
            <a:chOff x="0" y="0"/>
            <a:chExt cx="3608832" cy="19507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60883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53" t="0" r="-1935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3608832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NLP Layer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375391" y="3742687"/>
            <a:ext cx="3597145" cy="1109977"/>
            <a:chOff x="0" y="0"/>
            <a:chExt cx="4796193" cy="147996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478775" y="4047239"/>
            <a:ext cx="354587" cy="354587"/>
            <a:chOff x="0" y="0"/>
            <a:chExt cx="472783" cy="47278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930384" y="3749040"/>
            <a:ext cx="2926080" cy="1097280"/>
            <a:chOff x="0" y="0"/>
            <a:chExt cx="3901440" cy="14630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Stanza NLP Library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375391" y="5114287"/>
            <a:ext cx="3597145" cy="1109977"/>
            <a:chOff x="0" y="0"/>
            <a:chExt cx="4796193" cy="1479969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478775" y="5418839"/>
            <a:ext cx="354587" cy="354587"/>
            <a:chOff x="0" y="0"/>
            <a:chExt cx="472783" cy="47278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930384" y="5120640"/>
            <a:ext cx="2926080" cy="1097280"/>
            <a:chOff x="0" y="0"/>
            <a:chExt cx="3901440" cy="14630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spaCy (initial)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375391" y="6485887"/>
            <a:ext cx="3597145" cy="1109977"/>
            <a:chOff x="0" y="0"/>
            <a:chExt cx="4796193" cy="147996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478775" y="6790439"/>
            <a:ext cx="354587" cy="354587"/>
            <a:chOff x="0" y="0"/>
            <a:chExt cx="472783" cy="47278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930384" y="6492240"/>
            <a:ext cx="2926080" cy="1097280"/>
            <a:chOff x="0" y="0"/>
            <a:chExt cx="3901440" cy="14630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Pretrained en Pipeline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375391" y="7857487"/>
            <a:ext cx="3597145" cy="1109977"/>
            <a:chOff x="0" y="0"/>
            <a:chExt cx="4796193" cy="147996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478775" y="8162039"/>
            <a:ext cx="354587" cy="354587"/>
            <a:chOff x="0" y="0"/>
            <a:chExt cx="472783" cy="472783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930384" y="7863840"/>
            <a:ext cx="2926080" cy="1097280"/>
            <a:chOff x="0" y="0"/>
            <a:chExt cx="3901440" cy="14630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Pretrained hi Pipeline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3502135" y="1816103"/>
            <a:ext cx="4048763" cy="7889243"/>
            <a:chOff x="0" y="0"/>
            <a:chExt cx="5398351" cy="1051899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536448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39826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502011"/>
                  </a:lnTo>
                  <a:cubicBezTo>
                    <a:pt x="5398262" y="10511409"/>
                    <a:pt x="5390642" y="10518901"/>
                    <a:pt x="538137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5381371" y="10485120"/>
                  </a:lnTo>
                  <a:lnTo>
                    <a:pt x="5381371" y="10502011"/>
                  </a:lnTo>
                  <a:lnTo>
                    <a:pt x="5364480" y="105020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3502135" y="1816103"/>
            <a:ext cx="4048763" cy="1671323"/>
            <a:chOff x="0" y="0"/>
            <a:chExt cx="5398351" cy="222843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5364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398262" cy="2228342"/>
            </a:xfrm>
            <a:custGeom>
              <a:avLst/>
              <a:gdLst/>
              <a:ahLst/>
              <a:cxnLst/>
              <a:rect r="r" b="b" t="t" l="l"/>
              <a:pathLst>
                <a:path h="222834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211451"/>
                  </a:lnTo>
                  <a:cubicBezTo>
                    <a:pt x="5398262" y="2220849"/>
                    <a:pt x="5390642" y="2228342"/>
                    <a:pt x="538137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5381371" y="2194560"/>
                  </a:lnTo>
                  <a:lnTo>
                    <a:pt x="5381371" y="2211451"/>
                  </a:lnTo>
                  <a:lnTo>
                    <a:pt x="5364480" y="221145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3789152" y="2048256"/>
            <a:ext cx="768096" cy="768096"/>
            <a:chOff x="0" y="0"/>
            <a:chExt cx="1024128" cy="1024128"/>
          </a:xfrm>
        </p:grpSpPr>
        <p:sp>
          <p:nvSpPr>
            <p:cNvPr name="Freeform 150" id="150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4648688" y="1920240"/>
            <a:ext cx="2706624" cy="1463040"/>
            <a:chOff x="0" y="0"/>
            <a:chExt cx="3608832" cy="195072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60883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53" t="0" r="-19353" b="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47625"/>
              <a:ext cx="3608832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 Tools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3727935" y="3742687"/>
            <a:ext cx="3597145" cy="1109977"/>
            <a:chOff x="0" y="0"/>
            <a:chExt cx="4796193" cy="1479969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3831319" y="4047239"/>
            <a:ext cx="354587" cy="354587"/>
            <a:chOff x="0" y="0"/>
            <a:chExt cx="472783" cy="472783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4282928" y="3749040"/>
            <a:ext cx="2926080" cy="1097280"/>
            <a:chOff x="0" y="0"/>
            <a:chExt cx="3901440" cy="14630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Code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3727935" y="5114287"/>
            <a:ext cx="3597145" cy="1109977"/>
            <a:chOff x="0" y="0"/>
            <a:chExt cx="4796193" cy="147996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831319" y="5418839"/>
            <a:ext cx="354587" cy="354587"/>
            <a:chOff x="0" y="0"/>
            <a:chExt cx="472783" cy="472783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4282928" y="5120640"/>
            <a:ext cx="2926080" cy="1097280"/>
            <a:chOff x="0" y="0"/>
            <a:chExt cx="3901440" cy="14630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Terminal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13727935" y="6485887"/>
            <a:ext cx="3597145" cy="1109977"/>
            <a:chOff x="0" y="0"/>
            <a:chExt cx="4796193" cy="1479969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8509" y="8509"/>
              <a:ext cx="477926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796282" cy="1480058"/>
            </a:xfrm>
            <a:custGeom>
              <a:avLst/>
              <a:gdLst/>
              <a:ahLst/>
              <a:cxnLst/>
              <a:rect r="r" b="b" t="t" l="l"/>
              <a:pathLst>
                <a:path h="1480058" w="4796282">
                  <a:moveTo>
                    <a:pt x="8509" y="0"/>
                  </a:moveTo>
                  <a:lnTo>
                    <a:pt x="4787773" y="0"/>
                  </a:lnTo>
                  <a:cubicBezTo>
                    <a:pt x="4792472" y="0"/>
                    <a:pt x="4796282" y="3810"/>
                    <a:pt x="4796282" y="8509"/>
                  </a:cubicBezTo>
                  <a:lnTo>
                    <a:pt x="4796282" y="1471549"/>
                  </a:lnTo>
                  <a:cubicBezTo>
                    <a:pt x="4796282" y="1476248"/>
                    <a:pt x="4792472" y="1480058"/>
                    <a:pt x="4787773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4787773" y="1463040"/>
                  </a:lnTo>
                  <a:lnTo>
                    <a:pt x="4787773" y="1471549"/>
                  </a:lnTo>
                  <a:lnTo>
                    <a:pt x="4779264" y="1471549"/>
                  </a:lnTo>
                  <a:lnTo>
                    <a:pt x="4779264" y="8509"/>
                  </a:lnTo>
                  <a:lnTo>
                    <a:pt x="4787773" y="8509"/>
                  </a:lnTo>
                  <a:lnTo>
                    <a:pt x="47877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831319" y="6790439"/>
            <a:ext cx="354587" cy="354587"/>
            <a:chOff x="0" y="0"/>
            <a:chExt cx="472783" cy="472783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4282928" y="6492240"/>
            <a:ext cx="2926080" cy="1097280"/>
            <a:chOff x="0" y="0"/>
            <a:chExt cx="3901440" cy="146304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3901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38100"/>
              <a:ext cx="3901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 / venv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920960" cy="2158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— Development Phases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4412999"/>
            <a:ext cx="16484603" cy="171707"/>
            <a:chOff x="0" y="0"/>
            <a:chExt cx="21979471" cy="2289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1945599" cy="195072"/>
            </a:xfrm>
            <a:custGeom>
              <a:avLst/>
              <a:gdLst/>
              <a:ahLst/>
              <a:cxnLst/>
              <a:rect r="r" b="b" t="t" l="l"/>
              <a:pathLst>
                <a:path h="19507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79382" cy="228856"/>
            </a:xfrm>
            <a:custGeom>
              <a:avLst/>
              <a:gdLst/>
              <a:ahLst/>
              <a:cxnLst/>
              <a:rect r="r" b="b" t="t" l="l"/>
              <a:pathLst>
                <a:path h="22885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211963"/>
                  </a:lnTo>
                  <a:cubicBezTo>
                    <a:pt x="21979382" y="221361"/>
                    <a:pt x="21971763" y="228854"/>
                    <a:pt x="219624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1962490" y="195072"/>
                  </a:lnTo>
                  <a:lnTo>
                    <a:pt x="21962490" y="211963"/>
                  </a:lnTo>
                  <a:lnTo>
                    <a:pt x="21945600" y="21196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1623" y="1816103"/>
            <a:ext cx="3500123" cy="2402843"/>
            <a:chOff x="0" y="0"/>
            <a:chExt cx="4666831" cy="32037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4632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66742" cy="3203702"/>
            </a:xfrm>
            <a:custGeom>
              <a:avLst/>
              <a:gdLst/>
              <a:ahLst/>
              <a:cxnLst/>
              <a:rect r="r" b="b" t="t" l="l"/>
              <a:pathLst>
                <a:path h="320370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3186811"/>
                  </a:lnTo>
                  <a:cubicBezTo>
                    <a:pt x="4666742" y="3196209"/>
                    <a:pt x="4659122" y="3203702"/>
                    <a:pt x="464985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4649851" y="3169920"/>
                  </a:lnTo>
                  <a:lnTo>
                    <a:pt x="4649851" y="3186811"/>
                  </a:lnTo>
                  <a:lnTo>
                    <a:pt x="4632960" y="318681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4320" y="1920240"/>
            <a:ext cx="3474720" cy="694944"/>
            <a:chOff x="0" y="0"/>
            <a:chExt cx="463296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32960" cy="926592"/>
            </a:xfrm>
            <a:custGeom>
              <a:avLst/>
              <a:gdLst/>
              <a:ahLst/>
              <a:cxnLst/>
              <a:rect r="r" b="b" t="t" l="l"/>
              <a:pathLst>
                <a:path h="9265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4320" y="2596896"/>
            <a:ext cx="3474720" cy="768096"/>
            <a:chOff x="0" y="0"/>
            <a:chExt cx="463296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32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6" r="0" b="-3814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6329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spaCy Prototype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74320" y="3364992"/>
            <a:ext cx="3474720" cy="731520"/>
            <a:chOff x="0" y="0"/>
            <a:chExt cx="463296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E0E0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Initial dependency parsing prototype using spaCy for English only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99893" y="4180837"/>
            <a:ext cx="672589" cy="672589"/>
            <a:chOff x="0" y="0"/>
            <a:chExt cx="896785" cy="8967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33909" y="33909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382" y="829056"/>
                    <a:pt x="414528" y="829056"/>
                  </a:cubicBezTo>
                  <a:cubicBezTo>
                    <a:pt x="185674" y="829056"/>
                    <a:pt x="0" y="643382"/>
                    <a:pt x="0" y="414528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6874" cy="896874"/>
            </a:xfrm>
            <a:custGeom>
              <a:avLst/>
              <a:gdLst/>
              <a:ahLst/>
              <a:cxnLst/>
              <a:rect r="r" b="b" t="t" l="l"/>
              <a:pathLst>
                <a:path h="896874" w="896874">
                  <a:moveTo>
                    <a:pt x="0" y="448437"/>
                  </a:moveTo>
                  <a:cubicBezTo>
                    <a:pt x="0" y="200787"/>
                    <a:pt x="200787" y="0"/>
                    <a:pt x="448437" y="0"/>
                  </a:cubicBezTo>
                  <a:lnTo>
                    <a:pt x="448437" y="33909"/>
                  </a:lnTo>
                  <a:lnTo>
                    <a:pt x="448437" y="0"/>
                  </a:lnTo>
                  <a:cubicBezTo>
                    <a:pt x="696087" y="0"/>
                    <a:pt x="896874" y="200787"/>
                    <a:pt x="896874" y="448437"/>
                  </a:cubicBezTo>
                  <a:cubicBezTo>
                    <a:pt x="896874" y="696087"/>
                    <a:pt x="696087" y="896874"/>
                    <a:pt x="448437" y="896874"/>
                  </a:cubicBezTo>
                  <a:lnTo>
                    <a:pt x="448437" y="862965"/>
                  </a:lnTo>
                  <a:lnTo>
                    <a:pt x="448437" y="896874"/>
                  </a:lnTo>
                  <a:cubicBezTo>
                    <a:pt x="200787" y="896747"/>
                    <a:pt x="0" y="696087"/>
                    <a:pt x="0" y="448437"/>
                  </a:cubicBezTo>
                  <a:lnTo>
                    <a:pt x="33909" y="448437"/>
                  </a:lnTo>
                  <a:lnTo>
                    <a:pt x="55753" y="474345"/>
                  </a:lnTo>
                  <a:cubicBezTo>
                    <a:pt x="45720" y="482854"/>
                    <a:pt x="31623" y="484759"/>
                    <a:pt x="19685" y="479171"/>
                  </a:cubicBezTo>
                  <a:cubicBezTo>
                    <a:pt x="7747" y="473583"/>
                    <a:pt x="0" y="461518"/>
                    <a:pt x="0" y="448437"/>
                  </a:cubicBezTo>
                  <a:moveTo>
                    <a:pt x="67691" y="448437"/>
                  </a:moveTo>
                  <a:lnTo>
                    <a:pt x="33909" y="448437"/>
                  </a:lnTo>
                  <a:lnTo>
                    <a:pt x="12065" y="422529"/>
                  </a:lnTo>
                  <a:cubicBezTo>
                    <a:pt x="22098" y="414020"/>
                    <a:pt x="36195" y="412115"/>
                    <a:pt x="48133" y="417703"/>
                  </a:cubicBezTo>
                  <a:cubicBezTo>
                    <a:pt x="60071" y="423291"/>
                    <a:pt x="67691" y="435229"/>
                    <a:pt x="67691" y="448437"/>
                  </a:cubicBezTo>
                  <a:cubicBezTo>
                    <a:pt x="67691" y="658622"/>
                    <a:pt x="238125" y="829056"/>
                    <a:pt x="448310" y="829056"/>
                  </a:cubicBezTo>
                  <a:cubicBezTo>
                    <a:pt x="658495" y="829056"/>
                    <a:pt x="828929" y="658622"/>
                    <a:pt x="828929" y="448437"/>
                  </a:cubicBezTo>
                  <a:lnTo>
                    <a:pt x="862838" y="448437"/>
                  </a:lnTo>
                  <a:lnTo>
                    <a:pt x="828929" y="448437"/>
                  </a:lnTo>
                  <a:cubicBezTo>
                    <a:pt x="828929" y="238252"/>
                    <a:pt x="658495" y="67818"/>
                    <a:pt x="448310" y="67818"/>
                  </a:cubicBezTo>
                  <a:lnTo>
                    <a:pt x="448310" y="33909"/>
                  </a:lnTo>
                  <a:lnTo>
                    <a:pt x="448310" y="67691"/>
                  </a:lnTo>
                  <a:cubicBezTo>
                    <a:pt x="238125" y="67691"/>
                    <a:pt x="67691" y="238125"/>
                    <a:pt x="67691" y="4484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321559" y="1816103"/>
            <a:ext cx="3500123" cy="2402843"/>
            <a:chOff x="0" y="0"/>
            <a:chExt cx="4666831" cy="32037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632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66742" cy="3203702"/>
            </a:xfrm>
            <a:custGeom>
              <a:avLst/>
              <a:gdLst/>
              <a:ahLst/>
              <a:cxnLst/>
              <a:rect r="r" b="b" t="t" l="l"/>
              <a:pathLst>
                <a:path h="320370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3186811"/>
                  </a:lnTo>
                  <a:cubicBezTo>
                    <a:pt x="4666742" y="3196209"/>
                    <a:pt x="4659122" y="3203702"/>
                    <a:pt x="464985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4649851" y="3169920"/>
                  </a:lnTo>
                  <a:lnTo>
                    <a:pt x="4649851" y="3186811"/>
                  </a:lnTo>
                  <a:lnTo>
                    <a:pt x="4632960" y="318681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334256" y="1920240"/>
            <a:ext cx="3474720" cy="694944"/>
            <a:chOff x="0" y="0"/>
            <a:chExt cx="463296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32960" cy="926592"/>
            </a:xfrm>
            <a:custGeom>
              <a:avLst/>
              <a:gdLst/>
              <a:ahLst/>
              <a:cxnLst/>
              <a:rect r="r" b="b" t="t" l="l"/>
              <a:pathLst>
                <a:path h="9265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334256" y="2596896"/>
            <a:ext cx="3474720" cy="768096"/>
            <a:chOff x="0" y="0"/>
            <a:chExt cx="463296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32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6" r="0" b="-3814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6329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Stanza Migration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334256" y="3364992"/>
            <a:ext cx="3474720" cy="731520"/>
            <a:chOff x="0" y="0"/>
            <a:chExt cx="463296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E0E0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Migrated from spaCy to Stanza for richer multilingual support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259829" y="4180837"/>
            <a:ext cx="672589" cy="672589"/>
            <a:chOff x="0" y="0"/>
            <a:chExt cx="896785" cy="89678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33909" y="33909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382" y="829056"/>
                    <a:pt x="414528" y="829056"/>
                  </a:cubicBezTo>
                  <a:cubicBezTo>
                    <a:pt x="185674" y="829056"/>
                    <a:pt x="0" y="643382"/>
                    <a:pt x="0" y="414528"/>
                  </a:cubicBez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6874" cy="896874"/>
            </a:xfrm>
            <a:custGeom>
              <a:avLst/>
              <a:gdLst/>
              <a:ahLst/>
              <a:cxnLst/>
              <a:rect r="r" b="b" t="t" l="l"/>
              <a:pathLst>
                <a:path h="896874" w="896874">
                  <a:moveTo>
                    <a:pt x="0" y="448437"/>
                  </a:moveTo>
                  <a:cubicBezTo>
                    <a:pt x="0" y="200787"/>
                    <a:pt x="200787" y="0"/>
                    <a:pt x="448437" y="0"/>
                  </a:cubicBezTo>
                  <a:lnTo>
                    <a:pt x="448437" y="33909"/>
                  </a:lnTo>
                  <a:lnTo>
                    <a:pt x="448437" y="0"/>
                  </a:lnTo>
                  <a:cubicBezTo>
                    <a:pt x="696087" y="0"/>
                    <a:pt x="896874" y="200787"/>
                    <a:pt x="896874" y="448437"/>
                  </a:cubicBezTo>
                  <a:cubicBezTo>
                    <a:pt x="896874" y="696087"/>
                    <a:pt x="696087" y="896874"/>
                    <a:pt x="448437" y="896874"/>
                  </a:cubicBezTo>
                  <a:lnTo>
                    <a:pt x="448437" y="862965"/>
                  </a:lnTo>
                  <a:lnTo>
                    <a:pt x="448437" y="896874"/>
                  </a:lnTo>
                  <a:cubicBezTo>
                    <a:pt x="200787" y="896747"/>
                    <a:pt x="0" y="696087"/>
                    <a:pt x="0" y="448437"/>
                  </a:cubicBezTo>
                  <a:lnTo>
                    <a:pt x="33909" y="448437"/>
                  </a:lnTo>
                  <a:lnTo>
                    <a:pt x="55753" y="474345"/>
                  </a:lnTo>
                  <a:cubicBezTo>
                    <a:pt x="45720" y="482854"/>
                    <a:pt x="31623" y="484759"/>
                    <a:pt x="19685" y="479171"/>
                  </a:cubicBezTo>
                  <a:cubicBezTo>
                    <a:pt x="7747" y="473583"/>
                    <a:pt x="0" y="461518"/>
                    <a:pt x="0" y="448437"/>
                  </a:cubicBezTo>
                  <a:moveTo>
                    <a:pt x="67691" y="448437"/>
                  </a:moveTo>
                  <a:lnTo>
                    <a:pt x="33909" y="448437"/>
                  </a:lnTo>
                  <a:lnTo>
                    <a:pt x="12065" y="422529"/>
                  </a:lnTo>
                  <a:cubicBezTo>
                    <a:pt x="22098" y="414020"/>
                    <a:pt x="36195" y="412115"/>
                    <a:pt x="48133" y="417703"/>
                  </a:cubicBezTo>
                  <a:cubicBezTo>
                    <a:pt x="60071" y="423291"/>
                    <a:pt x="67691" y="435229"/>
                    <a:pt x="67691" y="448437"/>
                  </a:cubicBezTo>
                  <a:cubicBezTo>
                    <a:pt x="67691" y="658622"/>
                    <a:pt x="238125" y="829056"/>
                    <a:pt x="448310" y="829056"/>
                  </a:cubicBezTo>
                  <a:cubicBezTo>
                    <a:pt x="658495" y="829056"/>
                    <a:pt x="828929" y="658622"/>
                    <a:pt x="828929" y="448437"/>
                  </a:cubicBezTo>
                  <a:lnTo>
                    <a:pt x="862838" y="448437"/>
                  </a:lnTo>
                  <a:lnTo>
                    <a:pt x="828929" y="448437"/>
                  </a:lnTo>
                  <a:cubicBezTo>
                    <a:pt x="828929" y="238252"/>
                    <a:pt x="658495" y="67818"/>
                    <a:pt x="448310" y="67818"/>
                  </a:cubicBezTo>
                  <a:lnTo>
                    <a:pt x="448310" y="33909"/>
                  </a:lnTo>
                  <a:lnTo>
                    <a:pt x="448310" y="67691"/>
                  </a:lnTo>
                  <a:cubicBezTo>
                    <a:pt x="238125" y="67691"/>
                    <a:pt x="67691" y="238125"/>
                    <a:pt x="67691" y="4484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381495" y="1816103"/>
            <a:ext cx="3500123" cy="2402843"/>
            <a:chOff x="0" y="0"/>
            <a:chExt cx="4666831" cy="32037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4632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66742" cy="3203702"/>
            </a:xfrm>
            <a:custGeom>
              <a:avLst/>
              <a:gdLst/>
              <a:ahLst/>
              <a:cxnLst/>
              <a:rect r="r" b="b" t="t" l="l"/>
              <a:pathLst>
                <a:path h="320370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3186811"/>
                  </a:lnTo>
                  <a:cubicBezTo>
                    <a:pt x="4666742" y="3196209"/>
                    <a:pt x="4659122" y="3203702"/>
                    <a:pt x="464985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4649851" y="3169920"/>
                  </a:lnTo>
                  <a:lnTo>
                    <a:pt x="4649851" y="3186811"/>
                  </a:lnTo>
                  <a:lnTo>
                    <a:pt x="4632960" y="318681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394192" y="1920240"/>
            <a:ext cx="3474720" cy="694944"/>
            <a:chOff x="0" y="0"/>
            <a:chExt cx="463296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32960" cy="926592"/>
            </a:xfrm>
            <a:custGeom>
              <a:avLst/>
              <a:gdLst/>
              <a:ahLst/>
              <a:cxnLst/>
              <a:rect r="r" b="b" t="t" l="l"/>
              <a:pathLst>
                <a:path h="9265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394192" y="2596896"/>
            <a:ext cx="3474720" cy="768096"/>
            <a:chOff x="0" y="0"/>
            <a:chExt cx="463296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632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6" r="0" b="-3814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6329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Django Integration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394192" y="3364992"/>
            <a:ext cx="3474720" cy="731520"/>
            <a:chOff x="0" y="0"/>
            <a:chExt cx="463296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E0E0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Django web interface with dynamic output rendering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19765" y="4180837"/>
            <a:ext cx="672589" cy="672589"/>
            <a:chOff x="0" y="0"/>
            <a:chExt cx="896785" cy="89678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33909" y="33909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382" y="829056"/>
                    <a:pt x="414528" y="829056"/>
                  </a:cubicBezTo>
                  <a:cubicBezTo>
                    <a:pt x="185674" y="829056"/>
                    <a:pt x="0" y="643382"/>
                    <a:pt x="0" y="414528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96874" cy="896874"/>
            </a:xfrm>
            <a:custGeom>
              <a:avLst/>
              <a:gdLst/>
              <a:ahLst/>
              <a:cxnLst/>
              <a:rect r="r" b="b" t="t" l="l"/>
              <a:pathLst>
                <a:path h="896874" w="896874">
                  <a:moveTo>
                    <a:pt x="0" y="448437"/>
                  </a:moveTo>
                  <a:cubicBezTo>
                    <a:pt x="0" y="200787"/>
                    <a:pt x="200787" y="0"/>
                    <a:pt x="448437" y="0"/>
                  </a:cubicBezTo>
                  <a:lnTo>
                    <a:pt x="448437" y="33909"/>
                  </a:lnTo>
                  <a:lnTo>
                    <a:pt x="448437" y="0"/>
                  </a:lnTo>
                  <a:cubicBezTo>
                    <a:pt x="696087" y="0"/>
                    <a:pt x="896874" y="200787"/>
                    <a:pt x="896874" y="448437"/>
                  </a:cubicBezTo>
                  <a:cubicBezTo>
                    <a:pt x="896874" y="696087"/>
                    <a:pt x="696087" y="896874"/>
                    <a:pt x="448437" y="896874"/>
                  </a:cubicBezTo>
                  <a:lnTo>
                    <a:pt x="448437" y="862965"/>
                  </a:lnTo>
                  <a:lnTo>
                    <a:pt x="448437" y="896874"/>
                  </a:lnTo>
                  <a:cubicBezTo>
                    <a:pt x="200787" y="896747"/>
                    <a:pt x="0" y="696087"/>
                    <a:pt x="0" y="448437"/>
                  </a:cubicBezTo>
                  <a:lnTo>
                    <a:pt x="33909" y="448437"/>
                  </a:lnTo>
                  <a:lnTo>
                    <a:pt x="55753" y="474345"/>
                  </a:lnTo>
                  <a:cubicBezTo>
                    <a:pt x="45720" y="482854"/>
                    <a:pt x="31623" y="484759"/>
                    <a:pt x="19685" y="479171"/>
                  </a:cubicBezTo>
                  <a:cubicBezTo>
                    <a:pt x="7747" y="473583"/>
                    <a:pt x="0" y="461518"/>
                    <a:pt x="0" y="448437"/>
                  </a:cubicBezTo>
                  <a:moveTo>
                    <a:pt x="67691" y="448437"/>
                  </a:moveTo>
                  <a:lnTo>
                    <a:pt x="33909" y="448437"/>
                  </a:lnTo>
                  <a:lnTo>
                    <a:pt x="12065" y="422529"/>
                  </a:lnTo>
                  <a:cubicBezTo>
                    <a:pt x="22098" y="414020"/>
                    <a:pt x="36195" y="412115"/>
                    <a:pt x="48133" y="417703"/>
                  </a:cubicBezTo>
                  <a:cubicBezTo>
                    <a:pt x="60071" y="423291"/>
                    <a:pt x="67691" y="435229"/>
                    <a:pt x="67691" y="448437"/>
                  </a:cubicBezTo>
                  <a:cubicBezTo>
                    <a:pt x="67691" y="658622"/>
                    <a:pt x="238125" y="829056"/>
                    <a:pt x="448310" y="829056"/>
                  </a:cubicBezTo>
                  <a:cubicBezTo>
                    <a:pt x="658495" y="829056"/>
                    <a:pt x="828929" y="658622"/>
                    <a:pt x="828929" y="448437"/>
                  </a:cubicBezTo>
                  <a:lnTo>
                    <a:pt x="862838" y="448437"/>
                  </a:lnTo>
                  <a:lnTo>
                    <a:pt x="828929" y="448437"/>
                  </a:lnTo>
                  <a:cubicBezTo>
                    <a:pt x="828929" y="238252"/>
                    <a:pt x="658495" y="67818"/>
                    <a:pt x="448310" y="67818"/>
                  </a:cubicBezTo>
                  <a:lnTo>
                    <a:pt x="448310" y="33909"/>
                  </a:lnTo>
                  <a:lnTo>
                    <a:pt x="448310" y="67691"/>
                  </a:lnTo>
                  <a:cubicBezTo>
                    <a:pt x="238125" y="67691"/>
                    <a:pt x="67691" y="238125"/>
                    <a:pt x="67691" y="4484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441431" y="1816103"/>
            <a:ext cx="3500123" cy="2402843"/>
            <a:chOff x="0" y="0"/>
            <a:chExt cx="4666831" cy="32037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4632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666742" cy="3203702"/>
            </a:xfrm>
            <a:custGeom>
              <a:avLst/>
              <a:gdLst/>
              <a:ahLst/>
              <a:cxnLst/>
              <a:rect r="r" b="b" t="t" l="l"/>
              <a:pathLst>
                <a:path h="320370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3186811"/>
                  </a:lnTo>
                  <a:cubicBezTo>
                    <a:pt x="4666742" y="3196209"/>
                    <a:pt x="4659122" y="3203702"/>
                    <a:pt x="464985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4649851" y="3169920"/>
                  </a:lnTo>
                  <a:lnTo>
                    <a:pt x="4649851" y="3186811"/>
                  </a:lnTo>
                  <a:lnTo>
                    <a:pt x="4632960" y="318681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454128" y="1920240"/>
            <a:ext cx="3474720" cy="694944"/>
            <a:chOff x="0" y="0"/>
            <a:chExt cx="4632960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632960" cy="926592"/>
            </a:xfrm>
            <a:custGeom>
              <a:avLst/>
              <a:gdLst/>
              <a:ahLst/>
              <a:cxnLst/>
              <a:rect r="r" b="b" t="t" l="l"/>
              <a:pathLst>
                <a:path h="9265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454128" y="2596896"/>
            <a:ext cx="3474720" cy="768096"/>
            <a:chOff x="0" y="0"/>
            <a:chExt cx="4632960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632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6" r="0" b="-3814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6329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Hindi Support Added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454128" y="3364992"/>
            <a:ext cx="3474720" cy="731520"/>
            <a:chOff x="0" y="0"/>
            <a:chExt cx="4632960" cy="975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E0E0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Extended to Hindi using Stanza pretrained multilingual pipeline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379701" y="4180837"/>
            <a:ext cx="672589" cy="672589"/>
            <a:chOff x="0" y="0"/>
            <a:chExt cx="896785" cy="89678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33909" y="33909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382" y="829056"/>
                    <a:pt x="414528" y="829056"/>
                  </a:cubicBezTo>
                  <a:cubicBezTo>
                    <a:pt x="185674" y="829056"/>
                    <a:pt x="0" y="643382"/>
                    <a:pt x="0" y="414528"/>
                  </a:cubicBez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96874" cy="896874"/>
            </a:xfrm>
            <a:custGeom>
              <a:avLst/>
              <a:gdLst/>
              <a:ahLst/>
              <a:cxnLst/>
              <a:rect r="r" b="b" t="t" l="l"/>
              <a:pathLst>
                <a:path h="896874" w="896874">
                  <a:moveTo>
                    <a:pt x="0" y="448437"/>
                  </a:moveTo>
                  <a:cubicBezTo>
                    <a:pt x="0" y="200787"/>
                    <a:pt x="200787" y="0"/>
                    <a:pt x="448437" y="0"/>
                  </a:cubicBezTo>
                  <a:lnTo>
                    <a:pt x="448437" y="33909"/>
                  </a:lnTo>
                  <a:lnTo>
                    <a:pt x="448437" y="0"/>
                  </a:lnTo>
                  <a:cubicBezTo>
                    <a:pt x="696087" y="0"/>
                    <a:pt x="896874" y="200787"/>
                    <a:pt x="896874" y="448437"/>
                  </a:cubicBezTo>
                  <a:cubicBezTo>
                    <a:pt x="896874" y="696087"/>
                    <a:pt x="696087" y="896874"/>
                    <a:pt x="448437" y="896874"/>
                  </a:cubicBezTo>
                  <a:lnTo>
                    <a:pt x="448437" y="862965"/>
                  </a:lnTo>
                  <a:lnTo>
                    <a:pt x="448437" y="896874"/>
                  </a:lnTo>
                  <a:cubicBezTo>
                    <a:pt x="200787" y="896747"/>
                    <a:pt x="0" y="696087"/>
                    <a:pt x="0" y="448437"/>
                  </a:cubicBezTo>
                  <a:lnTo>
                    <a:pt x="33909" y="448437"/>
                  </a:lnTo>
                  <a:lnTo>
                    <a:pt x="55753" y="474345"/>
                  </a:lnTo>
                  <a:cubicBezTo>
                    <a:pt x="45720" y="482854"/>
                    <a:pt x="31623" y="484759"/>
                    <a:pt x="19685" y="479171"/>
                  </a:cubicBezTo>
                  <a:cubicBezTo>
                    <a:pt x="7747" y="473583"/>
                    <a:pt x="0" y="461518"/>
                    <a:pt x="0" y="448437"/>
                  </a:cubicBezTo>
                  <a:moveTo>
                    <a:pt x="67691" y="448437"/>
                  </a:moveTo>
                  <a:lnTo>
                    <a:pt x="33909" y="448437"/>
                  </a:lnTo>
                  <a:lnTo>
                    <a:pt x="12065" y="422529"/>
                  </a:lnTo>
                  <a:cubicBezTo>
                    <a:pt x="22098" y="414020"/>
                    <a:pt x="36195" y="412115"/>
                    <a:pt x="48133" y="417703"/>
                  </a:cubicBezTo>
                  <a:cubicBezTo>
                    <a:pt x="60071" y="423291"/>
                    <a:pt x="67691" y="435229"/>
                    <a:pt x="67691" y="448437"/>
                  </a:cubicBezTo>
                  <a:cubicBezTo>
                    <a:pt x="67691" y="658622"/>
                    <a:pt x="238125" y="829056"/>
                    <a:pt x="448310" y="829056"/>
                  </a:cubicBezTo>
                  <a:cubicBezTo>
                    <a:pt x="658495" y="829056"/>
                    <a:pt x="828929" y="658622"/>
                    <a:pt x="828929" y="448437"/>
                  </a:cubicBezTo>
                  <a:lnTo>
                    <a:pt x="862838" y="448437"/>
                  </a:lnTo>
                  <a:lnTo>
                    <a:pt x="828929" y="448437"/>
                  </a:lnTo>
                  <a:cubicBezTo>
                    <a:pt x="828929" y="238252"/>
                    <a:pt x="658495" y="67818"/>
                    <a:pt x="448310" y="67818"/>
                  </a:cubicBezTo>
                  <a:lnTo>
                    <a:pt x="448310" y="33909"/>
                  </a:lnTo>
                  <a:lnTo>
                    <a:pt x="448310" y="67691"/>
                  </a:lnTo>
                  <a:cubicBezTo>
                    <a:pt x="238125" y="67691"/>
                    <a:pt x="67691" y="238125"/>
                    <a:pt x="67691" y="4484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3449317" y="4473445"/>
            <a:ext cx="873757" cy="50797"/>
            <a:chOff x="0" y="0"/>
            <a:chExt cx="1165009" cy="6772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33909" y="0"/>
              <a:ext cx="1097280" cy="67691"/>
            </a:xfrm>
            <a:custGeom>
              <a:avLst/>
              <a:gdLst/>
              <a:ahLst/>
              <a:cxnLst/>
              <a:rect r="r" b="b" t="t" l="l"/>
              <a:pathLst>
                <a:path h="67691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509253" y="4473445"/>
            <a:ext cx="873757" cy="50797"/>
            <a:chOff x="0" y="0"/>
            <a:chExt cx="1165009" cy="6772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33909" y="0"/>
              <a:ext cx="1097280" cy="67691"/>
            </a:xfrm>
            <a:custGeom>
              <a:avLst/>
              <a:gdLst/>
              <a:ahLst/>
              <a:cxnLst/>
              <a:rect r="r" b="b" t="t" l="l"/>
              <a:pathLst>
                <a:path h="67691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569189" y="4473445"/>
            <a:ext cx="873757" cy="50797"/>
            <a:chOff x="0" y="0"/>
            <a:chExt cx="1165009" cy="6772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33909" y="0"/>
              <a:ext cx="1097280" cy="67691"/>
            </a:xfrm>
            <a:custGeom>
              <a:avLst/>
              <a:gdLst/>
              <a:ahLst/>
              <a:cxnLst/>
              <a:rect r="r" b="b" t="t" l="l"/>
              <a:pathLst>
                <a:path h="67691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57200" y="5340096"/>
            <a:ext cx="17373600" cy="640080"/>
            <a:chOff x="0" y="0"/>
            <a:chExt cx="2316480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3164800" cy="853440"/>
            </a:xfrm>
            <a:custGeom>
              <a:avLst/>
              <a:gdLst/>
              <a:ahLst/>
              <a:cxnLst/>
              <a:rect r="r" b="b" t="t" l="l"/>
              <a:pathLst>
                <a:path h="85344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3164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Flow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389639" y="6113783"/>
            <a:ext cx="1945643" cy="1451867"/>
            <a:chOff x="0" y="0"/>
            <a:chExt cx="2594191" cy="193582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941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918843"/>
                  </a:lnTo>
                  <a:cubicBezTo>
                    <a:pt x="2594102" y="1928241"/>
                    <a:pt x="2586482" y="1935734"/>
                    <a:pt x="25772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577211" y="1901952"/>
                  </a:lnTo>
                  <a:lnTo>
                    <a:pt x="2577211" y="1918843"/>
                  </a:lnTo>
                  <a:lnTo>
                    <a:pt x="2560320" y="191884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402336" y="6126480"/>
            <a:ext cx="1920240" cy="1426464"/>
            <a:chOff x="0" y="0"/>
            <a:chExt cx="2560320" cy="19019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2560320" cy="1930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2303526" y="6820662"/>
            <a:ext cx="275844" cy="38100"/>
            <a:chOff x="0" y="0"/>
            <a:chExt cx="367792" cy="50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25400" y="0"/>
              <a:ext cx="316992" cy="50800"/>
            </a:xfrm>
            <a:custGeom>
              <a:avLst/>
              <a:gdLst/>
              <a:ahLst/>
              <a:cxnLst/>
              <a:rect r="r" b="b" t="t" l="l"/>
              <a:pathLst>
                <a:path h="50800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46E7A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2547623" y="6113783"/>
            <a:ext cx="1945643" cy="1451867"/>
            <a:chOff x="0" y="0"/>
            <a:chExt cx="2594191" cy="193582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941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918843"/>
                  </a:lnTo>
                  <a:cubicBezTo>
                    <a:pt x="2594102" y="1928241"/>
                    <a:pt x="2586482" y="1935734"/>
                    <a:pt x="25772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577211" y="1901952"/>
                  </a:lnTo>
                  <a:lnTo>
                    <a:pt x="2577211" y="1918843"/>
                  </a:lnTo>
                  <a:lnTo>
                    <a:pt x="2560320" y="191884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2560320" y="6126480"/>
            <a:ext cx="1920240" cy="1426464"/>
            <a:chOff x="0" y="0"/>
            <a:chExt cx="2560320" cy="19019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2560320" cy="1930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Language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Selection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4461510" y="6820662"/>
            <a:ext cx="275844" cy="38100"/>
            <a:chOff x="0" y="0"/>
            <a:chExt cx="367792" cy="508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25400" y="0"/>
              <a:ext cx="316992" cy="50800"/>
            </a:xfrm>
            <a:custGeom>
              <a:avLst/>
              <a:gdLst/>
              <a:ahLst/>
              <a:cxnLst/>
              <a:rect r="r" b="b" t="t" l="l"/>
              <a:pathLst>
                <a:path h="50800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46E7A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4705607" y="6113783"/>
            <a:ext cx="1945643" cy="1451867"/>
            <a:chOff x="0" y="0"/>
            <a:chExt cx="2594191" cy="193582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277BD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5941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918843"/>
                  </a:lnTo>
                  <a:cubicBezTo>
                    <a:pt x="2594102" y="1928241"/>
                    <a:pt x="2586482" y="1935734"/>
                    <a:pt x="25772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577211" y="1901952"/>
                  </a:lnTo>
                  <a:lnTo>
                    <a:pt x="2577211" y="1918843"/>
                  </a:lnTo>
                  <a:lnTo>
                    <a:pt x="2560320" y="191884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77BD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4718304" y="6126480"/>
            <a:ext cx="1920240" cy="1426464"/>
            <a:chOff x="0" y="0"/>
            <a:chExt cx="2560320" cy="19019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2560320" cy="1930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Django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View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6619494" y="6820662"/>
            <a:ext cx="275844" cy="38100"/>
            <a:chOff x="0" y="0"/>
            <a:chExt cx="367792" cy="508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25400" y="0"/>
              <a:ext cx="316992" cy="50800"/>
            </a:xfrm>
            <a:custGeom>
              <a:avLst/>
              <a:gdLst/>
              <a:ahLst/>
              <a:cxnLst/>
              <a:rect r="r" b="b" t="t" l="l"/>
              <a:pathLst>
                <a:path h="50800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46E7A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863591" y="6113783"/>
            <a:ext cx="1945643" cy="1451867"/>
            <a:chOff x="0" y="0"/>
            <a:chExt cx="2594191" cy="193582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288D1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5941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918843"/>
                  </a:lnTo>
                  <a:cubicBezTo>
                    <a:pt x="2594102" y="1928241"/>
                    <a:pt x="2586482" y="1935734"/>
                    <a:pt x="25772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577211" y="1901952"/>
                  </a:lnTo>
                  <a:lnTo>
                    <a:pt x="2577211" y="1918843"/>
                  </a:lnTo>
                  <a:lnTo>
                    <a:pt x="2560320" y="191884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8D1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6876288" y="6126480"/>
            <a:ext cx="1920240" cy="1426464"/>
            <a:chOff x="0" y="0"/>
            <a:chExt cx="2560320" cy="19019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2560320" cy="1930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parse_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sentence()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8777478" y="6820662"/>
            <a:ext cx="275844" cy="38100"/>
            <a:chOff x="0" y="0"/>
            <a:chExt cx="367792" cy="508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25400" y="0"/>
              <a:ext cx="316992" cy="50800"/>
            </a:xfrm>
            <a:custGeom>
              <a:avLst/>
              <a:gdLst/>
              <a:ahLst/>
              <a:cxnLst/>
              <a:rect r="r" b="b" t="t" l="l"/>
              <a:pathLst>
                <a:path h="50800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46E7A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021575" y="6113783"/>
            <a:ext cx="1945643" cy="1451867"/>
            <a:chOff x="0" y="0"/>
            <a:chExt cx="2594191" cy="1935823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838F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5941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918843"/>
                  </a:lnTo>
                  <a:cubicBezTo>
                    <a:pt x="2594102" y="1928241"/>
                    <a:pt x="2586482" y="1935734"/>
                    <a:pt x="25772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577211" y="1901952"/>
                  </a:lnTo>
                  <a:lnTo>
                    <a:pt x="2577211" y="1918843"/>
                  </a:lnTo>
                  <a:lnTo>
                    <a:pt x="2560320" y="191884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38F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034272" y="6126480"/>
            <a:ext cx="1920240" cy="1426464"/>
            <a:chOff x="0" y="0"/>
            <a:chExt cx="2560320" cy="190195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2560320" cy="1930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Stanza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0935462" y="6820662"/>
            <a:ext cx="275844" cy="38100"/>
            <a:chOff x="0" y="0"/>
            <a:chExt cx="367792" cy="508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25400" y="0"/>
              <a:ext cx="316992" cy="50800"/>
            </a:xfrm>
            <a:custGeom>
              <a:avLst/>
              <a:gdLst/>
              <a:ahLst/>
              <a:cxnLst/>
              <a:rect r="r" b="b" t="t" l="l"/>
              <a:pathLst>
                <a:path h="50800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46E7A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1179559" y="6113783"/>
            <a:ext cx="1945643" cy="1451867"/>
            <a:chOff x="0" y="0"/>
            <a:chExt cx="2594191" cy="1935823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16891" y="16891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796B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5941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918843"/>
                  </a:lnTo>
                  <a:cubicBezTo>
                    <a:pt x="2594102" y="1928241"/>
                    <a:pt x="2586482" y="1935734"/>
                    <a:pt x="25772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577211" y="1901952"/>
                  </a:lnTo>
                  <a:lnTo>
                    <a:pt x="2577211" y="1918843"/>
                  </a:lnTo>
                  <a:lnTo>
                    <a:pt x="2560320" y="191884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1192256" y="6126480"/>
            <a:ext cx="1920240" cy="1426464"/>
            <a:chOff x="0" y="0"/>
            <a:chExt cx="2560320" cy="190195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2560320" cy="1930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Dependency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Extraction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3093446" y="6820662"/>
            <a:ext cx="275844" cy="38100"/>
            <a:chOff x="0" y="0"/>
            <a:chExt cx="367792" cy="508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25400" y="0"/>
              <a:ext cx="316992" cy="50800"/>
            </a:xfrm>
            <a:custGeom>
              <a:avLst/>
              <a:gdLst/>
              <a:ahLst/>
              <a:cxnLst/>
              <a:rect r="r" b="b" t="t" l="l"/>
              <a:pathLst>
                <a:path h="50800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46E7A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3337543" y="6113783"/>
            <a:ext cx="1945643" cy="1451867"/>
            <a:chOff x="0" y="0"/>
            <a:chExt cx="2594191" cy="1935823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5941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918843"/>
                  </a:lnTo>
                  <a:cubicBezTo>
                    <a:pt x="2594102" y="1928241"/>
                    <a:pt x="2586482" y="1935734"/>
                    <a:pt x="25772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577211" y="1901952"/>
                  </a:lnTo>
                  <a:lnTo>
                    <a:pt x="2577211" y="1918843"/>
                  </a:lnTo>
                  <a:lnTo>
                    <a:pt x="2560320" y="191884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3350240" y="6126480"/>
            <a:ext cx="1920240" cy="1426464"/>
            <a:chOff x="0" y="0"/>
            <a:chExt cx="2560320" cy="190195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2560320" cy="1930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Tree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Generation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5251430" y="6820662"/>
            <a:ext cx="275844" cy="38100"/>
            <a:chOff x="0" y="0"/>
            <a:chExt cx="367792" cy="508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25400" y="0"/>
              <a:ext cx="316992" cy="50800"/>
            </a:xfrm>
            <a:custGeom>
              <a:avLst/>
              <a:gdLst/>
              <a:ahLst/>
              <a:cxnLst/>
              <a:rect r="r" b="b" t="t" l="l"/>
              <a:pathLst>
                <a:path h="50800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46E7A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5495527" y="6113783"/>
            <a:ext cx="1945643" cy="1451867"/>
            <a:chOff x="0" y="0"/>
            <a:chExt cx="2594191" cy="1935823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16891" y="16891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B5E20"/>
            </a:solidFill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5941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918843"/>
                  </a:lnTo>
                  <a:cubicBezTo>
                    <a:pt x="2594102" y="1928241"/>
                    <a:pt x="2586482" y="1935734"/>
                    <a:pt x="25772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577211" y="1901952"/>
                  </a:lnTo>
                  <a:lnTo>
                    <a:pt x="2577211" y="1918843"/>
                  </a:lnTo>
                  <a:lnTo>
                    <a:pt x="2560320" y="191884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5E20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5508224" y="6126480"/>
            <a:ext cx="1920240" cy="1426464"/>
            <a:chOff x="0" y="0"/>
            <a:chExt cx="2560320" cy="190195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560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28575"/>
              <a:ext cx="2560320" cy="1930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Display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92096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Initial Implementation — spaCy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816103"/>
            <a:ext cx="8437883" cy="7889243"/>
            <a:chOff x="0" y="0"/>
            <a:chExt cx="11250511" cy="10518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502011"/>
                  </a:lnTo>
                  <a:cubicBezTo>
                    <a:pt x="11250422" y="10511409"/>
                    <a:pt x="11242802" y="10518901"/>
                    <a:pt x="1123353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11233531" y="10485120"/>
                  </a:lnTo>
                  <a:lnTo>
                    <a:pt x="11233531" y="10502011"/>
                  </a:lnTo>
                  <a:lnTo>
                    <a:pt x="11216640" y="105020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3" y="1816103"/>
            <a:ext cx="8437883" cy="1031243"/>
            <a:chOff x="0" y="0"/>
            <a:chExt cx="11250511" cy="1374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216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504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358011"/>
                  </a:lnTo>
                  <a:cubicBezTo>
                    <a:pt x="11250422" y="1367409"/>
                    <a:pt x="11242802" y="1374902"/>
                    <a:pt x="112335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233531" y="1341120"/>
                  </a:lnTo>
                  <a:lnTo>
                    <a:pt x="11233531" y="1358011"/>
                  </a:lnTo>
                  <a:lnTo>
                    <a:pt x="11216640" y="13580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1828800"/>
            <a:ext cx="8046720" cy="1005840"/>
            <a:chOff x="0" y="0"/>
            <a:chExt cx="1072896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7289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spaCy Initially?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8823" y="3132839"/>
            <a:ext cx="464315" cy="464315"/>
            <a:chOff x="0" y="0"/>
            <a:chExt cx="619087" cy="6190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16736" y="3054096"/>
            <a:ext cx="7223760" cy="877824"/>
            <a:chOff x="0" y="0"/>
            <a:chExt cx="9631680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31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45" r="0" b="-11034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63168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Well-documented and easy to set up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8823" y="4449575"/>
            <a:ext cx="464315" cy="464315"/>
            <a:chOff x="0" y="0"/>
            <a:chExt cx="619087" cy="6190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16736" y="4370832"/>
            <a:ext cx="7223760" cy="877824"/>
            <a:chOff x="0" y="0"/>
            <a:chExt cx="9631680" cy="1170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31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45" r="0" b="-11034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63168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 English dependency parsing out of the box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8823" y="5766311"/>
            <a:ext cx="464315" cy="464315"/>
            <a:chOff x="0" y="0"/>
            <a:chExt cx="619087" cy="6190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16736" y="5687568"/>
            <a:ext cx="7223760" cy="877824"/>
            <a:chOff x="0" y="0"/>
            <a:chExt cx="9631680" cy="11704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31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45" r="0" b="-11034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63168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Good for prototyping NLP pipelines quickly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8823" y="7083047"/>
            <a:ext cx="464315" cy="464315"/>
            <a:chOff x="0" y="0"/>
            <a:chExt cx="619087" cy="61908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16736" y="7004304"/>
            <a:ext cx="7223760" cy="877824"/>
            <a:chOff x="0" y="0"/>
            <a:chExt cx="9631680" cy="11704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631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45" r="0" b="-11034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63168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community and resources available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27383" y="7662672"/>
            <a:ext cx="8072123" cy="2042674"/>
            <a:chOff x="0" y="0"/>
            <a:chExt cx="10762831" cy="272356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937"/>
              <a:ext cx="10728960" cy="2689602"/>
            </a:xfrm>
            <a:custGeom>
              <a:avLst/>
              <a:gdLst/>
              <a:ahLst/>
              <a:cxnLst/>
              <a:rect r="r" b="b" t="t" l="l"/>
              <a:pathLst>
                <a:path h="268960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9602"/>
                  </a:lnTo>
                  <a:lnTo>
                    <a:pt x="0" y="2689602"/>
                  </a:lnTo>
                  <a:close/>
                </a:path>
              </a:pathLst>
            </a:custGeom>
            <a:solidFill>
              <a:srgbClr val="FFF3E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62742" cy="2723477"/>
            </a:xfrm>
            <a:custGeom>
              <a:avLst/>
              <a:gdLst/>
              <a:ahLst/>
              <a:cxnLst/>
              <a:rect r="r" b="b" t="t" l="l"/>
              <a:pathLst>
                <a:path h="2723477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41"/>
                    <a:pt x="10762742" y="16937"/>
                  </a:cubicBezTo>
                  <a:lnTo>
                    <a:pt x="10762742" y="2706539"/>
                  </a:lnTo>
                  <a:cubicBezTo>
                    <a:pt x="10762742" y="2715963"/>
                    <a:pt x="10755122" y="2723477"/>
                    <a:pt x="10745851" y="2723477"/>
                  </a:cubicBezTo>
                  <a:lnTo>
                    <a:pt x="16891" y="2723477"/>
                  </a:lnTo>
                  <a:cubicBezTo>
                    <a:pt x="7493" y="2723477"/>
                    <a:pt x="0" y="2715836"/>
                    <a:pt x="0" y="2706539"/>
                  </a:cubicBezTo>
                  <a:lnTo>
                    <a:pt x="0" y="16937"/>
                  </a:lnTo>
                  <a:cubicBezTo>
                    <a:pt x="0" y="7641"/>
                    <a:pt x="7620" y="0"/>
                    <a:pt x="16891" y="0"/>
                  </a:cubicBezTo>
                  <a:moveTo>
                    <a:pt x="16891" y="34002"/>
                  </a:moveTo>
                  <a:lnTo>
                    <a:pt x="16891" y="16937"/>
                  </a:lnTo>
                  <a:lnTo>
                    <a:pt x="33909" y="16937"/>
                  </a:lnTo>
                  <a:lnTo>
                    <a:pt x="33909" y="2706539"/>
                  </a:lnTo>
                  <a:lnTo>
                    <a:pt x="16891" y="2706539"/>
                  </a:lnTo>
                  <a:lnTo>
                    <a:pt x="16891" y="2689602"/>
                  </a:lnTo>
                  <a:lnTo>
                    <a:pt x="10745851" y="2689602"/>
                  </a:lnTo>
                  <a:lnTo>
                    <a:pt x="10745851" y="2706539"/>
                  </a:lnTo>
                  <a:lnTo>
                    <a:pt x="10728960" y="2706539"/>
                  </a:lnTo>
                  <a:lnTo>
                    <a:pt x="10728960" y="16937"/>
                  </a:lnTo>
                  <a:lnTo>
                    <a:pt x="10745851" y="16937"/>
                  </a:lnTo>
                  <a:lnTo>
                    <a:pt x="10745851" y="34002"/>
                  </a:lnTo>
                  <a:lnTo>
                    <a:pt x="16891" y="34002"/>
                  </a:ln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" y="7534656"/>
            <a:ext cx="7680960" cy="585216"/>
            <a:chOff x="0" y="0"/>
            <a:chExt cx="10241280" cy="7802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2412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65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Limitation Identified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8119872"/>
            <a:ext cx="7680960" cy="1243584"/>
            <a:chOff x="0" y="0"/>
            <a:chExt cx="10241280" cy="16581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241280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BF360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spaCy lacked robust Hindi / Indic language support, making it unsuitable for the multilingual objective of this project.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14183" y="1816103"/>
            <a:ext cx="8529323" cy="7889243"/>
            <a:chOff x="0" y="0"/>
            <a:chExt cx="11372431" cy="105189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33856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37234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10502011"/>
                  </a:lnTo>
                  <a:cubicBezTo>
                    <a:pt x="11372342" y="10511409"/>
                    <a:pt x="11364722" y="10518901"/>
                    <a:pt x="1135545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11355451" y="10485120"/>
                  </a:lnTo>
                  <a:lnTo>
                    <a:pt x="11355451" y="10502011"/>
                  </a:lnTo>
                  <a:lnTo>
                    <a:pt x="11338560" y="10502011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14183" y="1816103"/>
            <a:ext cx="8529323" cy="1031243"/>
            <a:chOff x="0" y="0"/>
            <a:chExt cx="11372431" cy="13749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338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37234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1358011"/>
                  </a:lnTo>
                  <a:cubicBezTo>
                    <a:pt x="11372342" y="1367409"/>
                    <a:pt x="11364722" y="1374902"/>
                    <a:pt x="1135545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355451" y="1341120"/>
                  </a:lnTo>
                  <a:lnTo>
                    <a:pt x="11355451" y="1358011"/>
                  </a:lnTo>
                  <a:lnTo>
                    <a:pt x="11338560" y="1358011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509760" y="1828800"/>
            <a:ext cx="8138160" cy="1005840"/>
            <a:chOff x="0" y="0"/>
            <a:chExt cx="10850880" cy="13411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850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8508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spaCy English Parsing — Prototype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473184" y="3017520"/>
            <a:ext cx="8229600" cy="365760"/>
            <a:chOff x="0" y="0"/>
            <a:chExt cx="10972800" cy="487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972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import spacy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73184" y="3675888"/>
            <a:ext cx="8229600" cy="365760"/>
            <a:chOff x="0" y="0"/>
            <a:chExt cx="10972800" cy="48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972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nlp = spacy.load("en_core_web_sm")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73184" y="4334256"/>
            <a:ext cx="8229600" cy="365760"/>
            <a:chOff x="0" y="0"/>
            <a:chExt cx="10972800" cy="4876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972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def parse_sentence(text):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73184" y="4663440"/>
            <a:ext cx="8229600" cy="365760"/>
            <a:chOff x="0" y="0"/>
            <a:chExt cx="10972800" cy="4876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0972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   doc = nlp(text)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73184" y="4992624"/>
            <a:ext cx="8229600" cy="365760"/>
            <a:chOff x="0" y="0"/>
            <a:chExt cx="10972800" cy="4876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972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   relations = []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73184" y="5321808"/>
            <a:ext cx="8229600" cy="365760"/>
            <a:chOff x="0" y="0"/>
            <a:chExt cx="10972800" cy="487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972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   for token in doc: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73184" y="5650992"/>
            <a:ext cx="8229600" cy="365760"/>
            <a:chOff x="0" y="0"/>
            <a:chExt cx="10972800" cy="4876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972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       relations.append({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473184" y="5980176"/>
            <a:ext cx="8229600" cy="365760"/>
            <a:chOff x="0" y="0"/>
            <a:chExt cx="1097280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972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"word": token.text,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473184" y="6309360"/>
            <a:ext cx="8229600" cy="365760"/>
            <a:chOff x="0" y="0"/>
            <a:chExt cx="10972800" cy="4876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972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"dep": token.dep_,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473184" y="6638544"/>
            <a:ext cx="8229600" cy="365760"/>
            <a:chOff x="0" y="0"/>
            <a:chExt cx="10972800" cy="487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0972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"head": token.head.text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473184" y="6967728"/>
            <a:ext cx="8229600" cy="365760"/>
            <a:chOff x="0" y="0"/>
            <a:chExt cx="1097280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972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       })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73184" y="7296912"/>
            <a:ext cx="8229600" cy="365760"/>
            <a:chOff x="0" y="0"/>
            <a:chExt cx="10972800" cy="4876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0972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   return relations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920960" cy="2158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Migration &amp; Improvement — spaCy → Stanza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0847" y="1822447"/>
            <a:ext cx="5133337" cy="835657"/>
            <a:chOff x="0" y="0"/>
            <a:chExt cx="6844449" cy="11142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6827519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44538" cy="1114298"/>
            </a:xfrm>
            <a:custGeom>
              <a:avLst/>
              <a:gdLst/>
              <a:ahLst/>
              <a:cxnLst/>
              <a:rect r="r" b="b" t="t" l="l"/>
              <a:pathLst>
                <a:path h="1114298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105789"/>
                  </a:lnTo>
                  <a:cubicBezTo>
                    <a:pt x="6844538" y="1110488"/>
                    <a:pt x="6840727" y="1114298"/>
                    <a:pt x="6836028" y="1114298"/>
                  </a:cubicBezTo>
                  <a:lnTo>
                    <a:pt x="8509" y="1114298"/>
                  </a:lnTo>
                  <a:cubicBezTo>
                    <a:pt x="3810" y="1114298"/>
                    <a:pt x="0" y="1110488"/>
                    <a:pt x="0" y="1105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05789"/>
                  </a:lnTo>
                  <a:lnTo>
                    <a:pt x="8509" y="1105789"/>
                  </a:lnTo>
                  <a:lnTo>
                    <a:pt x="8509" y="1097280"/>
                  </a:lnTo>
                  <a:lnTo>
                    <a:pt x="6836028" y="1097280"/>
                  </a:lnTo>
                  <a:lnTo>
                    <a:pt x="6836028" y="1105789"/>
                  </a:lnTo>
                  <a:lnTo>
                    <a:pt x="6827520" y="110578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57200" y="1828800"/>
            <a:ext cx="5120640" cy="822960"/>
            <a:chOff x="0" y="0"/>
            <a:chExt cx="682752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8275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571487" y="1822447"/>
            <a:ext cx="4401817" cy="835657"/>
            <a:chOff x="0" y="0"/>
            <a:chExt cx="5869089" cy="11142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69178" cy="1114298"/>
            </a:xfrm>
            <a:custGeom>
              <a:avLst/>
              <a:gdLst/>
              <a:ahLst/>
              <a:cxnLst/>
              <a:rect r="r" b="b" t="t" l="l"/>
              <a:pathLst>
                <a:path h="1114298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105789"/>
                  </a:lnTo>
                  <a:cubicBezTo>
                    <a:pt x="5869178" y="1110488"/>
                    <a:pt x="5865368" y="1114298"/>
                    <a:pt x="5860669" y="1114298"/>
                  </a:cubicBezTo>
                  <a:lnTo>
                    <a:pt x="8509" y="1114298"/>
                  </a:lnTo>
                  <a:cubicBezTo>
                    <a:pt x="3810" y="1114298"/>
                    <a:pt x="0" y="1110488"/>
                    <a:pt x="0" y="1105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05789"/>
                  </a:lnTo>
                  <a:lnTo>
                    <a:pt x="8509" y="1105789"/>
                  </a:lnTo>
                  <a:lnTo>
                    <a:pt x="8509" y="1097280"/>
                  </a:lnTo>
                  <a:lnTo>
                    <a:pt x="5860669" y="1097280"/>
                  </a:lnTo>
                  <a:lnTo>
                    <a:pt x="5860669" y="1105789"/>
                  </a:lnTo>
                  <a:lnTo>
                    <a:pt x="5852160" y="1105789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577840" y="1828800"/>
            <a:ext cx="4389120" cy="822960"/>
            <a:chOff x="0" y="0"/>
            <a:chExt cx="585216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8521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spaCy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60607" y="1822447"/>
            <a:ext cx="4401817" cy="835657"/>
            <a:chOff x="0" y="0"/>
            <a:chExt cx="5869089" cy="11142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509" y="8509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5E2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69178" cy="1114298"/>
            </a:xfrm>
            <a:custGeom>
              <a:avLst/>
              <a:gdLst/>
              <a:ahLst/>
              <a:cxnLst/>
              <a:rect r="r" b="b" t="t" l="l"/>
              <a:pathLst>
                <a:path h="1114298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105789"/>
                  </a:lnTo>
                  <a:cubicBezTo>
                    <a:pt x="5869178" y="1110488"/>
                    <a:pt x="5865368" y="1114298"/>
                    <a:pt x="5860669" y="1114298"/>
                  </a:cubicBezTo>
                  <a:lnTo>
                    <a:pt x="8509" y="1114298"/>
                  </a:lnTo>
                  <a:cubicBezTo>
                    <a:pt x="3810" y="1114298"/>
                    <a:pt x="0" y="1110488"/>
                    <a:pt x="0" y="1105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05789"/>
                  </a:lnTo>
                  <a:lnTo>
                    <a:pt x="8509" y="1105789"/>
                  </a:lnTo>
                  <a:lnTo>
                    <a:pt x="8509" y="1097280"/>
                  </a:lnTo>
                  <a:lnTo>
                    <a:pt x="5860669" y="1097280"/>
                  </a:lnTo>
                  <a:lnTo>
                    <a:pt x="5860669" y="1105789"/>
                  </a:lnTo>
                  <a:lnTo>
                    <a:pt x="5852160" y="1105789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66960" y="1828800"/>
            <a:ext cx="4389120" cy="822960"/>
            <a:chOff x="0" y="0"/>
            <a:chExt cx="585216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58521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Stanza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0847" y="2645407"/>
            <a:ext cx="5133337" cy="963673"/>
            <a:chOff x="0" y="0"/>
            <a:chExt cx="6844449" cy="12848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8509"/>
              <a:ext cx="6827519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44538" cy="1284986"/>
            </a:xfrm>
            <a:custGeom>
              <a:avLst/>
              <a:gdLst/>
              <a:ahLst/>
              <a:cxnLst/>
              <a:rect r="r" b="b" t="t" l="l"/>
              <a:pathLst>
                <a:path h="1284986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76477"/>
                  </a:lnTo>
                  <a:cubicBezTo>
                    <a:pt x="6844538" y="1281176"/>
                    <a:pt x="6840727" y="1284986"/>
                    <a:pt x="6836028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6836028" y="1267968"/>
                  </a:lnTo>
                  <a:lnTo>
                    <a:pt x="6836028" y="1276477"/>
                  </a:lnTo>
                  <a:lnTo>
                    <a:pt x="6827520" y="1276477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03504" y="2651760"/>
            <a:ext cx="4974336" cy="950976"/>
            <a:chOff x="0" y="0"/>
            <a:chExt cx="6632448" cy="1267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324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21" r="0" b="-5192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63244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English Parsing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571487" y="2645407"/>
            <a:ext cx="4401817" cy="963673"/>
            <a:chOff x="0" y="0"/>
            <a:chExt cx="5869089" cy="128489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724144" y="2651760"/>
            <a:ext cx="4242816" cy="950976"/>
            <a:chOff x="0" y="0"/>
            <a:chExt cx="5657088" cy="12679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Yes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960607" y="2645407"/>
            <a:ext cx="4401817" cy="963673"/>
            <a:chOff x="0" y="0"/>
            <a:chExt cx="5869089" cy="128489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113264" y="2651760"/>
            <a:ext cx="4242816" cy="950976"/>
            <a:chOff x="0" y="0"/>
            <a:chExt cx="5657088" cy="12679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5E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Yes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50847" y="3596383"/>
            <a:ext cx="5133337" cy="963673"/>
            <a:chOff x="0" y="0"/>
            <a:chExt cx="6844449" cy="128489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6827519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44538" cy="1284986"/>
            </a:xfrm>
            <a:custGeom>
              <a:avLst/>
              <a:gdLst/>
              <a:ahLst/>
              <a:cxnLst/>
              <a:rect r="r" b="b" t="t" l="l"/>
              <a:pathLst>
                <a:path h="1284986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76477"/>
                  </a:lnTo>
                  <a:cubicBezTo>
                    <a:pt x="6844538" y="1281176"/>
                    <a:pt x="6840727" y="1284986"/>
                    <a:pt x="6836028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6836028" y="1267968"/>
                  </a:lnTo>
                  <a:lnTo>
                    <a:pt x="6836028" y="1276477"/>
                  </a:lnTo>
                  <a:lnTo>
                    <a:pt x="6827520" y="1276477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03504" y="3602736"/>
            <a:ext cx="4974336" cy="950976"/>
            <a:chOff x="0" y="0"/>
            <a:chExt cx="6632448" cy="12679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324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21" r="0" b="-5192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63244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Hindi Parsing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571487" y="3596383"/>
            <a:ext cx="4401817" cy="963673"/>
            <a:chOff x="0" y="0"/>
            <a:chExt cx="5869089" cy="128489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EBE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724144" y="3602736"/>
            <a:ext cx="4242816" cy="950976"/>
            <a:chOff x="0" y="0"/>
            <a:chExt cx="5657088" cy="12679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628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No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960607" y="3596383"/>
            <a:ext cx="4401817" cy="963673"/>
            <a:chOff x="0" y="0"/>
            <a:chExt cx="5869089" cy="128489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113264" y="3602736"/>
            <a:ext cx="4242816" cy="950976"/>
            <a:chOff x="0" y="0"/>
            <a:chExt cx="5657088" cy="12679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5E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Yes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50847" y="4547359"/>
            <a:ext cx="5133337" cy="963673"/>
            <a:chOff x="0" y="0"/>
            <a:chExt cx="6844449" cy="128489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8509" y="8509"/>
              <a:ext cx="6827519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844538" cy="1284986"/>
            </a:xfrm>
            <a:custGeom>
              <a:avLst/>
              <a:gdLst/>
              <a:ahLst/>
              <a:cxnLst/>
              <a:rect r="r" b="b" t="t" l="l"/>
              <a:pathLst>
                <a:path h="1284986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76477"/>
                  </a:lnTo>
                  <a:cubicBezTo>
                    <a:pt x="6844538" y="1281176"/>
                    <a:pt x="6840727" y="1284986"/>
                    <a:pt x="6836028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6836028" y="1267968"/>
                  </a:lnTo>
                  <a:lnTo>
                    <a:pt x="6836028" y="1276477"/>
                  </a:lnTo>
                  <a:lnTo>
                    <a:pt x="6827520" y="1276477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03504" y="4553712"/>
            <a:ext cx="4974336" cy="950976"/>
            <a:chOff x="0" y="0"/>
            <a:chExt cx="6632448" cy="12679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6324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21" r="0" b="-5192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63244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Multilingual Pipelines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571487" y="4547359"/>
            <a:ext cx="4401817" cy="963673"/>
            <a:chOff x="0" y="0"/>
            <a:chExt cx="5869089" cy="128489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724144" y="4553712"/>
            <a:ext cx="4242816" cy="950976"/>
            <a:chOff x="0" y="0"/>
            <a:chExt cx="5657088" cy="12679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960607" y="4547359"/>
            <a:ext cx="4401817" cy="963673"/>
            <a:chOff x="0" y="0"/>
            <a:chExt cx="5869089" cy="128489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113264" y="4553712"/>
            <a:ext cx="4242816" cy="950976"/>
            <a:chOff x="0" y="0"/>
            <a:chExt cx="5657088" cy="12679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strong multilingual support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50847" y="5498335"/>
            <a:ext cx="5133337" cy="963673"/>
            <a:chOff x="0" y="0"/>
            <a:chExt cx="6844449" cy="128489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8509" y="8509"/>
              <a:ext cx="6827519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844538" cy="1284986"/>
            </a:xfrm>
            <a:custGeom>
              <a:avLst/>
              <a:gdLst/>
              <a:ahLst/>
              <a:cxnLst/>
              <a:rect r="r" b="b" t="t" l="l"/>
              <a:pathLst>
                <a:path h="1284986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76477"/>
                  </a:lnTo>
                  <a:cubicBezTo>
                    <a:pt x="6844538" y="1281176"/>
                    <a:pt x="6840727" y="1284986"/>
                    <a:pt x="6836028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6836028" y="1267968"/>
                  </a:lnTo>
                  <a:lnTo>
                    <a:pt x="6836028" y="1276477"/>
                  </a:lnTo>
                  <a:lnTo>
                    <a:pt x="6827520" y="1276477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03504" y="5504688"/>
            <a:ext cx="4974336" cy="950976"/>
            <a:chOff x="0" y="0"/>
            <a:chExt cx="6632448" cy="126796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6324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21" r="0" b="-5192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663244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Pretrained Models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571487" y="5498335"/>
            <a:ext cx="4401817" cy="963673"/>
            <a:chOff x="0" y="0"/>
            <a:chExt cx="5869089" cy="128489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5724144" y="5504688"/>
            <a:ext cx="4242816" cy="950976"/>
            <a:chOff x="0" y="0"/>
            <a:chExt cx="5657088" cy="126796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General models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960607" y="5498335"/>
            <a:ext cx="4401817" cy="963673"/>
            <a:chOff x="0" y="0"/>
            <a:chExt cx="5869089" cy="128489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0113264" y="5504688"/>
            <a:ext cx="4242816" cy="950976"/>
            <a:chOff x="0" y="0"/>
            <a:chExt cx="5657088" cy="126796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Universal Dependencies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50847" y="6449311"/>
            <a:ext cx="5133337" cy="963673"/>
            <a:chOff x="0" y="0"/>
            <a:chExt cx="6844449" cy="128489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8509" y="8509"/>
              <a:ext cx="6827519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844538" cy="1284986"/>
            </a:xfrm>
            <a:custGeom>
              <a:avLst/>
              <a:gdLst/>
              <a:ahLst/>
              <a:cxnLst/>
              <a:rect r="r" b="b" t="t" l="l"/>
              <a:pathLst>
                <a:path h="1284986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76477"/>
                  </a:lnTo>
                  <a:cubicBezTo>
                    <a:pt x="6844538" y="1281176"/>
                    <a:pt x="6840727" y="1284986"/>
                    <a:pt x="6836028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6836028" y="1267968"/>
                  </a:lnTo>
                  <a:lnTo>
                    <a:pt x="6836028" y="1276477"/>
                  </a:lnTo>
                  <a:lnTo>
                    <a:pt x="6827520" y="1276477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03504" y="6455664"/>
            <a:ext cx="4974336" cy="950976"/>
            <a:chOff x="0" y="0"/>
            <a:chExt cx="6632448" cy="126796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6324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21" r="0" b="-5192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663244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Tokenization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571487" y="6449311"/>
            <a:ext cx="4401817" cy="963673"/>
            <a:chOff x="0" y="0"/>
            <a:chExt cx="5869089" cy="128489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5724144" y="6455664"/>
            <a:ext cx="4242816" cy="950976"/>
            <a:chOff x="0" y="0"/>
            <a:chExt cx="5657088" cy="126796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Rule-based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960607" y="6449311"/>
            <a:ext cx="4401817" cy="963673"/>
            <a:chOff x="0" y="0"/>
            <a:chExt cx="5869089" cy="128489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0113264" y="6455664"/>
            <a:ext cx="4242816" cy="950976"/>
            <a:chOff x="0" y="0"/>
            <a:chExt cx="5657088" cy="126796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Neural tokenizer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450847" y="7400287"/>
            <a:ext cx="5133337" cy="963673"/>
            <a:chOff x="0" y="0"/>
            <a:chExt cx="6844449" cy="128489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8509" y="8509"/>
              <a:ext cx="6827519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844538" cy="1284986"/>
            </a:xfrm>
            <a:custGeom>
              <a:avLst/>
              <a:gdLst/>
              <a:ahLst/>
              <a:cxnLst/>
              <a:rect r="r" b="b" t="t" l="l"/>
              <a:pathLst>
                <a:path h="1284986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76477"/>
                  </a:lnTo>
                  <a:cubicBezTo>
                    <a:pt x="6844538" y="1281176"/>
                    <a:pt x="6840727" y="1284986"/>
                    <a:pt x="6836028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6836028" y="1267968"/>
                  </a:lnTo>
                  <a:lnTo>
                    <a:pt x="6836028" y="1276477"/>
                  </a:lnTo>
                  <a:lnTo>
                    <a:pt x="6827520" y="1276477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03504" y="7406640"/>
            <a:ext cx="4974336" cy="950976"/>
            <a:chOff x="0" y="0"/>
            <a:chExt cx="6632448" cy="126796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6324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21" r="0" b="-51921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663244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 Tagging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5571487" y="7400287"/>
            <a:ext cx="4401817" cy="963673"/>
            <a:chOff x="0" y="0"/>
            <a:chExt cx="5869089" cy="128489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724144" y="7406640"/>
            <a:ext cx="4242816" cy="950976"/>
            <a:chOff x="0" y="0"/>
            <a:chExt cx="5657088" cy="126796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Statistical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960607" y="7400287"/>
            <a:ext cx="4401817" cy="963673"/>
            <a:chOff x="0" y="0"/>
            <a:chExt cx="5869089" cy="1284897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0113264" y="7406640"/>
            <a:ext cx="4242816" cy="950976"/>
            <a:chOff x="0" y="0"/>
            <a:chExt cx="5657088" cy="126796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Neural POS tagging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450847" y="8351263"/>
            <a:ext cx="5133337" cy="963673"/>
            <a:chOff x="0" y="0"/>
            <a:chExt cx="6844449" cy="1284897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8509" y="8509"/>
              <a:ext cx="6827519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844538" cy="1284986"/>
            </a:xfrm>
            <a:custGeom>
              <a:avLst/>
              <a:gdLst/>
              <a:ahLst/>
              <a:cxnLst/>
              <a:rect r="r" b="b" t="t" l="l"/>
              <a:pathLst>
                <a:path h="1284986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76477"/>
                  </a:lnTo>
                  <a:cubicBezTo>
                    <a:pt x="6844538" y="1281176"/>
                    <a:pt x="6840727" y="1284986"/>
                    <a:pt x="6836028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6836028" y="1267968"/>
                  </a:lnTo>
                  <a:lnTo>
                    <a:pt x="6836028" y="1276477"/>
                  </a:lnTo>
                  <a:lnTo>
                    <a:pt x="6827520" y="1276477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603504" y="8357616"/>
            <a:ext cx="4974336" cy="950976"/>
            <a:chOff x="0" y="0"/>
            <a:chExt cx="6632448" cy="126796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6324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21" r="0" b="-5192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663244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Dependency Labels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5571487" y="8351263"/>
            <a:ext cx="4401817" cy="963673"/>
            <a:chOff x="0" y="0"/>
            <a:chExt cx="5869089" cy="1284897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5724144" y="8357616"/>
            <a:ext cx="4242816" cy="950976"/>
            <a:chOff x="0" y="0"/>
            <a:chExt cx="5657088" cy="126796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Basic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960607" y="8351263"/>
            <a:ext cx="4401817" cy="963673"/>
            <a:chOff x="0" y="0"/>
            <a:chExt cx="5869089" cy="1284897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0113264" y="8357616"/>
            <a:ext cx="4242816" cy="950976"/>
            <a:chOff x="0" y="0"/>
            <a:chExt cx="5657088" cy="126796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Universal UD labels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450847" y="9302239"/>
            <a:ext cx="5133337" cy="963673"/>
            <a:chOff x="0" y="0"/>
            <a:chExt cx="6844449" cy="1284897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8509" y="8509"/>
              <a:ext cx="6827519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6844538" cy="1284986"/>
            </a:xfrm>
            <a:custGeom>
              <a:avLst/>
              <a:gdLst/>
              <a:ahLst/>
              <a:cxnLst/>
              <a:rect r="r" b="b" t="t" l="l"/>
              <a:pathLst>
                <a:path h="1284986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76477"/>
                  </a:lnTo>
                  <a:cubicBezTo>
                    <a:pt x="6844538" y="1281176"/>
                    <a:pt x="6840727" y="1284986"/>
                    <a:pt x="6836028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6836028" y="1267968"/>
                  </a:lnTo>
                  <a:lnTo>
                    <a:pt x="6836028" y="1276477"/>
                  </a:lnTo>
                  <a:lnTo>
                    <a:pt x="6827520" y="1276477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603504" y="9308592"/>
            <a:ext cx="4974336" cy="950976"/>
            <a:chOff x="0" y="0"/>
            <a:chExt cx="6632448" cy="126796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6324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21" r="0" b="-51921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47625"/>
              <a:ext cx="663244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Hindi Pipeline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5571487" y="9302239"/>
            <a:ext cx="4401817" cy="963673"/>
            <a:chOff x="0" y="0"/>
            <a:chExt cx="5869089" cy="128489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5724144" y="9308592"/>
            <a:ext cx="4242816" cy="950976"/>
            <a:chOff x="0" y="0"/>
            <a:chExt cx="5657088" cy="126796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 available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960607" y="9302239"/>
            <a:ext cx="4401817" cy="963673"/>
            <a:chOff x="0" y="0"/>
            <a:chExt cx="5869089" cy="1284897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8509" y="8509"/>
              <a:ext cx="58521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58691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5869178">
                  <a:moveTo>
                    <a:pt x="8509" y="0"/>
                  </a:moveTo>
                  <a:lnTo>
                    <a:pt x="5860669" y="0"/>
                  </a:lnTo>
                  <a:cubicBezTo>
                    <a:pt x="5865368" y="0"/>
                    <a:pt x="5869178" y="3810"/>
                    <a:pt x="5869178" y="8509"/>
                  </a:cubicBezTo>
                  <a:lnTo>
                    <a:pt x="5869178" y="1276477"/>
                  </a:lnTo>
                  <a:cubicBezTo>
                    <a:pt x="5869178" y="1281176"/>
                    <a:pt x="5865368" y="1284986"/>
                    <a:pt x="58606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5860669" y="1267968"/>
                  </a:lnTo>
                  <a:lnTo>
                    <a:pt x="5860669" y="1276477"/>
                  </a:lnTo>
                  <a:lnTo>
                    <a:pt x="5852160" y="1276477"/>
                  </a:lnTo>
                  <a:lnTo>
                    <a:pt x="5852160" y="8509"/>
                  </a:lnTo>
                  <a:lnTo>
                    <a:pt x="5860669" y="8509"/>
                  </a:lnTo>
                  <a:lnTo>
                    <a:pt x="5860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0113264" y="9308592"/>
            <a:ext cx="4242816" cy="950976"/>
            <a:chOff x="0" y="0"/>
            <a:chExt cx="5657088" cy="126796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56570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57088">
                  <a:moveTo>
                    <a:pt x="0" y="0"/>
                  </a:moveTo>
                  <a:lnTo>
                    <a:pt x="5657088" y="0"/>
                  </a:lnTo>
                  <a:lnTo>
                    <a:pt x="56570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47625"/>
              <a:ext cx="565708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stanza.Pipeline('hi')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4343383" y="1816103"/>
            <a:ext cx="3500123" cy="8474459"/>
            <a:chOff x="0" y="0"/>
            <a:chExt cx="4666831" cy="11299279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4632960" cy="11265408"/>
            </a:xfrm>
            <a:custGeom>
              <a:avLst/>
              <a:gdLst/>
              <a:ahLst/>
              <a:cxnLst/>
              <a:rect r="r" b="b" t="t" l="l"/>
              <a:pathLst>
                <a:path h="1126540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1265408"/>
                  </a:lnTo>
                  <a:lnTo>
                    <a:pt x="0" y="1126540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4666742" cy="11299190"/>
            </a:xfrm>
            <a:custGeom>
              <a:avLst/>
              <a:gdLst/>
              <a:ahLst/>
              <a:cxnLst/>
              <a:rect r="r" b="b" t="t" l="l"/>
              <a:pathLst>
                <a:path h="11299190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1282299"/>
                  </a:lnTo>
                  <a:cubicBezTo>
                    <a:pt x="4666742" y="11291697"/>
                    <a:pt x="4659122" y="11299190"/>
                    <a:pt x="4649851" y="11299190"/>
                  </a:cubicBezTo>
                  <a:lnTo>
                    <a:pt x="16891" y="11299190"/>
                  </a:lnTo>
                  <a:cubicBezTo>
                    <a:pt x="7493" y="11299190"/>
                    <a:pt x="0" y="11291570"/>
                    <a:pt x="0" y="11282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282299"/>
                  </a:lnTo>
                  <a:lnTo>
                    <a:pt x="16891" y="11282299"/>
                  </a:lnTo>
                  <a:lnTo>
                    <a:pt x="16891" y="11265408"/>
                  </a:lnTo>
                  <a:lnTo>
                    <a:pt x="4649851" y="11265408"/>
                  </a:lnTo>
                  <a:lnTo>
                    <a:pt x="4649851" y="11282299"/>
                  </a:lnTo>
                  <a:lnTo>
                    <a:pt x="4632960" y="11282299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4356080" y="2011680"/>
            <a:ext cx="3474720" cy="1280160"/>
            <a:chOff x="0" y="0"/>
            <a:chExt cx="4632960" cy="170688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6329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463296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Stanza?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4526263" y="3553463"/>
            <a:ext cx="427739" cy="427739"/>
            <a:chOff x="0" y="0"/>
            <a:chExt cx="570319" cy="570319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5032736" y="3529584"/>
            <a:ext cx="2651760" cy="640080"/>
            <a:chOff x="0" y="0"/>
            <a:chExt cx="3535680" cy="85344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3535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Hindi support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4526263" y="4504439"/>
            <a:ext cx="427739" cy="427739"/>
            <a:chOff x="0" y="0"/>
            <a:chExt cx="570319" cy="570319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5032736" y="4480560"/>
            <a:ext cx="2651760" cy="640080"/>
            <a:chOff x="0" y="0"/>
            <a:chExt cx="3535680" cy="85344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3535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40+ languages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4526263" y="5455415"/>
            <a:ext cx="427739" cy="427739"/>
            <a:chOff x="0" y="0"/>
            <a:chExt cx="570319" cy="570319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5032736" y="5431536"/>
            <a:ext cx="2651760" cy="640080"/>
            <a:chOff x="0" y="0"/>
            <a:chExt cx="3535680" cy="85344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3535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UD labels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4526263" y="6406391"/>
            <a:ext cx="427739" cy="427739"/>
            <a:chOff x="0" y="0"/>
            <a:chExt cx="570319" cy="570319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5032736" y="6382512"/>
            <a:ext cx="2651760" cy="640080"/>
            <a:chOff x="0" y="0"/>
            <a:chExt cx="3535680" cy="85344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3535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Pretrained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4526263" y="7357367"/>
            <a:ext cx="427739" cy="427739"/>
            <a:chOff x="0" y="0"/>
            <a:chExt cx="570319" cy="570319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5032736" y="7333488"/>
            <a:ext cx="2651760" cy="640080"/>
            <a:chOff x="0" y="0"/>
            <a:chExt cx="3535680" cy="853440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3535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Robust NLP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920960" cy="2158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Development — Stanza NLP Pipelines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816103"/>
            <a:ext cx="8437883" cy="7889243"/>
            <a:chOff x="0" y="0"/>
            <a:chExt cx="11250511" cy="10518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502011"/>
                  </a:lnTo>
                  <a:cubicBezTo>
                    <a:pt x="11250422" y="10511409"/>
                    <a:pt x="11242802" y="10518901"/>
                    <a:pt x="1123353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11233531" y="10485120"/>
                  </a:lnTo>
                  <a:lnTo>
                    <a:pt x="11233531" y="10502011"/>
                  </a:lnTo>
                  <a:lnTo>
                    <a:pt x="11216640" y="105020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3" y="1816103"/>
            <a:ext cx="8437883" cy="1214123"/>
            <a:chOff x="0" y="0"/>
            <a:chExt cx="11250511" cy="16188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216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5042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01851"/>
                  </a:lnTo>
                  <a:cubicBezTo>
                    <a:pt x="11250422" y="1611249"/>
                    <a:pt x="11242802" y="1618742"/>
                    <a:pt x="1123353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1233531" y="1584960"/>
                  </a:lnTo>
                  <a:lnTo>
                    <a:pt x="11233531" y="1601851"/>
                  </a:lnTo>
                  <a:lnTo>
                    <a:pt x="11216640" y="160185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828800"/>
            <a:ext cx="7863840" cy="768096"/>
            <a:chOff x="0" y="0"/>
            <a:chExt cx="1048512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489" r="0" b="-14948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48512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English Pipeline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2596896"/>
            <a:ext cx="7863840" cy="402336"/>
            <a:chOff x="0" y="0"/>
            <a:chExt cx="10485120" cy="5364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0CAF9"/>
                  </a:solidFill>
                  <a:latin typeface="Consolas"/>
                  <a:ea typeface="Consolas"/>
                  <a:cs typeface="Consolas"/>
                  <a:sym typeface="Consolas"/>
                </a:rPr>
                <a:t>stanza.Pipeline(lang='en')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9487" y="3322063"/>
            <a:ext cx="7327897" cy="707641"/>
            <a:chOff x="0" y="0"/>
            <a:chExt cx="9770529" cy="9435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509" y="8509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70618" cy="943610"/>
            </a:xfrm>
            <a:custGeom>
              <a:avLst/>
              <a:gdLst/>
              <a:ahLst/>
              <a:cxnLst/>
              <a:rect r="r" b="b" t="t" l="l"/>
              <a:pathLst>
                <a:path h="943610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935101"/>
                  </a:lnTo>
                  <a:cubicBezTo>
                    <a:pt x="9770618" y="939800"/>
                    <a:pt x="9766808" y="943610"/>
                    <a:pt x="97621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9762109" y="926592"/>
                  </a:lnTo>
                  <a:lnTo>
                    <a:pt x="9762109" y="935101"/>
                  </a:lnTo>
                  <a:lnTo>
                    <a:pt x="9753600" y="935101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39447" y="3480311"/>
            <a:ext cx="427739" cy="427739"/>
            <a:chOff x="0" y="0"/>
            <a:chExt cx="570319" cy="5703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144" y="3493008"/>
            <a:ext cx="402336" cy="402336"/>
            <a:chOff x="0" y="0"/>
            <a:chExt cx="536448" cy="5364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00784" y="3328416"/>
            <a:ext cx="6400800" cy="694944"/>
            <a:chOff x="0" y="0"/>
            <a:chExt cx="853440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Tokenization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99487" y="4181599"/>
            <a:ext cx="7327897" cy="707641"/>
            <a:chOff x="0" y="0"/>
            <a:chExt cx="9770529" cy="94352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70618" cy="943610"/>
            </a:xfrm>
            <a:custGeom>
              <a:avLst/>
              <a:gdLst/>
              <a:ahLst/>
              <a:cxnLst/>
              <a:rect r="r" b="b" t="t" l="l"/>
              <a:pathLst>
                <a:path h="943610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935101"/>
                  </a:lnTo>
                  <a:cubicBezTo>
                    <a:pt x="9770618" y="939800"/>
                    <a:pt x="9766808" y="943610"/>
                    <a:pt x="97621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9762109" y="926592"/>
                  </a:lnTo>
                  <a:lnTo>
                    <a:pt x="9762109" y="935101"/>
                  </a:lnTo>
                  <a:lnTo>
                    <a:pt x="9753600" y="935101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39447" y="4339847"/>
            <a:ext cx="427739" cy="427739"/>
            <a:chOff x="0" y="0"/>
            <a:chExt cx="570319" cy="5703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52144" y="4352544"/>
            <a:ext cx="402336" cy="402336"/>
            <a:chOff x="0" y="0"/>
            <a:chExt cx="536448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00784" y="4187952"/>
            <a:ext cx="6400800" cy="694944"/>
            <a:chOff x="0" y="0"/>
            <a:chExt cx="853440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Tagging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9487" y="5041135"/>
            <a:ext cx="7327897" cy="707641"/>
            <a:chOff x="0" y="0"/>
            <a:chExt cx="9770529" cy="94352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770618" cy="943610"/>
            </a:xfrm>
            <a:custGeom>
              <a:avLst/>
              <a:gdLst/>
              <a:ahLst/>
              <a:cxnLst/>
              <a:rect r="r" b="b" t="t" l="l"/>
              <a:pathLst>
                <a:path h="943610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935101"/>
                  </a:lnTo>
                  <a:cubicBezTo>
                    <a:pt x="9770618" y="939800"/>
                    <a:pt x="9766808" y="943610"/>
                    <a:pt x="97621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9762109" y="926592"/>
                  </a:lnTo>
                  <a:lnTo>
                    <a:pt x="9762109" y="935101"/>
                  </a:lnTo>
                  <a:lnTo>
                    <a:pt x="9753600" y="935101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39447" y="5199383"/>
            <a:ext cx="427739" cy="427739"/>
            <a:chOff x="0" y="0"/>
            <a:chExt cx="570319" cy="57031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52144" y="5212080"/>
            <a:ext cx="402336" cy="402336"/>
            <a:chOff x="0" y="0"/>
            <a:chExt cx="536448" cy="5364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00784" y="5047488"/>
            <a:ext cx="6400800" cy="694944"/>
            <a:chOff x="0" y="0"/>
            <a:chExt cx="853440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Lemmatization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99487" y="5900671"/>
            <a:ext cx="7327897" cy="707641"/>
            <a:chOff x="0" y="0"/>
            <a:chExt cx="9770529" cy="94352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8509" y="8509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70618" cy="943610"/>
            </a:xfrm>
            <a:custGeom>
              <a:avLst/>
              <a:gdLst/>
              <a:ahLst/>
              <a:cxnLst/>
              <a:rect r="r" b="b" t="t" l="l"/>
              <a:pathLst>
                <a:path h="943610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935101"/>
                  </a:lnTo>
                  <a:cubicBezTo>
                    <a:pt x="9770618" y="939800"/>
                    <a:pt x="9766808" y="943610"/>
                    <a:pt x="97621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9762109" y="926592"/>
                  </a:lnTo>
                  <a:lnTo>
                    <a:pt x="9762109" y="935101"/>
                  </a:lnTo>
                  <a:lnTo>
                    <a:pt x="9753600" y="935101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39447" y="6058919"/>
            <a:ext cx="427739" cy="427739"/>
            <a:chOff x="0" y="0"/>
            <a:chExt cx="570319" cy="57031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144" y="6071616"/>
            <a:ext cx="402336" cy="402336"/>
            <a:chOff x="0" y="0"/>
            <a:chExt cx="536448" cy="5364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00784" y="5907024"/>
            <a:ext cx="6400800" cy="694944"/>
            <a:chOff x="0" y="0"/>
            <a:chExt cx="8534400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Dependency Parsing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99487" y="6760207"/>
            <a:ext cx="7327897" cy="707641"/>
            <a:chOff x="0" y="0"/>
            <a:chExt cx="9770529" cy="94352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509" y="8509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70618" cy="943610"/>
            </a:xfrm>
            <a:custGeom>
              <a:avLst/>
              <a:gdLst/>
              <a:ahLst/>
              <a:cxnLst/>
              <a:rect r="r" b="b" t="t" l="l"/>
              <a:pathLst>
                <a:path h="943610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935101"/>
                  </a:lnTo>
                  <a:cubicBezTo>
                    <a:pt x="9770618" y="939800"/>
                    <a:pt x="9766808" y="943610"/>
                    <a:pt x="97621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9762109" y="926592"/>
                  </a:lnTo>
                  <a:lnTo>
                    <a:pt x="9762109" y="935101"/>
                  </a:lnTo>
                  <a:lnTo>
                    <a:pt x="9753600" y="935101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39447" y="6918455"/>
            <a:ext cx="427739" cy="427739"/>
            <a:chOff x="0" y="0"/>
            <a:chExt cx="570319" cy="57031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52144" y="6931152"/>
            <a:ext cx="402336" cy="402336"/>
            <a:chOff x="0" y="0"/>
            <a:chExt cx="536448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700784" y="6766560"/>
            <a:ext cx="6400800" cy="694944"/>
            <a:chOff x="0" y="0"/>
            <a:chExt cx="8534400" cy="9265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Dependency Extraction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14183" y="1816103"/>
            <a:ext cx="8437883" cy="7889243"/>
            <a:chOff x="0" y="0"/>
            <a:chExt cx="11250511" cy="105189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21664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25042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502011"/>
                  </a:lnTo>
                  <a:cubicBezTo>
                    <a:pt x="11250422" y="10511409"/>
                    <a:pt x="11242802" y="10518901"/>
                    <a:pt x="1123353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11233531" y="10485120"/>
                  </a:lnTo>
                  <a:lnTo>
                    <a:pt x="11233531" y="10502011"/>
                  </a:lnTo>
                  <a:lnTo>
                    <a:pt x="11216640" y="105020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314183" y="1816103"/>
            <a:ext cx="8437883" cy="1214123"/>
            <a:chOff x="0" y="0"/>
            <a:chExt cx="11250511" cy="161883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1216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25042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01851"/>
                  </a:lnTo>
                  <a:cubicBezTo>
                    <a:pt x="11250422" y="1611249"/>
                    <a:pt x="11242802" y="1618742"/>
                    <a:pt x="1123353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1233531" y="1584960"/>
                  </a:lnTo>
                  <a:lnTo>
                    <a:pt x="11233531" y="1601851"/>
                  </a:lnTo>
                  <a:lnTo>
                    <a:pt x="11216640" y="160185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601200" y="1828800"/>
            <a:ext cx="7863840" cy="768096"/>
            <a:chOff x="0" y="0"/>
            <a:chExt cx="10485120" cy="102412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489" r="0" b="-14948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1048512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Hindi Pipeline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601200" y="2596896"/>
            <a:ext cx="7863840" cy="402336"/>
            <a:chOff x="0" y="0"/>
            <a:chExt cx="10485120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0CAF9"/>
                  </a:solidFill>
                  <a:latin typeface="Consolas"/>
                  <a:ea typeface="Consolas"/>
                  <a:cs typeface="Consolas"/>
                  <a:sym typeface="Consolas"/>
                </a:rPr>
                <a:t>stanza.Pipeline(lang='hi')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869167" y="3322063"/>
            <a:ext cx="7327897" cy="707641"/>
            <a:chOff x="0" y="0"/>
            <a:chExt cx="9770529" cy="94352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8509" y="8509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CE4EC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770618" cy="943610"/>
            </a:xfrm>
            <a:custGeom>
              <a:avLst/>
              <a:gdLst/>
              <a:ahLst/>
              <a:cxnLst/>
              <a:rect r="r" b="b" t="t" l="l"/>
              <a:pathLst>
                <a:path h="943610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935101"/>
                  </a:lnTo>
                  <a:cubicBezTo>
                    <a:pt x="9770618" y="939800"/>
                    <a:pt x="9766808" y="943610"/>
                    <a:pt x="97621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9762109" y="926592"/>
                  </a:lnTo>
                  <a:lnTo>
                    <a:pt x="9762109" y="935101"/>
                  </a:lnTo>
                  <a:lnTo>
                    <a:pt x="9753600" y="935101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0009127" y="3480311"/>
            <a:ext cx="427739" cy="427739"/>
            <a:chOff x="0" y="0"/>
            <a:chExt cx="570319" cy="57031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021824" y="3493008"/>
            <a:ext cx="402336" cy="402336"/>
            <a:chOff x="0" y="0"/>
            <a:chExt cx="536448" cy="53644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570464" y="3328416"/>
            <a:ext cx="6400800" cy="694944"/>
            <a:chOff x="0" y="0"/>
            <a:chExt cx="8534400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Tokenization (Hindi)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869167" y="4181599"/>
            <a:ext cx="7327897" cy="707641"/>
            <a:chOff x="0" y="0"/>
            <a:chExt cx="9770529" cy="94352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770618" cy="943610"/>
            </a:xfrm>
            <a:custGeom>
              <a:avLst/>
              <a:gdLst/>
              <a:ahLst/>
              <a:cxnLst/>
              <a:rect r="r" b="b" t="t" l="l"/>
              <a:pathLst>
                <a:path h="943610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935101"/>
                  </a:lnTo>
                  <a:cubicBezTo>
                    <a:pt x="9770618" y="939800"/>
                    <a:pt x="9766808" y="943610"/>
                    <a:pt x="97621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9762109" y="926592"/>
                  </a:lnTo>
                  <a:lnTo>
                    <a:pt x="9762109" y="935101"/>
                  </a:lnTo>
                  <a:lnTo>
                    <a:pt x="9753600" y="935101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009127" y="4339847"/>
            <a:ext cx="427739" cy="427739"/>
            <a:chOff x="0" y="0"/>
            <a:chExt cx="570319" cy="57031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021824" y="4352544"/>
            <a:ext cx="402336" cy="402336"/>
            <a:chOff x="0" y="0"/>
            <a:chExt cx="536448" cy="53644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570464" y="4187952"/>
            <a:ext cx="6400800" cy="694944"/>
            <a:chOff x="0" y="0"/>
            <a:chExt cx="8534400" cy="92659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Tagging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869167" y="5041135"/>
            <a:ext cx="7327897" cy="707641"/>
            <a:chOff x="0" y="0"/>
            <a:chExt cx="9770529" cy="94352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8509" y="8509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CE4EC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770618" cy="943610"/>
            </a:xfrm>
            <a:custGeom>
              <a:avLst/>
              <a:gdLst/>
              <a:ahLst/>
              <a:cxnLst/>
              <a:rect r="r" b="b" t="t" l="l"/>
              <a:pathLst>
                <a:path h="943610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935101"/>
                  </a:lnTo>
                  <a:cubicBezTo>
                    <a:pt x="9770618" y="939800"/>
                    <a:pt x="9766808" y="943610"/>
                    <a:pt x="97621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9762109" y="926592"/>
                  </a:lnTo>
                  <a:lnTo>
                    <a:pt x="9762109" y="935101"/>
                  </a:lnTo>
                  <a:lnTo>
                    <a:pt x="9753600" y="935101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0009127" y="5199383"/>
            <a:ext cx="427739" cy="427739"/>
            <a:chOff x="0" y="0"/>
            <a:chExt cx="570319" cy="57031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0021824" y="5212080"/>
            <a:ext cx="402336" cy="402336"/>
            <a:chOff x="0" y="0"/>
            <a:chExt cx="536448" cy="53644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570464" y="5047488"/>
            <a:ext cx="6400800" cy="694944"/>
            <a:chOff x="0" y="0"/>
            <a:chExt cx="8534400" cy="92659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Linguistic Feature Extraction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869167" y="5900671"/>
            <a:ext cx="7327897" cy="707641"/>
            <a:chOff x="0" y="0"/>
            <a:chExt cx="9770529" cy="94352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8509" y="8509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9770618" cy="943610"/>
            </a:xfrm>
            <a:custGeom>
              <a:avLst/>
              <a:gdLst/>
              <a:ahLst/>
              <a:cxnLst/>
              <a:rect r="r" b="b" t="t" l="l"/>
              <a:pathLst>
                <a:path h="943610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935101"/>
                  </a:lnTo>
                  <a:cubicBezTo>
                    <a:pt x="9770618" y="939800"/>
                    <a:pt x="9766808" y="943610"/>
                    <a:pt x="97621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9762109" y="926592"/>
                  </a:lnTo>
                  <a:lnTo>
                    <a:pt x="9762109" y="935101"/>
                  </a:lnTo>
                  <a:lnTo>
                    <a:pt x="9753600" y="935101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0009127" y="6058919"/>
            <a:ext cx="427739" cy="427739"/>
            <a:chOff x="0" y="0"/>
            <a:chExt cx="570319" cy="57031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021824" y="6071616"/>
            <a:ext cx="402336" cy="402336"/>
            <a:chOff x="0" y="0"/>
            <a:chExt cx="536448" cy="53644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0570464" y="5907024"/>
            <a:ext cx="6400800" cy="694944"/>
            <a:chOff x="0" y="0"/>
            <a:chExt cx="8534400" cy="92659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Dependency Parsing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869167" y="6760207"/>
            <a:ext cx="7327897" cy="707641"/>
            <a:chOff x="0" y="0"/>
            <a:chExt cx="9770529" cy="94352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8509" y="8509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CE4EC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9770618" cy="943610"/>
            </a:xfrm>
            <a:custGeom>
              <a:avLst/>
              <a:gdLst/>
              <a:ahLst/>
              <a:cxnLst/>
              <a:rect r="r" b="b" t="t" l="l"/>
              <a:pathLst>
                <a:path h="943610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935101"/>
                  </a:lnTo>
                  <a:cubicBezTo>
                    <a:pt x="9770618" y="939800"/>
                    <a:pt x="9766808" y="943610"/>
                    <a:pt x="97621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9762109" y="926592"/>
                  </a:lnTo>
                  <a:lnTo>
                    <a:pt x="9762109" y="935101"/>
                  </a:lnTo>
                  <a:lnTo>
                    <a:pt x="9753600" y="935101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0009127" y="6918455"/>
            <a:ext cx="427739" cy="427739"/>
            <a:chOff x="0" y="0"/>
            <a:chExt cx="570319" cy="57031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0021824" y="6931152"/>
            <a:ext cx="402336" cy="402336"/>
            <a:chOff x="0" y="0"/>
            <a:chExt cx="536448" cy="53644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0570464" y="6766560"/>
            <a:ext cx="6400800" cy="694944"/>
            <a:chOff x="0" y="0"/>
            <a:chExt cx="8534400" cy="92659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Dependency Extraction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450847" y="9320527"/>
            <a:ext cx="17386297" cy="707641"/>
            <a:chOff x="0" y="0"/>
            <a:chExt cx="23181729" cy="943521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8509" y="8509"/>
              <a:ext cx="23164801" cy="926592"/>
            </a:xfrm>
            <a:custGeom>
              <a:avLst/>
              <a:gdLst/>
              <a:ahLst/>
              <a:cxnLst/>
              <a:rect r="r" b="b" t="t" l="l"/>
              <a:pathLst>
                <a:path h="926592" w="23164801">
                  <a:moveTo>
                    <a:pt x="0" y="0"/>
                  </a:moveTo>
                  <a:lnTo>
                    <a:pt x="23164801" y="0"/>
                  </a:lnTo>
                  <a:lnTo>
                    <a:pt x="2316480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3181818" cy="943610"/>
            </a:xfrm>
            <a:custGeom>
              <a:avLst/>
              <a:gdLst/>
              <a:ahLst/>
              <a:cxnLst/>
              <a:rect r="r" b="b" t="t" l="l"/>
              <a:pathLst>
                <a:path h="943610" w="23181818">
                  <a:moveTo>
                    <a:pt x="8509" y="0"/>
                  </a:moveTo>
                  <a:lnTo>
                    <a:pt x="23173310" y="0"/>
                  </a:lnTo>
                  <a:cubicBezTo>
                    <a:pt x="23178008" y="0"/>
                    <a:pt x="23181818" y="3810"/>
                    <a:pt x="23181818" y="8509"/>
                  </a:cubicBezTo>
                  <a:lnTo>
                    <a:pt x="23181818" y="935101"/>
                  </a:lnTo>
                  <a:cubicBezTo>
                    <a:pt x="23181818" y="939800"/>
                    <a:pt x="23178008" y="943610"/>
                    <a:pt x="23173310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23173310" y="926592"/>
                  </a:lnTo>
                  <a:lnTo>
                    <a:pt x="23173310" y="935101"/>
                  </a:lnTo>
                  <a:lnTo>
                    <a:pt x="23164800" y="935101"/>
                  </a:lnTo>
                  <a:lnTo>
                    <a:pt x="23164800" y="8509"/>
                  </a:lnTo>
                  <a:lnTo>
                    <a:pt x="23173310" y="8509"/>
                  </a:lnTo>
                  <a:lnTo>
                    <a:pt x="231733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731520" y="9326880"/>
            <a:ext cx="16824960" cy="694944"/>
            <a:chOff x="0" y="0"/>
            <a:chExt cx="22433280" cy="92659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243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743" r="0" b="-421743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224332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pipelines use Universal Dependencies (UD) scheme for consistent dependency labeling across languages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92096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Django Web Integration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907543"/>
            <a:ext cx="3134363" cy="2037083"/>
            <a:chOff x="0" y="0"/>
            <a:chExt cx="4179151" cy="2716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790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699131"/>
                  </a:lnTo>
                  <a:cubicBezTo>
                    <a:pt x="4179062" y="2708529"/>
                    <a:pt x="4171442" y="2716022"/>
                    <a:pt x="41621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4162171" y="2682240"/>
                  </a:lnTo>
                  <a:lnTo>
                    <a:pt x="4162171" y="2699131"/>
                  </a:lnTo>
                  <a:lnTo>
                    <a:pt x="4145280" y="269913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57200" y="1975104"/>
            <a:ext cx="3108960" cy="1133856"/>
            <a:chOff x="0" y="0"/>
            <a:chExt cx="4145280" cy="15118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45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1452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 Form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(User Input)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99694" y="3141726"/>
            <a:ext cx="2823972" cy="702564"/>
            <a:chOff x="0" y="0"/>
            <a:chExt cx="3765296" cy="936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80" y="5080"/>
              <a:ext cx="3755136" cy="926592"/>
            </a:xfrm>
            <a:custGeom>
              <a:avLst/>
              <a:gdLst/>
              <a:ahLst/>
              <a:cxnLst/>
              <a:rect r="r" b="b" t="t" l="l"/>
              <a:pathLst>
                <a:path h="926592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65296" cy="936752"/>
            </a:xfrm>
            <a:custGeom>
              <a:avLst/>
              <a:gdLst/>
              <a:ahLst/>
              <a:cxnLst/>
              <a:rect r="r" b="b" t="t" l="l"/>
              <a:pathLst>
                <a:path h="936752" w="3765296">
                  <a:moveTo>
                    <a:pt x="5080" y="0"/>
                  </a:moveTo>
                  <a:lnTo>
                    <a:pt x="3760216" y="0"/>
                  </a:lnTo>
                  <a:cubicBezTo>
                    <a:pt x="3763010" y="0"/>
                    <a:pt x="3765296" y="2286"/>
                    <a:pt x="3765296" y="5080"/>
                  </a:cubicBezTo>
                  <a:lnTo>
                    <a:pt x="3765296" y="931672"/>
                  </a:lnTo>
                  <a:cubicBezTo>
                    <a:pt x="3765296" y="934466"/>
                    <a:pt x="3763010" y="936752"/>
                    <a:pt x="3760216" y="936752"/>
                  </a:cubicBezTo>
                  <a:lnTo>
                    <a:pt x="5080" y="936752"/>
                  </a:lnTo>
                  <a:cubicBezTo>
                    <a:pt x="2286" y="936752"/>
                    <a:pt x="0" y="934466"/>
                    <a:pt x="0" y="93167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931672"/>
                  </a:lnTo>
                  <a:lnTo>
                    <a:pt x="5080" y="931672"/>
                  </a:lnTo>
                  <a:lnTo>
                    <a:pt x="5080" y="926592"/>
                  </a:lnTo>
                  <a:lnTo>
                    <a:pt x="3760216" y="926592"/>
                  </a:lnTo>
                  <a:lnTo>
                    <a:pt x="3760216" y="931672"/>
                  </a:lnTo>
                  <a:lnTo>
                    <a:pt x="3755136" y="931672"/>
                  </a:lnTo>
                  <a:lnTo>
                    <a:pt x="3755136" y="5080"/>
                  </a:lnTo>
                  <a:lnTo>
                    <a:pt x="3760216" y="5080"/>
                  </a:lnTo>
                  <a:lnTo>
                    <a:pt x="376021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03504" y="3145536"/>
            <a:ext cx="2816352" cy="694944"/>
            <a:chOff x="0" y="0"/>
            <a:chExt cx="3755136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55136" cy="926592"/>
            </a:xfrm>
            <a:custGeom>
              <a:avLst/>
              <a:gdLst/>
              <a:ahLst/>
              <a:cxnLst/>
              <a:rect r="r" b="b" t="t" l="l"/>
              <a:pathLst>
                <a:path h="926592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65" r="0" b="-289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755136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 + Language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Dropdown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40757" y="2900677"/>
            <a:ext cx="416557" cy="50797"/>
            <a:chOff x="0" y="0"/>
            <a:chExt cx="555409" cy="677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566160" y="2743200"/>
            <a:ext cx="365760" cy="402336"/>
            <a:chOff x="0" y="0"/>
            <a:chExt cx="48768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768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87680" cy="593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919223" y="1907543"/>
            <a:ext cx="3134363" cy="2037083"/>
            <a:chOff x="0" y="0"/>
            <a:chExt cx="4179151" cy="27161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277B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790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699131"/>
                  </a:lnTo>
                  <a:cubicBezTo>
                    <a:pt x="4179062" y="2708529"/>
                    <a:pt x="4171442" y="2716022"/>
                    <a:pt x="41621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4162171" y="2682240"/>
                  </a:lnTo>
                  <a:lnTo>
                    <a:pt x="4162171" y="2699131"/>
                  </a:lnTo>
                  <a:lnTo>
                    <a:pt x="4145280" y="269913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77B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931920" y="1975104"/>
            <a:ext cx="3108960" cy="1133856"/>
            <a:chOff x="0" y="0"/>
            <a:chExt cx="4145280" cy="15118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45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1452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Django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View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074414" y="3141726"/>
            <a:ext cx="2823972" cy="702564"/>
            <a:chOff x="0" y="0"/>
            <a:chExt cx="3765296" cy="936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080" y="5080"/>
              <a:ext cx="3755136" cy="926592"/>
            </a:xfrm>
            <a:custGeom>
              <a:avLst/>
              <a:gdLst/>
              <a:ahLst/>
              <a:cxnLst/>
              <a:rect r="r" b="b" t="t" l="l"/>
              <a:pathLst>
                <a:path h="926592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65296" cy="936752"/>
            </a:xfrm>
            <a:custGeom>
              <a:avLst/>
              <a:gdLst/>
              <a:ahLst/>
              <a:cxnLst/>
              <a:rect r="r" b="b" t="t" l="l"/>
              <a:pathLst>
                <a:path h="936752" w="3765296">
                  <a:moveTo>
                    <a:pt x="5080" y="0"/>
                  </a:moveTo>
                  <a:lnTo>
                    <a:pt x="3760216" y="0"/>
                  </a:lnTo>
                  <a:cubicBezTo>
                    <a:pt x="3763010" y="0"/>
                    <a:pt x="3765296" y="2286"/>
                    <a:pt x="3765296" y="5080"/>
                  </a:cubicBezTo>
                  <a:lnTo>
                    <a:pt x="3765296" y="931672"/>
                  </a:lnTo>
                  <a:cubicBezTo>
                    <a:pt x="3765296" y="934466"/>
                    <a:pt x="3763010" y="936752"/>
                    <a:pt x="3760216" y="936752"/>
                  </a:cubicBezTo>
                  <a:lnTo>
                    <a:pt x="5080" y="936752"/>
                  </a:lnTo>
                  <a:cubicBezTo>
                    <a:pt x="2286" y="936752"/>
                    <a:pt x="0" y="934466"/>
                    <a:pt x="0" y="93167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931672"/>
                  </a:lnTo>
                  <a:lnTo>
                    <a:pt x="5080" y="931672"/>
                  </a:lnTo>
                  <a:lnTo>
                    <a:pt x="5080" y="926592"/>
                  </a:lnTo>
                  <a:lnTo>
                    <a:pt x="3760216" y="926592"/>
                  </a:lnTo>
                  <a:lnTo>
                    <a:pt x="3760216" y="931672"/>
                  </a:lnTo>
                  <a:lnTo>
                    <a:pt x="3755136" y="931672"/>
                  </a:lnTo>
                  <a:lnTo>
                    <a:pt x="3755136" y="5080"/>
                  </a:lnTo>
                  <a:lnTo>
                    <a:pt x="3760216" y="5080"/>
                  </a:lnTo>
                  <a:lnTo>
                    <a:pt x="376021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078224" y="3145536"/>
            <a:ext cx="2816352" cy="694944"/>
            <a:chOff x="0" y="0"/>
            <a:chExt cx="3755136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755136" cy="926592"/>
            </a:xfrm>
            <a:custGeom>
              <a:avLst/>
              <a:gdLst/>
              <a:ahLst/>
              <a:cxnLst/>
              <a:rect r="r" b="b" t="t" l="l"/>
              <a:pathLst>
                <a:path h="926592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65" r="0" b="-2896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755136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views.py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processes request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015477" y="2900677"/>
            <a:ext cx="416557" cy="50797"/>
            <a:chOff x="0" y="0"/>
            <a:chExt cx="555409" cy="6772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040880" y="2743200"/>
            <a:ext cx="365760" cy="402336"/>
            <a:chOff x="0" y="0"/>
            <a:chExt cx="487680" cy="5364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768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487680" cy="593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393943" y="1907543"/>
            <a:ext cx="3134363" cy="2037083"/>
            <a:chOff x="0" y="0"/>
            <a:chExt cx="4179151" cy="27161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838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790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699131"/>
                  </a:lnTo>
                  <a:cubicBezTo>
                    <a:pt x="4179062" y="2708529"/>
                    <a:pt x="4171442" y="2716022"/>
                    <a:pt x="41621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4162171" y="2682240"/>
                  </a:lnTo>
                  <a:lnTo>
                    <a:pt x="4162171" y="2699131"/>
                  </a:lnTo>
                  <a:lnTo>
                    <a:pt x="4145280" y="269913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38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406640" y="1975104"/>
            <a:ext cx="3108960" cy="1133856"/>
            <a:chOff x="0" y="0"/>
            <a:chExt cx="4145280" cy="151180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45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1452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parse_sentence()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549134" y="3141726"/>
            <a:ext cx="2823972" cy="702564"/>
            <a:chOff x="0" y="0"/>
            <a:chExt cx="3765296" cy="936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5080" y="5080"/>
              <a:ext cx="3755136" cy="926592"/>
            </a:xfrm>
            <a:custGeom>
              <a:avLst/>
              <a:gdLst/>
              <a:ahLst/>
              <a:cxnLst/>
              <a:rect r="r" b="b" t="t" l="l"/>
              <a:pathLst>
                <a:path h="926592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65296" cy="936752"/>
            </a:xfrm>
            <a:custGeom>
              <a:avLst/>
              <a:gdLst/>
              <a:ahLst/>
              <a:cxnLst/>
              <a:rect r="r" b="b" t="t" l="l"/>
              <a:pathLst>
                <a:path h="936752" w="3765296">
                  <a:moveTo>
                    <a:pt x="5080" y="0"/>
                  </a:moveTo>
                  <a:lnTo>
                    <a:pt x="3760216" y="0"/>
                  </a:lnTo>
                  <a:cubicBezTo>
                    <a:pt x="3763010" y="0"/>
                    <a:pt x="3765296" y="2286"/>
                    <a:pt x="3765296" y="5080"/>
                  </a:cubicBezTo>
                  <a:lnTo>
                    <a:pt x="3765296" y="931672"/>
                  </a:lnTo>
                  <a:cubicBezTo>
                    <a:pt x="3765296" y="934466"/>
                    <a:pt x="3763010" y="936752"/>
                    <a:pt x="3760216" y="936752"/>
                  </a:cubicBezTo>
                  <a:lnTo>
                    <a:pt x="5080" y="936752"/>
                  </a:lnTo>
                  <a:cubicBezTo>
                    <a:pt x="2286" y="936752"/>
                    <a:pt x="0" y="934466"/>
                    <a:pt x="0" y="93167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931672"/>
                  </a:lnTo>
                  <a:lnTo>
                    <a:pt x="5080" y="931672"/>
                  </a:lnTo>
                  <a:lnTo>
                    <a:pt x="5080" y="926592"/>
                  </a:lnTo>
                  <a:lnTo>
                    <a:pt x="3760216" y="926592"/>
                  </a:lnTo>
                  <a:lnTo>
                    <a:pt x="3760216" y="931672"/>
                  </a:lnTo>
                  <a:lnTo>
                    <a:pt x="3755136" y="931672"/>
                  </a:lnTo>
                  <a:lnTo>
                    <a:pt x="3755136" y="5080"/>
                  </a:lnTo>
                  <a:lnTo>
                    <a:pt x="3760216" y="5080"/>
                  </a:lnTo>
                  <a:lnTo>
                    <a:pt x="376021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552944" y="3145536"/>
            <a:ext cx="2816352" cy="694944"/>
            <a:chOff x="0" y="0"/>
            <a:chExt cx="3755136" cy="9265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755136" cy="926592"/>
            </a:xfrm>
            <a:custGeom>
              <a:avLst/>
              <a:gdLst/>
              <a:ahLst/>
              <a:cxnLst/>
              <a:rect r="r" b="b" t="t" l="l"/>
              <a:pathLst>
                <a:path h="926592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65" r="0" b="-2896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755136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Language-aware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dispatcher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490197" y="2900677"/>
            <a:ext cx="416557" cy="50797"/>
            <a:chOff x="0" y="0"/>
            <a:chExt cx="555409" cy="6772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515600" y="2743200"/>
            <a:ext cx="365760" cy="402336"/>
            <a:chOff x="0" y="0"/>
            <a:chExt cx="487680" cy="5364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8768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487680" cy="593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868663" y="1907543"/>
            <a:ext cx="3134363" cy="2037083"/>
            <a:chOff x="0" y="0"/>
            <a:chExt cx="4179151" cy="27161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790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699131"/>
                  </a:lnTo>
                  <a:cubicBezTo>
                    <a:pt x="4179062" y="2708529"/>
                    <a:pt x="4171442" y="2716022"/>
                    <a:pt x="41621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4162171" y="2682240"/>
                  </a:lnTo>
                  <a:lnTo>
                    <a:pt x="4162171" y="2699131"/>
                  </a:lnTo>
                  <a:lnTo>
                    <a:pt x="4145280" y="269913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881360" y="1975104"/>
            <a:ext cx="3108960" cy="1133856"/>
            <a:chOff x="0" y="0"/>
            <a:chExt cx="4145280" cy="15118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145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1452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Stanza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023854" y="3141726"/>
            <a:ext cx="2823972" cy="702564"/>
            <a:chOff x="0" y="0"/>
            <a:chExt cx="3765296" cy="936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5080" y="5080"/>
              <a:ext cx="3755136" cy="926592"/>
            </a:xfrm>
            <a:custGeom>
              <a:avLst/>
              <a:gdLst/>
              <a:ahLst/>
              <a:cxnLst/>
              <a:rect r="r" b="b" t="t" l="l"/>
              <a:pathLst>
                <a:path h="926592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765296" cy="936752"/>
            </a:xfrm>
            <a:custGeom>
              <a:avLst/>
              <a:gdLst/>
              <a:ahLst/>
              <a:cxnLst/>
              <a:rect r="r" b="b" t="t" l="l"/>
              <a:pathLst>
                <a:path h="936752" w="3765296">
                  <a:moveTo>
                    <a:pt x="5080" y="0"/>
                  </a:moveTo>
                  <a:lnTo>
                    <a:pt x="3760216" y="0"/>
                  </a:lnTo>
                  <a:cubicBezTo>
                    <a:pt x="3763010" y="0"/>
                    <a:pt x="3765296" y="2286"/>
                    <a:pt x="3765296" y="5080"/>
                  </a:cubicBezTo>
                  <a:lnTo>
                    <a:pt x="3765296" y="931672"/>
                  </a:lnTo>
                  <a:cubicBezTo>
                    <a:pt x="3765296" y="934466"/>
                    <a:pt x="3763010" y="936752"/>
                    <a:pt x="3760216" y="936752"/>
                  </a:cubicBezTo>
                  <a:lnTo>
                    <a:pt x="5080" y="936752"/>
                  </a:lnTo>
                  <a:cubicBezTo>
                    <a:pt x="2286" y="936752"/>
                    <a:pt x="0" y="934466"/>
                    <a:pt x="0" y="93167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931672"/>
                  </a:lnTo>
                  <a:lnTo>
                    <a:pt x="5080" y="931672"/>
                  </a:lnTo>
                  <a:lnTo>
                    <a:pt x="5080" y="926592"/>
                  </a:lnTo>
                  <a:lnTo>
                    <a:pt x="3760216" y="926592"/>
                  </a:lnTo>
                  <a:lnTo>
                    <a:pt x="3760216" y="931672"/>
                  </a:lnTo>
                  <a:lnTo>
                    <a:pt x="3755136" y="931672"/>
                  </a:lnTo>
                  <a:lnTo>
                    <a:pt x="3755136" y="5080"/>
                  </a:lnTo>
                  <a:lnTo>
                    <a:pt x="3760216" y="5080"/>
                  </a:lnTo>
                  <a:lnTo>
                    <a:pt x="376021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027664" y="3145536"/>
            <a:ext cx="2816352" cy="694944"/>
            <a:chOff x="0" y="0"/>
            <a:chExt cx="3755136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755136" cy="926592"/>
            </a:xfrm>
            <a:custGeom>
              <a:avLst/>
              <a:gdLst/>
              <a:ahLst/>
              <a:cxnLst/>
              <a:rect r="r" b="b" t="t" l="l"/>
              <a:pathLst>
                <a:path h="926592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65" r="0" b="-2896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3755136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 / hi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pretrained model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964917" y="2900677"/>
            <a:ext cx="416557" cy="50797"/>
            <a:chOff x="0" y="0"/>
            <a:chExt cx="555409" cy="6772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990320" y="2743200"/>
            <a:ext cx="365760" cy="402336"/>
            <a:chOff x="0" y="0"/>
            <a:chExt cx="487680" cy="5364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8768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487680" cy="593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343383" y="1907543"/>
            <a:ext cx="3134363" cy="2037083"/>
            <a:chOff x="0" y="0"/>
            <a:chExt cx="4179151" cy="271611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1790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699131"/>
                  </a:lnTo>
                  <a:cubicBezTo>
                    <a:pt x="4179062" y="2708529"/>
                    <a:pt x="4171442" y="2716022"/>
                    <a:pt x="41621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4162171" y="2682240"/>
                  </a:lnTo>
                  <a:lnTo>
                    <a:pt x="4162171" y="2699131"/>
                  </a:lnTo>
                  <a:lnTo>
                    <a:pt x="4145280" y="269913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4356080" y="1975104"/>
            <a:ext cx="3108960" cy="1133856"/>
            <a:chOff x="0" y="0"/>
            <a:chExt cx="4145280" cy="151180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145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1452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Django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Template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498574" y="3141726"/>
            <a:ext cx="2823972" cy="702564"/>
            <a:chOff x="0" y="0"/>
            <a:chExt cx="3765296" cy="9367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5080" y="5080"/>
              <a:ext cx="3755136" cy="926592"/>
            </a:xfrm>
            <a:custGeom>
              <a:avLst/>
              <a:gdLst/>
              <a:ahLst/>
              <a:cxnLst/>
              <a:rect r="r" b="b" t="t" l="l"/>
              <a:pathLst>
                <a:path h="926592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765296" cy="936752"/>
            </a:xfrm>
            <a:custGeom>
              <a:avLst/>
              <a:gdLst/>
              <a:ahLst/>
              <a:cxnLst/>
              <a:rect r="r" b="b" t="t" l="l"/>
              <a:pathLst>
                <a:path h="936752" w="3765296">
                  <a:moveTo>
                    <a:pt x="5080" y="0"/>
                  </a:moveTo>
                  <a:lnTo>
                    <a:pt x="3760216" y="0"/>
                  </a:lnTo>
                  <a:cubicBezTo>
                    <a:pt x="3763010" y="0"/>
                    <a:pt x="3765296" y="2286"/>
                    <a:pt x="3765296" y="5080"/>
                  </a:cubicBezTo>
                  <a:lnTo>
                    <a:pt x="3765296" y="931672"/>
                  </a:lnTo>
                  <a:cubicBezTo>
                    <a:pt x="3765296" y="934466"/>
                    <a:pt x="3763010" y="936752"/>
                    <a:pt x="3760216" y="936752"/>
                  </a:cubicBezTo>
                  <a:lnTo>
                    <a:pt x="5080" y="936752"/>
                  </a:lnTo>
                  <a:cubicBezTo>
                    <a:pt x="2286" y="936752"/>
                    <a:pt x="0" y="934466"/>
                    <a:pt x="0" y="93167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931672"/>
                  </a:lnTo>
                  <a:lnTo>
                    <a:pt x="5080" y="931672"/>
                  </a:lnTo>
                  <a:lnTo>
                    <a:pt x="5080" y="926592"/>
                  </a:lnTo>
                  <a:lnTo>
                    <a:pt x="3760216" y="926592"/>
                  </a:lnTo>
                  <a:lnTo>
                    <a:pt x="3760216" y="931672"/>
                  </a:lnTo>
                  <a:lnTo>
                    <a:pt x="3755136" y="931672"/>
                  </a:lnTo>
                  <a:lnTo>
                    <a:pt x="3755136" y="5080"/>
                  </a:lnTo>
                  <a:lnTo>
                    <a:pt x="3760216" y="5080"/>
                  </a:lnTo>
                  <a:lnTo>
                    <a:pt x="3760216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502384" y="3145536"/>
            <a:ext cx="2816352" cy="694944"/>
            <a:chOff x="0" y="0"/>
            <a:chExt cx="3755136" cy="92659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755136" cy="926592"/>
            </a:xfrm>
            <a:custGeom>
              <a:avLst/>
              <a:gdLst/>
              <a:ahLst/>
              <a:cxnLst/>
              <a:rect r="r" b="b" t="t" l="l"/>
              <a:pathLst>
                <a:path h="926592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65" r="0" b="-2896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755136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HTML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rendering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444503" y="4339847"/>
            <a:ext cx="8437883" cy="2402843"/>
            <a:chOff x="0" y="0"/>
            <a:chExt cx="11250511" cy="320379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112166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2504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186811"/>
                  </a:lnTo>
                  <a:cubicBezTo>
                    <a:pt x="11250422" y="3196209"/>
                    <a:pt x="11242802" y="3203702"/>
                    <a:pt x="1123353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1233531" y="3169920"/>
                  </a:lnTo>
                  <a:lnTo>
                    <a:pt x="11233531" y="3186811"/>
                  </a:lnTo>
                  <a:lnTo>
                    <a:pt x="11216640" y="31868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444503" y="4339847"/>
            <a:ext cx="171707" cy="2402843"/>
            <a:chOff x="0" y="0"/>
            <a:chExt cx="228943" cy="320379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28854" cy="3203702"/>
            </a:xfrm>
            <a:custGeom>
              <a:avLst/>
              <a:gdLst/>
              <a:ahLst/>
              <a:cxnLst/>
              <a:rect r="r" b="b" t="t" l="l"/>
              <a:pathLst>
                <a:path h="320370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3186811"/>
                  </a:lnTo>
                  <a:cubicBezTo>
                    <a:pt x="228854" y="3196209"/>
                    <a:pt x="221234" y="3203702"/>
                    <a:pt x="211963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11963" y="3169920"/>
                  </a:lnTo>
                  <a:lnTo>
                    <a:pt x="211963" y="3186811"/>
                  </a:lnTo>
                  <a:lnTo>
                    <a:pt x="195072" y="31868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786384" y="4535424"/>
            <a:ext cx="658368" cy="658368"/>
            <a:chOff x="0" y="0"/>
            <a:chExt cx="877824" cy="877824"/>
          </a:xfrm>
        </p:grpSpPr>
        <p:sp>
          <p:nvSpPr>
            <p:cNvPr name="Freeform 98" id="98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591056" y="4498848"/>
            <a:ext cx="7095744" cy="694944"/>
            <a:chOff x="0" y="0"/>
            <a:chExt cx="9460992" cy="92659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460992" cy="926592"/>
            </a:xfrm>
            <a:custGeom>
              <a:avLst/>
              <a:gdLst/>
              <a:ahLst/>
              <a:cxnLst/>
              <a:rect r="r" b="b" t="t" l="l"/>
              <a:pathLst>
                <a:path h="926592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52" r="0" b="-14895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94609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views.py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786384" y="5265420"/>
            <a:ext cx="7863840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HTTP POST requests, calls parse_sentence() with text and language, returns rendered template with results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9369047" y="4339847"/>
            <a:ext cx="8437883" cy="2402843"/>
            <a:chOff x="0" y="0"/>
            <a:chExt cx="11250511" cy="320379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112166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12504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186811"/>
                  </a:lnTo>
                  <a:cubicBezTo>
                    <a:pt x="11250422" y="3196209"/>
                    <a:pt x="11242802" y="3203702"/>
                    <a:pt x="1123353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1233531" y="3169920"/>
                  </a:lnTo>
                  <a:lnTo>
                    <a:pt x="11233531" y="3186811"/>
                  </a:lnTo>
                  <a:lnTo>
                    <a:pt x="11216640" y="31868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369047" y="4339847"/>
            <a:ext cx="171707" cy="2402843"/>
            <a:chOff x="0" y="0"/>
            <a:chExt cx="228943" cy="320379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28854" cy="3203702"/>
            </a:xfrm>
            <a:custGeom>
              <a:avLst/>
              <a:gdLst/>
              <a:ahLst/>
              <a:cxnLst/>
              <a:rect r="r" b="b" t="t" l="l"/>
              <a:pathLst>
                <a:path h="320370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3186811"/>
                  </a:lnTo>
                  <a:cubicBezTo>
                    <a:pt x="228854" y="3196209"/>
                    <a:pt x="221234" y="3203702"/>
                    <a:pt x="211963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11963" y="3169920"/>
                  </a:lnTo>
                  <a:lnTo>
                    <a:pt x="211963" y="3186811"/>
                  </a:lnTo>
                  <a:lnTo>
                    <a:pt x="195072" y="31868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710928" y="4535424"/>
            <a:ext cx="658368" cy="658368"/>
            <a:chOff x="0" y="0"/>
            <a:chExt cx="877824" cy="877824"/>
          </a:xfrm>
        </p:grpSpPr>
        <p:sp>
          <p:nvSpPr>
            <p:cNvPr name="Freeform 110" id="110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0515600" y="4498848"/>
            <a:ext cx="7095744" cy="694944"/>
            <a:chOff x="0" y="0"/>
            <a:chExt cx="9460992" cy="92659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460992" cy="926592"/>
            </a:xfrm>
            <a:custGeom>
              <a:avLst/>
              <a:gdLst/>
              <a:ahLst/>
              <a:cxnLst/>
              <a:rect r="r" b="b" t="t" l="l"/>
              <a:pathLst>
                <a:path h="926592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52" r="0" b="-14895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94609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Language Selection</a:t>
              </a:r>
            </a:p>
          </p:txBody>
        </p:sp>
      </p:grpSp>
      <p:sp>
        <p:nvSpPr>
          <p:cNvPr name="TextBox 114" id="114"/>
          <p:cNvSpPr txBox="true"/>
          <p:nvPr/>
        </p:nvSpPr>
        <p:spPr>
          <a:xfrm rot="0">
            <a:off x="9710928" y="5265420"/>
            <a:ext cx="7863840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HTML dropdown lets user select English or Hindi. Django view uses this to instantiate the correct Stanza pipeline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444503" y="7046471"/>
            <a:ext cx="8437883" cy="2402843"/>
            <a:chOff x="0" y="0"/>
            <a:chExt cx="11250511" cy="320379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112166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2504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186811"/>
                  </a:lnTo>
                  <a:cubicBezTo>
                    <a:pt x="11250422" y="3196209"/>
                    <a:pt x="11242802" y="3203702"/>
                    <a:pt x="1123353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1233531" y="3169920"/>
                  </a:lnTo>
                  <a:lnTo>
                    <a:pt x="11233531" y="3186811"/>
                  </a:lnTo>
                  <a:lnTo>
                    <a:pt x="11216640" y="31868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44503" y="7046471"/>
            <a:ext cx="171707" cy="2402843"/>
            <a:chOff x="0" y="0"/>
            <a:chExt cx="228943" cy="320379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28854" cy="3203702"/>
            </a:xfrm>
            <a:custGeom>
              <a:avLst/>
              <a:gdLst/>
              <a:ahLst/>
              <a:cxnLst/>
              <a:rect r="r" b="b" t="t" l="l"/>
              <a:pathLst>
                <a:path h="320370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3186811"/>
                  </a:lnTo>
                  <a:cubicBezTo>
                    <a:pt x="228854" y="3196209"/>
                    <a:pt x="221234" y="3203702"/>
                    <a:pt x="211963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11963" y="3169920"/>
                  </a:lnTo>
                  <a:lnTo>
                    <a:pt x="211963" y="3186811"/>
                  </a:lnTo>
                  <a:lnTo>
                    <a:pt x="195072" y="31868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786384" y="7242048"/>
            <a:ext cx="658368" cy="658368"/>
            <a:chOff x="0" y="0"/>
            <a:chExt cx="877824" cy="877824"/>
          </a:xfrm>
        </p:grpSpPr>
        <p:sp>
          <p:nvSpPr>
            <p:cNvPr name="Freeform 122" id="122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591056" y="7205472"/>
            <a:ext cx="7095744" cy="694944"/>
            <a:chOff x="0" y="0"/>
            <a:chExt cx="9460992" cy="92659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9460992" cy="926592"/>
            </a:xfrm>
            <a:custGeom>
              <a:avLst/>
              <a:gdLst/>
              <a:ahLst/>
              <a:cxnLst/>
              <a:rect r="r" b="b" t="t" l="l"/>
              <a:pathLst>
                <a:path h="926592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52" r="0" b="-14895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94609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Dynamic Rendering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786384" y="7972044"/>
            <a:ext cx="7863840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Dependency table and tree are generated server-side and injected into Django template for display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9369047" y="7046471"/>
            <a:ext cx="8437883" cy="2402843"/>
            <a:chOff x="0" y="0"/>
            <a:chExt cx="11250511" cy="3203791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6891" y="16891"/>
              <a:ext cx="112166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12504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186811"/>
                  </a:lnTo>
                  <a:cubicBezTo>
                    <a:pt x="11250422" y="3196209"/>
                    <a:pt x="11242802" y="3203702"/>
                    <a:pt x="1123353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1233531" y="3169920"/>
                  </a:lnTo>
                  <a:lnTo>
                    <a:pt x="11233531" y="3186811"/>
                  </a:lnTo>
                  <a:lnTo>
                    <a:pt x="11216640" y="31868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369047" y="7046471"/>
            <a:ext cx="171707" cy="2402843"/>
            <a:chOff x="0" y="0"/>
            <a:chExt cx="228943" cy="320379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16891" y="16891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28854" cy="3203702"/>
            </a:xfrm>
            <a:custGeom>
              <a:avLst/>
              <a:gdLst/>
              <a:ahLst/>
              <a:cxnLst/>
              <a:rect r="r" b="b" t="t" l="l"/>
              <a:pathLst>
                <a:path h="320370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3186811"/>
                  </a:lnTo>
                  <a:cubicBezTo>
                    <a:pt x="228854" y="3196209"/>
                    <a:pt x="221234" y="3203702"/>
                    <a:pt x="211963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11963" y="3169920"/>
                  </a:lnTo>
                  <a:lnTo>
                    <a:pt x="211963" y="3186811"/>
                  </a:lnTo>
                  <a:lnTo>
                    <a:pt x="195072" y="31868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710928" y="7242048"/>
            <a:ext cx="658368" cy="658368"/>
            <a:chOff x="0" y="0"/>
            <a:chExt cx="877824" cy="877824"/>
          </a:xfrm>
        </p:grpSpPr>
        <p:sp>
          <p:nvSpPr>
            <p:cNvPr name="Freeform 134" id="134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0515600" y="7205472"/>
            <a:ext cx="7095744" cy="694944"/>
            <a:chOff x="0" y="0"/>
            <a:chExt cx="9460992" cy="92659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9460992" cy="926592"/>
            </a:xfrm>
            <a:custGeom>
              <a:avLst/>
              <a:gdLst/>
              <a:ahLst/>
              <a:cxnLst/>
              <a:rect r="r" b="b" t="t" l="l"/>
              <a:pathLst>
                <a:path h="926592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52" r="0" b="-148952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94609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Modular Design</a:t>
              </a:r>
            </a:p>
          </p:txBody>
        </p:sp>
      </p:grpSp>
      <p:sp>
        <p:nvSpPr>
          <p:cNvPr name="TextBox 138" id="138"/>
          <p:cNvSpPr txBox="true"/>
          <p:nvPr/>
        </p:nvSpPr>
        <p:spPr>
          <a:xfrm rot="0">
            <a:off x="9710928" y="7972044"/>
            <a:ext cx="7863840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parse_sentence() is language-agnostic — accepts lang parameter and dispatches to appropriate Stanza pipeline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920960" cy="2158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English Dependency Parsing — Example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816103"/>
            <a:ext cx="17399003" cy="1159259"/>
            <a:chOff x="0" y="0"/>
            <a:chExt cx="23198671" cy="15456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31647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985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1528699"/>
                  </a:lnTo>
                  <a:cubicBezTo>
                    <a:pt x="23198582" y="1538097"/>
                    <a:pt x="23190963" y="1545590"/>
                    <a:pt x="231816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3181690" y="1511808"/>
                  </a:lnTo>
                  <a:lnTo>
                    <a:pt x="23181690" y="1528699"/>
                  </a:lnTo>
                  <a:lnTo>
                    <a:pt x="23164800" y="1528699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786257"/>
            <a:ext cx="16824960" cy="1133856"/>
            <a:chOff x="0" y="0"/>
            <a:chExt cx="22433280" cy="15118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4332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0D47A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Input: "Although it was raining heavily, Siri went to college because she had an exam."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0847" y="3139183"/>
            <a:ext cx="3121657" cy="689353"/>
            <a:chOff x="0" y="0"/>
            <a:chExt cx="4162209" cy="9191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3145536"/>
            <a:ext cx="3017520" cy="676656"/>
            <a:chOff x="0" y="0"/>
            <a:chExt cx="4023360" cy="9022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02336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59807" y="3139183"/>
            <a:ext cx="2207257" cy="689353"/>
            <a:chOff x="0" y="0"/>
            <a:chExt cx="2943009" cy="9191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509" y="8509"/>
              <a:ext cx="2926080" cy="902208"/>
            </a:xfrm>
            <a:custGeom>
              <a:avLst/>
              <a:gdLst/>
              <a:ahLst/>
              <a:cxnLst/>
              <a:rect r="r" b="b" t="t" l="l"/>
              <a:pathLst>
                <a:path h="902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43098" cy="919226"/>
            </a:xfrm>
            <a:custGeom>
              <a:avLst/>
              <a:gdLst/>
              <a:ahLst/>
              <a:cxnLst/>
              <a:rect r="r" b="b" t="t" l="l"/>
              <a:pathLst>
                <a:path h="919226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910717"/>
                  </a:lnTo>
                  <a:cubicBezTo>
                    <a:pt x="2943098" y="915416"/>
                    <a:pt x="2939288" y="919226"/>
                    <a:pt x="29345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934589" y="902208"/>
                  </a:lnTo>
                  <a:lnTo>
                    <a:pt x="2934589" y="910717"/>
                  </a:lnTo>
                  <a:lnTo>
                    <a:pt x="2926080" y="910717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657600" y="3145536"/>
            <a:ext cx="2103120" cy="676656"/>
            <a:chOff x="0" y="0"/>
            <a:chExt cx="2804160" cy="9022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80416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754367" y="3139183"/>
            <a:ext cx="3121657" cy="689353"/>
            <a:chOff x="0" y="0"/>
            <a:chExt cx="4162209" cy="9191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852160" y="3145536"/>
            <a:ext cx="3017520" cy="676656"/>
            <a:chOff x="0" y="0"/>
            <a:chExt cx="4023360" cy="9022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02336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Dependency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863327" y="3139183"/>
            <a:ext cx="3121657" cy="689353"/>
            <a:chOff x="0" y="0"/>
            <a:chExt cx="4162209" cy="91913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961120" y="3145536"/>
            <a:ext cx="3017520" cy="676656"/>
            <a:chOff x="0" y="0"/>
            <a:chExt cx="4023360" cy="9022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02336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50847" y="3815839"/>
            <a:ext cx="3121657" cy="689353"/>
            <a:chOff x="0" y="0"/>
            <a:chExt cx="4162209" cy="91913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48640" y="3822192"/>
            <a:ext cx="3017520" cy="676656"/>
            <a:chOff x="0" y="0"/>
            <a:chExt cx="4023360" cy="9022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Although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559807" y="3815839"/>
            <a:ext cx="2207257" cy="689353"/>
            <a:chOff x="0" y="0"/>
            <a:chExt cx="2943009" cy="91913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2926080" cy="902208"/>
            </a:xfrm>
            <a:custGeom>
              <a:avLst/>
              <a:gdLst/>
              <a:ahLst/>
              <a:cxnLst/>
              <a:rect r="r" b="b" t="t" l="l"/>
              <a:pathLst>
                <a:path h="902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43098" cy="919226"/>
            </a:xfrm>
            <a:custGeom>
              <a:avLst/>
              <a:gdLst/>
              <a:ahLst/>
              <a:cxnLst/>
              <a:rect r="r" b="b" t="t" l="l"/>
              <a:pathLst>
                <a:path h="919226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910717"/>
                  </a:lnTo>
                  <a:cubicBezTo>
                    <a:pt x="2943098" y="915416"/>
                    <a:pt x="2939288" y="919226"/>
                    <a:pt x="29345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934589" y="902208"/>
                  </a:lnTo>
                  <a:lnTo>
                    <a:pt x="2934589" y="910717"/>
                  </a:lnTo>
                  <a:lnTo>
                    <a:pt x="2926080" y="910717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3657600" y="3822192"/>
            <a:ext cx="2103120" cy="676656"/>
            <a:chOff x="0" y="0"/>
            <a:chExt cx="2804160" cy="9022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SCONJ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754367" y="3815839"/>
            <a:ext cx="3121657" cy="689353"/>
            <a:chOff x="0" y="0"/>
            <a:chExt cx="4162209" cy="91913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852160" y="3822192"/>
            <a:ext cx="3017520" cy="676656"/>
            <a:chOff x="0" y="0"/>
            <a:chExt cx="4023360" cy="9022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863327" y="3815839"/>
            <a:ext cx="3121657" cy="689353"/>
            <a:chOff x="0" y="0"/>
            <a:chExt cx="4162209" cy="91913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961120" y="3822192"/>
            <a:ext cx="3017520" cy="676656"/>
            <a:chOff x="0" y="0"/>
            <a:chExt cx="4023360" cy="90220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raining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50847" y="4492495"/>
            <a:ext cx="3121657" cy="689353"/>
            <a:chOff x="0" y="0"/>
            <a:chExt cx="4162209" cy="91913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48640" y="4498848"/>
            <a:ext cx="3017520" cy="676656"/>
            <a:chOff x="0" y="0"/>
            <a:chExt cx="4023360" cy="90220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Siri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3559807" y="4492495"/>
            <a:ext cx="2207257" cy="689353"/>
            <a:chOff x="0" y="0"/>
            <a:chExt cx="2943009" cy="91913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509" y="8509"/>
              <a:ext cx="2926080" cy="902208"/>
            </a:xfrm>
            <a:custGeom>
              <a:avLst/>
              <a:gdLst/>
              <a:ahLst/>
              <a:cxnLst/>
              <a:rect r="r" b="b" t="t" l="l"/>
              <a:pathLst>
                <a:path h="902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43098" cy="919226"/>
            </a:xfrm>
            <a:custGeom>
              <a:avLst/>
              <a:gdLst/>
              <a:ahLst/>
              <a:cxnLst/>
              <a:rect r="r" b="b" t="t" l="l"/>
              <a:pathLst>
                <a:path h="919226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910717"/>
                  </a:lnTo>
                  <a:cubicBezTo>
                    <a:pt x="2943098" y="915416"/>
                    <a:pt x="2939288" y="919226"/>
                    <a:pt x="29345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934589" y="902208"/>
                  </a:lnTo>
                  <a:lnTo>
                    <a:pt x="2934589" y="910717"/>
                  </a:lnTo>
                  <a:lnTo>
                    <a:pt x="2926080" y="910717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3657600" y="4498848"/>
            <a:ext cx="2103120" cy="676656"/>
            <a:chOff x="0" y="0"/>
            <a:chExt cx="2804160" cy="90220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754367" y="4492495"/>
            <a:ext cx="3121657" cy="689353"/>
            <a:chOff x="0" y="0"/>
            <a:chExt cx="4162209" cy="91913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852160" y="4498848"/>
            <a:ext cx="3017520" cy="676656"/>
            <a:chOff x="0" y="0"/>
            <a:chExt cx="4023360" cy="9022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nsubj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863327" y="4492495"/>
            <a:ext cx="3121657" cy="689353"/>
            <a:chOff x="0" y="0"/>
            <a:chExt cx="4162209" cy="91913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961120" y="4498848"/>
            <a:ext cx="3017520" cy="676656"/>
            <a:chOff x="0" y="0"/>
            <a:chExt cx="4023360" cy="90220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went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50847" y="5169151"/>
            <a:ext cx="3121657" cy="689353"/>
            <a:chOff x="0" y="0"/>
            <a:chExt cx="4162209" cy="91913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548640" y="5175504"/>
            <a:ext cx="3017520" cy="676656"/>
            <a:chOff x="0" y="0"/>
            <a:chExt cx="4023360" cy="90220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went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3559807" y="5169151"/>
            <a:ext cx="2207257" cy="689353"/>
            <a:chOff x="0" y="0"/>
            <a:chExt cx="2943009" cy="91913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8509" y="8509"/>
              <a:ext cx="2926080" cy="902208"/>
            </a:xfrm>
            <a:custGeom>
              <a:avLst/>
              <a:gdLst/>
              <a:ahLst/>
              <a:cxnLst/>
              <a:rect r="r" b="b" t="t" l="l"/>
              <a:pathLst>
                <a:path h="902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943098" cy="919226"/>
            </a:xfrm>
            <a:custGeom>
              <a:avLst/>
              <a:gdLst/>
              <a:ahLst/>
              <a:cxnLst/>
              <a:rect r="r" b="b" t="t" l="l"/>
              <a:pathLst>
                <a:path h="919226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910717"/>
                  </a:lnTo>
                  <a:cubicBezTo>
                    <a:pt x="2943098" y="915416"/>
                    <a:pt x="2939288" y="919226"/>
                    <a:pt x="29345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934589" y="902208"/>
                  </a:lnTo>
                  <a:lnTo>
                    <a:pt x="2934589" y="910717"/>
                  </a:lnTo>
                  <a:lnTo>
                    <a:pt x="2926080" y="910717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3657600" y="5175504"/>
            <a:ext cx="2103120" cy="676656"/>
            <a:chOff x="0" y="0"/>
            <a:chExt cx="2804160" cy="90220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VERB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754367" y="5169151"/>
            <a:ext cx="3121657" cy="689353"/>
            <a:chOff x="0" y="0"/>
            <a:chExt cx="4162209" cy="91913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9C4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852160" y="5175504"/>
            <a:ext cx="3017520" cy="676656"/>
            <a:chOff x="0" y="0"/>
            <a:chExt cx="4023360" cy="90220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7F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ROOT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8863327" y="5169151"/>
            <a:ext cx="3121657" cy="689353"/>
            <a:chOff x="0" y="0"/>
            <a:chExt cx="4162209" cy="91913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8961120" y="5175504"/>
            <a:ext cx="3017520" cy="676656"/>
            <a:chOff x="0" y="0"/>
            <a:chExt cx="4023360" cy="90220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went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50847" y="5845807"/>
            <a:ext cx="3121657" cy="689353"/>
            <a:chOff x="0" y="0"/>
            <a:chExt cx="4162209" cy="91913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48640" y="5852160"/>
            <a:ext cx="3017520" cy="676656"/>
            <a:chOff x="0" y="0"/>
            <a:chExt cx="4023360" cy="90220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3559807" y="5845807"/>
            <a:ext cx="2207257" cy="689353"/>
            <a:chOff x="0" y="0"/>
            <a:chExt cx="2943009" cy="91913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8509" y="8509"/>
              <a:ext cx="2926080" cy="902208"/>
            </a:xfrm>
            <a:custGeom>
              <a:avLst/>
              <a:gdLst/>
              <a:ahLst/>
              <a:cxnLst/>
              <a:rect r="r" b="b" t="t" l="l"/>
              <a:pathLst>
                <a:path h="902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943098" cy="919226"/>
            </a:xfrm>
            <a:custGeom>
              <a:avLst/>
              <a:gdLst/>
              <a:ahLst/>
              <a:cxnLst/>
              <a:rect r="r" b="b" t="t" l="l"/>
              <a:pathLst>
                <a:path h="919226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910717"/>
                  </a:lnTo>
                  <a:cubicBezTo>
                    <a:pt x="2943098" y="915416"/>
                    <a:pt x="2939288" y="919226"/>
                    <a:pt x="29345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934589" y="902208"/>
                  </a:lnTo>
                  <a:lnTo>
                    <a:pt x="2934589" y="910717"/>
                  </a:lnTo>
                  <a:lnTo>
                    <a:pt x="2926080" y="910717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3657600" y="5852160"/>
            <a:ext cx="2103120" cy="676656"/>
            <a:chOff x="0" y="0"/>
            <a:chExt cx="2804160" cy="90220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ADP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5754367" y="5845807"/>
            <a:ext cx="3121657" cy="689353"/>
            <a:chOff x="0" y="0"/>
            <a:chExt cx="4162209" cy="91913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852160" y="5852160"/>
            <a:ext cx="3017520" cy="676656"/>
            <a:chOff x="0" y="0"/>
            <a:chExt cx="4023360" cy="90220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case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8863327" y="5845807"/>
            <a:ext cx="3121657" cy="689353"/>
            <a:chOff x="0" y="0"/>
            <a:chExt cx="4162209" cy="919137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8961120" y="5852160"/>
            <a:ext cx="3017520" cy="676656"/>
            <a:chOff x="0" y="0"/>
            <a:chExt cx="4023360" cy="90220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450847" y="6522463"/>
            <a:ext cx="3121657" cy="689353"/>
            <a:chOff x="0" y="0"/>
            <a:chExt cx="4162209" cy="919137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548640" y="6528816"/>
            <a:ext cx="3017520" cy="676656"/>
            <a:chOff x="0" y="0"/>
            <a:chExt cx="4023360" cy="90220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3559807" y="6522463"/>
            <a:ext cx="2207257" cy="689353"/>
            <a:chOff x="0" y="0"/>
            <a:chExt cx="2943009" cy="919137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8509" y="8509"/>
              <a:ext cx="2926080" cy="902208"/>
            </a:xfrm>
            <a:custGeom>
              <a:avLst/>
              <a:gdLst/>
              <a:ahLst/>
              <a:cxnLst/>
              <a:rect r="r" b="b" t="t" l="l"/>
              <a:pathLst>
                <a:path h="902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943098" cy="919226"/>
            </a:xfrm>
            <a:custGeom>
              <a:avLst/>
              <a:gdLst/>
              <a:ahLst/>
              <a:cxnLst/>
              <a:rect r="r" b="b" t="t" l="l"/>
              <a:pathLst>
                <a:path h="919226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910717"/>
                  </a:lnTo>
                  <a:cubicBezTo>
                    <a:pt x="2943098" y="915416"/>
                    <a:pt x="2939288" y="919226"/>
                    <a:pt x="29345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934589" y="902208"/>
                  </a:lnTo>
                  <a:lnTo>
                    <a:pt x="2934589" y="910717"/>
                  </a:lnTo>
                  <a:lnTo>
                    <a:pt x="2926080" y="910717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3657600" y="6528816"/>
            <a:ext cx="2103120" cy="676656"/>
            <a:chOff x="0" y="0"/>
            <a:chExt cx="2804160" cy="90220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NOUN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5754367" y="6522463"/>
            <a:ext cx="3121657" cy="689353"/>
            <a:chOff x="0" y="0"/>
            <a:chExt cx="4162209" cy="919137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5852160" y="6528816"/>
            <a:ext cx="3017520" cy="676656"/>
            <a:chOff x="0" y="0"/>
            <a:chExt cx="4023360" cy="90220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obl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8863327" y="6522463"/>
            <a:ext cx="3121657" cy="689353"/>
            <a:chOff x="0" y="0"/>
            <a:chExt cx="4162209" cy="919137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8961120" y="6528816"/>
            <a:ext cx="3017520" cy="676656"/>
            <a:chOff x="0" y="0"/>
            <a:chExt cx="4023360" cy="90220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went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450847" y="7199119"/>
            <a:ext cx="3121657" cy="689353"/>
            <a:chOff x="0" y="0"/>
            <a:chExt cx="4162209" cy="91913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548640" y="7205472"/>
            <a:ext cx="3017520" cy="676656"/>
            <a:chOff x="0" y="0"/>
            <a:chExt cx="4023360" cy="90220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because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3559807" y="7199119"/>
            <a:ext cx="2207257" cy="689353"/>
            <a:chOff x="0" y="0"/>
            <a:chExt cx="2943009" cy="919137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8509" y="8509"/>
              <a:ext cx="2926080" cy="902208"/>
            </a:xfrm>
            <a:custGeom>
              <a:avLst/>
              <a:gdLst/>
              <a:ahLst/>
              <a:cxnLst/>
              <a:rect r="r" b="b" t="t" l="l"/>
              <a:pathLst>
                <a:path h="902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943098" cy="919226"/>
            </a:xfrm>
            <a:custGeom>
              <a:avLst/>
              <a:gdLst/>
              <a:ahLst/>
              <a:cxnLst/>
              <a:rect r="r" b="b" t="t" l="l"/>
              <a:pathLst>
                <a:path h="919226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910717"/>
                  </a:lnTo>
                  <a:cubicBezTo>
                    <a:pt x="2943098" y="915416"/>
                    <a:pt x="2939288" y="919226"/>
                    <a:pt x="29345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934589" y="902208"/>
                  </a:lnTo>
                  <a:lnTo>
                    <a:pt x="2934589" y="910717"/>
                  </a:lnTo>
                  <a:lnTo>
                    <a:pt x="2926080" y="910717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3657600" y="7205472"/>
            <a:ext cx="2103120" cy="676656"/>
            <a:chOff x="0" y="0"/>
            <a:chExt cx="2804160" cy="90220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SCONJ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5754367" y="7199119"/>
            <a:ext cx="3121657" cy="689353"/>
            <a:chOff x="0" y="0"/>
            <a:chExt cx="4162209" cy="919137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5852160" y="7205472"/>
            <a:ext cx="3017520" cy="676656"/>
            <a:chOff x="0" y="0"/>
            <a:chExt cx="4023360" cy="902208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8863327" y="7199119"/>
            <a:ext cx="3121657" cy="689353"/>
            <a:chOff x="0" y="0"/>
            <a:chExt cx="4162209" cy="919137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8961120" y="7205472"/>
            <a:ext cx="3017520" cy="676656"/>
            <a:chOff x="0" y="0"/>
            <a:chExt cx="4023360" cy="90220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had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450847" y="7875775"/>
            <a:ext cx="3121657" cy="689353"/>
            <a:chOff x="0" y="0"/>
            <a:chExt cx="4162209" cy="919137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548640" y="7882128"/>
            <a:ext cx="3017520" cy="676656"/>
            <a:chOff x="0" y="0"/>
            <a:chExt cx="4023360" cy="90220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3559807" y="7875775"/>
            <a:ext cx="2207257" cy="689353"/>
            <a:chOff x="0" y="0"/>
            <a:chExt cx="2943009" cy="919137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8509" y="8509"/>
              <a:ext cx="2926080" cy="902208"/>
            </a:xfrm>
            <a:custGeom>
              <a:avLst/>
              <a:gdLst/>
              <a:ahLst/>
              <a:cxnLst/>
              <a:rect r="r" b="b" t="t" l="l"/>
              <a:pathLst>
                <a:path h="902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2943098" cy="919226"/>
            </a:xfrm>
            <a:custGeom>
              <a:avLst/>
              <a:gdLst/>
              <a:ahLst/>
              <a:cxnLst/>
              <a:rect r="r" b="b" t="t" l="l"/>
              <a:pathLst>
                <a:path h="919226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910717"/>
                  </a:lnTo>
                  <a:cubicBezTo>
                    <a:pt x="2943098" y="915416"/>
                    <a:pt x="2939288" y="919226"/>
                    <a:pt x="29345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934589" y="902208"/>
                  </a:lnTo>
                  <a:lnTo>
                    <a:pt x="2934589" y="910717"/>
                  </a:lnTo>
                  <a:lnTo>
                    <a:pt x="2926080" y="910717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3657600" y="7882128"/>
            <a:ext cx="2103120" cy="676656"/>
            <a:chOff x="0" y="0"/>
            <a:chExt cx="2804160" cy="90220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PRON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754367" y="7875775"/>
            <a:ext cx="3121657" cy="689353"/>
            <a:chOff x="0" y="0"/>
            <a:chExt cx="4162209" cy="919137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5852160" y="7882128"/>
            <a:ext cx="3017520" cy="676656"/>
            <a:chOff x="0" y="0"/>
            <a:chExt cx="4023360" cy="902208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nsubj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8863327" y="7875775"/>
            <a:ext cx="3121657" cy="689353"/>
            <a:chOff x="0" y="0"/>
            <a:chExt cx="4162209" cy="919137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8961120" y="7882128"/>
            <a:ext cx="3017520" cy="676656"/>
            <a:chOff x="0" y="0"/>
            <a:chExt cx="4023360" cy="90220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had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450847" y="8552431"/>
            <a:ext cx="3121657" cy="689353"/>
            <a:chOff x="0" y="0"/>
            <a:chExt cx="4162209" cy="919137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548640" y="8558784"/>
            <a:ext cx="3017520" cy="676656"/>
            <a:chOff x="0" y="0"/>
            <a:chExt cx="4023360" cy="902208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had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3559807" y="8552431"/>
            <a:ext cx="2207257" cy="689353"/>
            <a:chOff x="0" y="0"/>
            <a:chExt cx="2943009" cy="919137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8509" y="8509"/>
              <a:ext cx="2926080" cy="902208"/>
            </a:xfrm>
            <a:custGeom>
              <a:avLst/>
              <a:gdLst/>
              <a:ahLst/>
              <a:cxnLst/>
              <a:rect r="r" b="b" t="t" l="l"/>
              <a:pathLst>
                <a:path h="902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2943098" cy="919226"/>
            </a:xfrm>
            <a:custGeom>
              <a:avLst/>
              <a:gdLst/>
              <a:ahLst/>
              <a:cxnLst/>
              <a:rect r="r" b="b" t="t" l="l"/>
              <a:pathLst>
                <a:path h="919226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910717"/>
                  </a:lnTo>
                  <a:cubicBezTo>
                    <a:pt x="2943098" y="915416"/>
                    <a:pt x="2939288" y="919226"/>
                    <a:pt x="29345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934589" y="902208"/>
                  </a:lnTo>
                  <a:lnTo>
                    <a:pt x="2934589" y="910717"/>
                  </a:lnTo>
                  <a:lnTo>
                    <a:pt x="2926080" y="910717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3657600" y="8558784"/>
            <a:ext cx="2103120" cy="676656"/>
            <a:chOff x="0" y="0"/>
            <a:chExt cx="2804160" cy="902208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VERB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5754367" y="8552431"/>
            <a:ext cx="3121657" cy="689353"/>
            <a:chOff x="0" y="0"/>
            <a:chExt cx="4162209" cy="919137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5852160" y="8558784"/>
            <a:ext cx="3017520" cy="676656"/>
            <a:chOff x="0" y="0"/>
            <a:chExt cx="4023360" cy="902208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advcl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8863327" y="8552431"/>
            <a:ext cx="3121657" cy="689353"/>
            <a:chOff x="0" y="0"/>
            <a:chExt cx="4162209" cy="919137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8961120" y="8558784"/>
            <a:ext cx="3017520" cy="676656"/>
            <a:chOff x="0" y="0"/>
            <a:chExt cx="4023360" cy="902208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went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450847" y="9229087"/>
            <a:ext cx="3121657" cy="689353"/>
            <a:chOff x="0" y="0"/>
            <a:chExt cx="4162209" cy="919137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548640" y="9235440"/>
            <a:ext cx="3017520" cy="676656"/>
            <a:chOff x="0" y="0"/>
            <a:chExt cx="4023360" cy="902208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3559807" y="9229087"/>
            <a:ext cx="2207257" cy="689353"/>
            <a:chOff x="0" y="0"/>
            <a:chExt cx="2943009" cy="919137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8509" y="8509"/>
              <a:ext cx="2926080" cy="902208"/>
            </a:xfrm>
            <a:custGeom>
              <a:avLst/>
              <a:gdLst/>
              <a:ahLst/>
              <a:cxnLst/>
              <a:rect r="r" b="b" t="t" l="l"/>
              <a:pathLst>
                <a:path h="902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2943098" cy="919226"/>
            </a:xfrm>
            <a:custGeom>
              <a:avLst/>
              <a:gdLst/>
              <a:ahLst/>
              <a:cxnLst/>
              <a:rect r="r" b="b" t="t" l="l"/>
              <a:pathLst>
                <a:path h="919226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910717"/>
                  </a:lnTo>
                  <a:cubicBezTo>
                    <a:pt x="2943098" y="915416"/>
                    <a:pt x="2939288" y="919226"/>
                    <a:pt x="29345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934589" y="902208"/>
                  </a:lnTo>
                  <a:lnTo>
                    <a:pt x="2934589" y="910717"/>
                  </a:lnTo>
                  <a:lnTo>
                    <a:pt x="2926080" y="910717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42" id="242"/>
          <p:cNvGrpSpPr/>
          <p:nvPr/>
        </p:nvGrpSpPr>
        <p:grpSpPr>
          <a:xfrm rot="0">
            <a:off x="3657600" y="9235440"/>
            <a:ext cx="2103120" cy="676656"/>
            <a:chOff x="0" y="0"/>
            <a:chExt cx="2804160" cy="902208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NOUN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5754367" y="9229087"/>
            <a:ext cx="3121657" cy="689353"/>
            <a:chOff x="0" y="0"/>
            <a:chExt cx="4162209" cy="91913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5852160" y="9235440"/>
            <a:ext cx="3017520" cy="676656"/>
            <a:chOff x="0" y="0"/>
            <a:chExt cx="4023360" cy="902208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</a:t>
              </a:r>
            </a:p>
          </p:txBody>
        </p:sp>
      </p:grpSp>
      <p:grpSp>
        <p:nvGrpSpPr>
          <p:cNvPr name="Group 251" id="251"/>
          <p:cNvGrpSpPr/>
          <p:nvPr/>
        </p:nvGrpSpPr>
        <p:grpSpPr>
          <a:xfrm rot="0">
            <a:off x="8863327" y="9229087"/>
            <a:ext cx="3121657" cy="689353"/>
            <a:chOff x="0" y="0"/>
            <a:chExt cx="4162209" cy="919137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8509" y="8509"/>
              <a:ext cx="4145280" cy="902208"/>
            </a:xfrm>
            <a:custGeom>
              <a:avLst/>
              <a:gdLst/>
              <a:ahLst/>
              <a:cxnLst/>
              <a:rect r="r" b="b" t="t" l="l"/>
              <a:pathLst>
                <a:path h="90220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4162298" cy="919226"/>
            </a:xfrm>
            <a:custGeom>
              <a:avLst/>
              <a:gdLst/>
              <a:ahLst/>
              <a:cxnLst/>
              <a:rect r="r" b="b" t="t" l="l"/>
              <a:pathLst>
                <a:path h="919226" w="4162298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910717"/>
                  </a:lnTo>
                  <a:cubicBezTo>
                    <a:pt x="4162298" y="915416"/>
                    <a:pt x="4158488" y="919226"/>
                    <a:pt x="415378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4153789" y="902208"/>
                  </a:lnTo>
                  <a:lnTo>
                    <a:pt x="4153789" y="910717"/>
                  </a:lnTo>
                  <a:lnTo>
                    <a:pt x="4145280" y="91071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54" id="254"/>
          <p:cNvGrpSpPr/>
          <p:nvPr/>
        </p:nvGrpSpPr>
        <p:grpSpPr>
          <a:xfrm rot="0">
            <a:off x="8961120" y="9235440"/>
            <a:ext cx="3017520" cy="676656"/>
            <a:chOff x="0" y="0"/>
            <a:chExt cx="4023360" cy="902208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4023360" cy="902208"/>
            </a:xfrm>
            <a:custGeom>
              <a:avLst/>
              <a:gdLst/>
              <a:ahLst/>
              <a:cxnLst/>
              <a:rect r="r" b="b" t="t" l="l"/>
              <a:pathLst>
                <a:path h="9022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" r="0" b="-36892"/>
              </a:stretch>
            </a:blipFill>
          </p:spPr>
        </p:sp>
        <p:sp>
          <p:nvSpPr>
            <p:cNvPr name="TextBox 256" id="256"/>
            <p:cNvSpPr txBox="true"/>
            <p:nvPr/>
          </p:nvSpPr>
          <p:spPr>
            <a:xfrm>
              <a:off x="0" y="-38100"/>
              <a:ext cx="40233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had</a:t>
              </a:r>
            </a:p>
          </p:txBody>
        </p:sp>
      </p:grpSp>
      <p:sp>
        <p:nvSpPr>
          <p:cNvPr name="TextBox 257" id="257"/>
          <p:cNvSpPr txBox="true"/>
          <p:nvPr/>
        </p:nvSpPr>
        <p:spPr>
          <a:xfrm rot="0">
            <a:off x="9621653" y="3541852"/>
            <a:ext cx="8936798" cy="434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3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went [ROOT]</a:t>
            </a:r>
          </a:p>
          <a:p>
            <a:pPr algn="ctr">
              <a:lnSpc>
                <a:spcPts val="4203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├── Siri [nsubj]</a:t>
            </a:r>
          </a:p>
          <a:p>
            <a:pPr algn="ctr">
              <a:lnSpc>
                <a:spcPts val="4203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├── college [obl]</a:t>
            </a:r>
          </a:p>
          <a:p>
            <a:pPr algn="ctr">
              <a:lnSpc>
                <a:spcPts val="4203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├── raining [advcl]</a:t>
            </a:r>
          </a:p>
          <a:p>
            <a:pPr algn="ctr">
              <a:lnSpc>
                <a:spcPts val="4203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│    └── Although [mark]</a:t>
            </a:r>
          </a:p>
          <a:p>
            <a:pPr algn="ctr">
              <a:lnSpc>
                <a:spcPts val="4203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└── had [advcl]</a:t>
            </a:r>
          </a:p>
          <a:p>
            <a:pPr algn="ctr">
              <a:lnSpc>
                <a:spcPts val="4203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├── she [nsubj]</a:t>
            </a:r>
          </a:p>
          <a:p>
            <a:pPr algn="ctr">
              <a:lnSpc>
                <a:spcPts val="4203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└── exam [obj]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920960" cy="2158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Hindi Dependency Parsing — Example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816103"/>
            <a:ext cx="17399003" cy="1214123"/>
            <a:chOff x="0" y="0"/>
            <a:chExt cx="23198671" cy="1618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316479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CE4E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985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1601851"/>
                  </a:lnTo>
                  <a:cubicBezTo>
                    <a:pt x="23198582" y="1611249"/>
                    <a:pt x="23190963" y="1618742"/>
                    <a:pt x="23181690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3181690" y="1584960"/>
                  </a:lnTo>
                  <a:lnTo>
                    <a:pt x="23181690" y="1601851"/>
                  </a:lnTo>
                  <a:lnTo>
                    <a:pt x="23164800" y="1601851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16824960" cy="1188720"/>
            <a:chOff x="0" y="0"/>
            <a:chExt cx="22433280" cy="1584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43328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880E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Input: "राम आम खाता है।"    (Raam aam khaata hai — "Ram eats mangoes.")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0847" y="3248911"/>
            <a:ext cx="2573017" cy="890521"/>
            <a:chOff x="0" y="0"/>
            <a:chExt cx="3430689" cy="11873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3413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3077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1178941"/>
                  </a:lnTo>
                  <a:cubicBezTo>
                    <a:pt x="3430778" y="1183640"/>
                    <a:pt x="3426968" y="1187450"/>
                    <a:pt x="342226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422269" y="1170432"/>
                  </a:lnTo>
                  <a:lnTo>
                    <a:pt x="3422269" y="1178941"/>
                  </a:lnTo>
                  <a:lnTo>
                    <a:pt x="3413760" y="1178941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3255264"/>
            <a:ext cx="2468880" cy="877824"/>
            <a:chOff x="0" y="0"/>
            <a:chExt cx="3291840" cy="11704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2918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Hindi Token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011167" y="3248911"/>
            <a:ext cx="2938777" cy="890521"/>
            <a:chOff x="0" y="0"/>
            <a:chExt cx="3918369" cy="11873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509" y="8509"/>
              <a:ext cx="3901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184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1178941"/>
                  </a:lnTo>
                  <a:cubicBezTo>
                    <a:pt x="3918458" y="1183640"/>
                    <a:pt x="3914648" y="1187450"/>
                    <a:pt x="39099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909949" y="1170432"/>
                  </a:lnTo>
                  <a:lnTo>
                    <a:pt x="3909949" y="1178941"/>
                  </a:lnTo>
                  <a:lnTo>
                    <a:pt x="3901440" y="1178941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08960" y="3255264"/>
            <a:ext cx="2834640" cy="877824"/>
            <a:chOff x="0" y="0"/>
            <a:chExt cx="3779520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7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0" r="0" b="-129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77952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Transliteration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937247" y="3248911"/>
            <a:ext cx="2024377" cy="890521"/>
            <a:chOff x="0" y="0"/>
            <a:chExt cx="2699169" cy="118736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8509"/>
              <a:ext cx="26822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992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1178941"/>
                  </a:lnTo>
                  <a:cubicBezTo>
                    <a:pt x="2699258" y="1183640"/>
                    <a:pt x="2695448" y="1187450"/>
                    <a:pt x="26907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2690749" y="1170432"/>
                  </a:lnTo>
                  <a:lnTo>
                    <a:pt x="2690749" y="1178941"/>
                  </a:lnTo>
                  <a:lnTo>
                    <a:pt x="2682240" y="1178941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035040" y="3255264"/>
            <a:ext cx="1920240" cy="877824"/>
            <a:chOff x="0" y="0"/>
            <a:chExt cx="2560320" cy="11704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56032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948927" y="3248911"/>
            <a:ext cx="2938777" cy="890521"/>
            <a:chOff x="0" y="0"/>
            <a:chExt cx="3918369" cy="118736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3901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184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1178941"/>
                  </a:lnTo>
                  <a:cubicBezTo>
                    <a:pt x="3918458" y="1183640"/>
                    <a:pt x="3914648" y="1187450"/>
                    <a:pt x="39099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909949" y="1170432"/>
                  </a:lnTo>
                  <a:lnTo>
                    <a:pt x="3909949" y="1178941"/>
                  </a:lnTo>
                  <a:lnTo>
                    <a:pt x="3901440" y="1178941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046720" y="3255264"/>
            <a:ext cx="2834640" cy="877824"/>
            <a:chOff x="0" y="0"/>
            <a:chExt cx="3779520" cy="11704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7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0" r="0" b="-1292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77952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Dependency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875007" y="3248911"/>
            <a:ext cx="2573017" cy="890521"/>
            <a:chOff x="0" y="0"/>
            <a:chExt cx="3430689" cy="118736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509" y="8509"/>
              <a:ext cx="3413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3077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1178941"/>
                  </a:lnTo>
                  <a:cubicBezTo>
                    <a:pt x="3430778" y="1183640"/>
                    <a:pt x="3426968" y="1187450"/>
                    <a:pt x="342226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422269" y="1170432"/>
                  </a:lnTo>
                  <a:lnTo>
                    <a:pt x="3422269" y="1178941"/>
                  </a:lnTo>
                  <a:lnTo>
                    <a:pt x="3413760" y="1178941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972800" y="3255264"/>
            <a:ext cx="2468880" cy="877824"/>
            <a:chOff x="0" y="0"/>
            <a:chExt cx="3291840" cy="11704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2918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50847" y="4126735"/>
            <a:ext cx="2573017" cy="890521"/>
            <a:chOff x="0" y="0"/>
            <a:chExt cx="3430689" cy="118736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3413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3077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1178941"/>
                  </a:lnTo>
                  <a:cubicBezTo>
                    <a:pt x="3430778" y="1183640"/>
                    <a:pt x="3426968" y="1187450"/>
                    <a:pt x="342226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422269" y="1170432"/>
                  </a:lnTo>
                  <a:lnTo>
                    <a:pt x="3422269" y="1178941"/>
                  </a:lnTo>
                  <a:lnTo>
                    <a:pt x="3413760" y="1178941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48640" y="4133088"/>
            <a:ext cx="2468880" cy="877824"/>
            <a:chOff x="0" y="0"/>
            <a:chExt cx="3291840" cy="11704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राम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011167" y="4126735"/>
            <a:ext cx="2938777" cy="890521"/>
            <a:chOff x="0" y="0"/>
            <a:chExt cx="3918369" cy="118736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3901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9184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1178941"/>
                  </a:lnTo>
                  <a:cubicBezTo>
                    <a:pt x="3918458" y="1183640"/>
                    <a:pt x="3914648" y="1187450"/>
                    <a:pt x="39099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909949" y="1170432"/>
                  </a:lnTo>
                  <a:lnTo>
                    <a:pt x="3909949" y="1178941"/>
                  </a:lnTo>
                  <a:lnTo>
                    <a:pt x="3901440" y="1178941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108960" y="4133088"/>
            <a:ext cx="2834640" cy="877824"/>
            <a:chOff x="0" y="0"/>
            <a:chExt cx="3779520" cy="117043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77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0" r="0" b="-1292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37795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Raam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937247" y="4126735"/>
            <a:ext cx="2024377" cy="890521"/>
            <a:chOff x="0" y="0"/>
            <a:chExt cx="2699169" cy="118736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8509" y="8509"/>
              <a:ext cx="26822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6992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1178941"/>
                  </a:lnTo>
                  <a:cubicBezTo>
                    <a:pt x="2699258" y="1183640"/>
                    <a:pt x="2695448" y="1187450"/>
                    <a:pt x="26907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2690749" y="1170432"/>
                  </a:lnTo>
                  <a:lnTo>
                    <a:pt x="2690749" y="1178941"/>
                  </a:lnTo>
                  <a:lnTo>
                    <a:pt x="2682240" y="1178941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035040" y="4133088"/>
            <a:ext cx="1920240" cy="877824"/>
            <a:chOff x="0" y="0"/>
            <a:chExt cx="2560320" cy="117043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603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5603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948927" y="4126735"/>
            <a:ext cx="2938777" cy="890521"/>
            <a:chOff x="0" y="0"/>
            <a:chExt cx="3918369" cy="118736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8509" y="8509"/>
              <a:ext cx="3901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9184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1178941"/>
                  </a:lnTo>
                  <a:cubicBezTo>
                    <a:pt x="3918458" y="1183640"/>
                    <a:pt x="3914648" y="1187450"/>
                    <a:pt x="39099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909949" y="1170432"/>
                  </a:lnTo>
                  <a:lnTo>
                    <a:pt x="3909949" y="1178941"/>
                  </a:lnTo>
                  <a:lnTo>
                    <a:pt x="3901440" y="1178941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046720" y="4133088"/>
            <a:ext cx="2834640" cy="877824"/>
            <a:chOff x="0" y="0"/>
            <a:chExt cx="3779520" cy="117043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77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0" r="0" b="-1292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37795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nsubj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875007" y="4126735"/>
            <a:ext cx="2573017" cy="890521"/>
            <a:chOff x="0" y="0"/>
            <a:chExt cx="3430689" cy="118736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509" y="8509"/>
              <a:ext cx="3413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3077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1178941"/>
                  </a:lnTo>
                  <a:cubicBezTo>
                    <a:pt x="3430778" y="1183640"/>
                    <a:pt x="3426968" y="1187450"/>
                    <a:pt x="342226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422269" y="1170432"/>
                  </a:lnTo>
                  <a:lnTo>
                    <a:pt x="3422269" y="1178941"/>
                  </a:lnTo>
                  <a:lnTo>
                    <a:pt x="3413760" y="1178941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972800" y="4133088"/>
            <a:ext cx="2468880" cy="877824"/>
            <a:chOff x="0" y="0"/>
            <a:chExt cx="3291840" cy="117043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खाता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50847" y="5004559"/>
            <a:ext cx="2573017" cy="890521"/>
            <a:chOff x="0" y="0"/>
            <a:chExt cx="3430689" cy="118736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8509" y="8509"/>
              <a:ext cx="3413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8F8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43077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1178941"/>
                  </a:lnTo>
                  <a:cubicBezTo>
                    <a:pt x="3430778" y="1183640"/>
                    <a:pt x="3426968" y="1187450"/>
                    <a:pt x="342226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422269" y="1170432"/>
                  </a:lnTo>
                  <a:lnTo>
                    <a:pt x="3422269" y="1178941"/>
                  </a:lnTo>
                  <a:lnTo>
                    <a:pt x="3413760" y="1178941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48640" y="5010912"/>
            <a:ext cx="2468880" cy="877824"/>
            <a:chOff x="0" y="0"/>
            <a:chExt cx="3291840" cy="117043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आम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3011167" y="5004559"/>
            <a:ext cx="2938777" cy="890521"/>
            <a:chOff x="0" y="0"/>
            <a:chExt cx="3918369" cy="118736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8509" y="8509"/>
              <a:ext cx="3901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8F8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9184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1178941"/>
                  </a:lnTo>
                  <a:cubicBezTo>
                    <a:pt x="3918458" y="1183640"/>
                    <a:pt x="3914648" y="1187450"/>
                    <a:pt x="39099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909949" y="1170432"/>
                  </a:lnTo>
                  <a:lnTo>
                    <a:pt x="3909949" y="1178941"/>
                  </a:lnTo>
                  <a:lnTo>
                    <a:pt x="3901440" y="1178941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3108960" y="5010912"/>
            <a:ext cx="2834640" cy="877824"/>
            <a:chOff x="0" y="0"/>
            <a:chExt cx="3779520" cy="117043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77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0" r="0" b="-1292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37795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aam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937247" y="5004559"/>
            <a:ext cx="2024377" cy="890521"/>
            <a:chOff x="0" y="0"/>
            <a:chExt cx="2699169" cy="118736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26822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8F8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6992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1178941"/>
                  </a:lnTo>
                  <a:cubicBezTo>
                    <a:pt x="2699258" y="1183640"/>
                    <a:pt x="2695448" y="1187450"/>
                    <a:pt x="26907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2690749" y="1170432"/>
                  </a:lnTo>
                  <a:lnTo>
                    <a:pt x="2690749" y="1178941"/>
                  </a:lnTo>
                  <a:lnTo>
                    <a:pt x="2682240" y="1178941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6035040" y="5010912"/>
            <a:ext cx="1920240" cy="877824"/>
            <a:chOff x="0" y="0"/>
            <a:chExt cx="2560320" cy="117043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603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25603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NOUN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948927" y="5004559"/>
            <a:ext cx="2938777" cy="890521"/>
            <a:chOff x="0" y="0"/>
            <a:chExt cx="3918369" cy="118736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8509" y="8509"/>
              <a:ext cx="3901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8F8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9184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1178941"/>
                  </a:lnTo>
                  <a:cubicBezTo>
                    <a:pt x="3918458" y="1183640"/>
                    <a:pt x="3914648" y="1187450"/>
                    <a:pt x="39099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909949" y="1170432"/>
                  </a:lnTo>
                  <a:lnTo>
                    <a:pt x="3909949" y="1178941"/>
                  </a:lnTo>
                  <a:lnTo>
                    <a:pt x="3901440" y="1178941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046720" y="5010912"/>
            <a:ext cx="2834640" cy="877824"/>
            <a:chOff x="0" y="0"/>
            <a:chExt cx="3779520" cy="117043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77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0" r="0" b="-1292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37795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875007" y="5004559"/>
            <a:ext cx="2573017" cy="890521"/>
            <a:chOff x="0" y="0"/>
            <a:chExt cx="3430689" cy="118736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8509" y="8509"/>
              <a:ext cx="3413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8F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43077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1178941"/>
                  </a:lnTo>
                  <a:cubicBezTo>
                    <a:pt x="3430778" y="1183640"/>
                    <a:pt x="3426968" y="1187450"/>
                    <a:pt x="342226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422269" y="1170432"/>
                  </a:lnTo>
                  <a:lnTo>
                    <a:pt x="3422269" y="1178941"/>
                  </a:lnTo>
                  <a:lnTo>
                    <a:pt x="3413760" y="1178941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972800" y="5010912"/>
            <a:ext cx="2468880" cy="877824"/>
            <a:chOff x="0" y="0"/>
            <a:chExt cx="3291840" cy="117043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खाता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50847" y="5882383"/>
            <a:ext cx="2573017" cy="890521"/>
            <a:chOff x="0" y="0"/>
            <a:chExt cx="3430689" cy="118736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3413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43077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1178941"/>
                  </a:lnTo>
                  <a:cubicBezTo>
                    <a:pt x="3430778" y="1183640"/>
                    <a:pt x="3426968" y="1187450"/>
                    <a:pt x="342226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422269" y="1170432"/>
                  </a:lnTo>
                  <a:lnTo>
                    <a:pt x="3422269" y="1178941"/>
                  </a:lnTo>
                  <a:lnTo>
                    <a:pt x="3413760" y="1178941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548640" y="5888736"/>
            <a:ext cx="2468880" cy="877824"/>
            <a:chOff x="0" y="0"/>
            <a:chExt cx="3291840" cy="117043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खाता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3011167" y="5882383"/>
            <a:ext cx="2938777" cy="890521"/>
            <a:chOff x="0" y="0"/>
            <a:chExt cx="3918369" cy="118736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8509" y="8509"/>
              <a:ext cx="3901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9184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1178941"/>
                  </a:lnTo>
                  <a:cubicBezTo>
                    <a:pt x="3918458" y="1183640"/>
                    <a:pt x="3914648" y="1187450"/>
                    <a:pt x="39099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909949" y="1170432"/>
                  </a:lnTo>
                  <a:lnTo>
                    <a:pt x="3909949" y="1178941"/>
                  </a:lnTo>
                  <a:lnTo>
                    <a:pt x="3901440" y="1178941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3108960" y="5888736"/>
            <a:ext cx="2834640" cy="877824"/>
            <a:chOff x="0" y="0"/>
            <a:chExt cx="3779520" cy="117043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77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0" r="0" b="-1292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37795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khaata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5937247" y="5882383"/>
            <a:ext cx="2024377" cy="890521"/>
            <a:chOff x="0" y="0"/>
            <a:chExt cx="2699169" cy="118736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8509" y="8509"/>
              <a:ext cx="26822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6992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1178941"/>
                  </a:lnTo>
                  <a:cubicBezTo>
                    <a:pt x="2699258" y="1183640"/>
                    <a:pt x="2695448" y="1187450"/>
                    <a:pt x="26907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2690749" y="1170432"/>
                  </a:lnTo>
                  <a:lnTo>
                    <a:pt x="2690749" y="1178941"/>
                  </a:lnTo>
                  <a:lnTo>
                    <a:pt x="2682240" y="1178941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035040" y="5888736"/>
            <a:ext cx="1920240" cy="877824"/>
            <a:chOff x="0" y="0"/>
            <a:chExt cx="2560320" cy="117043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5603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25603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VERB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7948927" y="5882383"/>
            <a:ext cx="2938777" cy="890521"/>
            <a:chOff x="0" y="0"/>
            <a:chExt cx="3918369" cy="118736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3901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9C4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9184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1178941"/>
                  </a:lnTo>
                  <a:cubicBezTo>
                    <a:pt x="3918458" y="1183640"/>
                    <a:pt x="3914648" y="1187450"/>
                    <a:pt x="39099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909949" y="1170432"/>
                  </a:lnTo>
                  <a:lnTo>
                    <a:pt x="3909949" y="1178941"/>
                  </a:lnTo>
                  <a:lnTo>
                    <a:pt x="3901440" y="1178941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8046720" y="5888736"/>
            <a:ext cx="2834640" cy="877824"/>
            <a:chOff x="0" y="0"/>
            <a:chExt cx="3779520" cy="117043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77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0" r="0" b="-1292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37795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7F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ROOT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875007" y="5882383"/>
            <a:ext cx="2573017" cy="890521"/>
            <a:chOff x="0" y="0"/>
            <a:chExt cx="3430689" cy="118736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8509" y="8509"/>
              <a:ext cx="3413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43077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1178941"/>
                  </a:lnTo>
                  <a:cubicBezTo>
                    <a:pt x="3430778" y="1183640"/>
                    <a:pt x="3426968" y="1187450"/>
                    <a:pt x="342226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422269" y="1170432"/>
                  </a:lnTo>
                  <a:lnTo>
                    <a:pt x="3422269" y="1178941"/>
                  </a:lnTo>
                  <a:lnTo>
                    <a:pt x="3413760" y="1178941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0972800" y="5888736"/>
            <a:ext cx="2468880" cy="877824"/>
            <a:chOff x="0" y="0"/>
            <a:chExt cx="3291840" cy="117043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खाता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450847" y="6760207"/>
            <a:ext cx="2573017" cy="890521"/>
            <a:chOff x="0" y="0"/>
            <a:chExt cx="3430689" cy="118736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8509" y="8509"/>
              <a:ext cx="3413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8F8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43077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1178941"/>
                  </a:lnTo>
                  <a:cubicBezTo>
                    <a:pt x="3430778" y="1183640"/>
                    <a:pt x="3426968" y="1187450"/>
                    <a:pt x="342226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422269" y="1170432"/>
                  </a:lnTo>
                  <a:lnTo>
                    <a:pt x="3422269" y="1178941"/>
                  </a:lnTo>
                  <a:lnTo>
                    <a:pt x="3413760" y="1178941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548640" y="6766560"/>
            <a:ext cx="2468880" cy="877824"/>
            <a:chOff x="0" y="0"/>
            <a:chExt cx="3291840" cy="117043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है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3011167" y="6760207"/>
            <a:ext cx="2938777" cy="890521"/>
            <a:chOff x="0" y="0"/>
            <a:chExt cx="3918369" cy="118736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8509" y="8509"/>
              <a:ext cx="3901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8F8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39184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1178941"/>
                  </a:lnTo>
                  <a:cubicBezTo>
                    <a:pt x="3918458" y="1183640"/>
                    <a:pt x="3914648" y="1187450"/>
                    <a:pt x="39099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909949" y="1170432"/>
                  </a:lnTo>
                  <a:lnTo>
                    <a:pt x="3909949" y="1178941"/>
                  </a:lnTo>
                  <a:lnTo>
                    <a:pt x="3901440" y="1178941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3108960" y="6766560"/>
            <a:ext cx="2834640" cy="877824"/>
            <a:chOff x="0" y="0"/>
            <a:chExt cx="3779520" cy="117043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77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0" r="0" b="-1292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47625"/>
              <a:ext cx="37795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hai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5937247" y="6760207"/>
            <a:ext cx="2024377" cy="890521"/>
            <a:chOff x="0" y="0"/>
            <a:chExt cx="2699169" cy="118736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8509" y="8509"/>
              <a:ext cx="26822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8F8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6992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1178941"/>
                  </a:lnTo>
                  <a:cubicBezTo>
                    <a:pt x="2699258" y="1183640"/>
                    <a:pt x="2695448" y="1187450"/>
                    <a:pt x="26907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2690749" y="1170432"/>
                  </a:lnTo>
                  <a:lnTo>
                    <a:pt x="2690749" y="1178941"/>
                  </a:lnTo>
                  <a:lnTo>
                    <a:pt x="2682240" y="1178941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6035040" y="6766560"/>
            <a:ext cx="1920240" cy="877824"/>
            <a:chOff x="0" y="0"/>
            <a:chExt cx="2560320" cy="117043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5603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25603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AUX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7948927" y="6760207"/>
            <a:ext cx="2938777" cy="890521"/>
            <a:chOff x="0" y="0"/>
            <a:chExt cx="3918369" cy="1187361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8509" y="8509"/>
              <a:ext cx="3901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8F8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391845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1178941"/>
                  </a:lnTo>
                  <a:cubicBezTo>
                    <a:pt x="3918458" y="1183640"/>
                    <a:pt x="3914648" y="1187450"/>
                    <a:pt x="390994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909949" y="1170432"/>
                  </a:lnTo>
                  <a:lnTo>
                    <a:pt x="3909949" y="1178941"/>
                  </a:lnTo>
                  <a:lnTo>
                    <a:pt x="3901440" y="1178941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8046720" y="6766560"/>
            <a:ext cx="2834640" cy="877824"/>
            <a:chOff x="0" y="0"/>
            <a:chExt cx="3779520" cy="117043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377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0" r="0" b="-1292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47625"/>
              <a:ext cx="37795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aux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0875007" y="6760207"/>
            <a:ext cx="2573017" cy="890521"/>
            <a:chOff x="0" y="0"/>
            <a:chExt cx="3430689" cy="118736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8509" y="8509"/>
              <a:ext cx="3413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8F8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3430778" cy="1187450"/>
            </a:xfrm>
            <a:custGeom>
              <a:avLst/>
              <a:gdLst/>
              <a:ahLst/>
              <a:cxnLst/>
              <a:rect r="r" b="b" t="t" l="l"/>
              <a:pathLst>
                <a:path h="1187450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1178941"/>
                  </a:lnTo>
                  <a:cubicBezTo>
                    <a:pt x="3430778" y="1183640"/>
                    <a:pt x="3426968" y="1187450"/>
                    <a:pt x="3422269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3422269" y="1170432"/>
                  </a:lnTo>
                  <a:lnTo>
                    <a:pt x="3422269" y="1178941"/>
                  </a:lnTo>
                  <a:lnTo>
                    <a:pt x="3413760" y="1178941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0972800" y="6766560"/>
            <a:ext cx="2468880" cy="877824"/>
            <a:chOff x="0" y="0"/>
            <a:chExt cx="3291840" cy="117043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खाता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3154663" y="3242567"/>
            <a:ext cx="4688843" cy="6389627"/>
            <a:chOff x="0" y="0"/>
            <a:chExt cx="6251791" cy="8519503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6217920" cy="8485632"/>
            </a:xfrm>
            <a:custGeom>
              <a:avLst/>
              <a:gdLst/>
              <a:ahLst/>
              <a:cxnLst/>
              <a:rect r="r" b="b" t="t" l="l"/>
              <a:pathLst>
                <a:path h="848563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485632"/>
                  </a:lnTo>
                  <a:lnTo>
                    <a:pt x="0" y="848563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6251702" cy="8519414"/>
            </a:xfrm>
            <a:custGeom>
              <a:avLst/>
              <a:gdLst/>
              <a:ahLst/>
              <a:cxnLst/>
              <a:rect r="r" b="b" t="t" l="l"/>
              <a:pathLst>
                <a:path h="8519414" w="6251702">
                  <a:moveTo>
                    <a:pt x="16891" y="0"/>
                  </a:moveTo>
                  <a:lnTo>
                    <a:pt x="6234811" y="0"/>
                  </a:lnTo>
                  <a:cubicBezTo>
                    <a:pt x="6244209" y="0"/>
                    <a:pt x="6251702" y="7620"/>
                    <a:pt x="6251702" y="16891"/>
                  </a:cubicBezTo>
                  <a:lnTo>
                    <a:pt x="6251702" y="8502523"/>
                  </a:lnTo>
                  <a:cubicBezTo>
                    <a:pt x="6251702" y="8511921"/>
                    <a:pt x="6244082" y="8519414"/>
                    <a:pt x="6234811" y="8519414"/>
                  </a:cubicBezTo>
                  <a:lnTo>
                    <a:pt x="16891" y="8519414"/>
                  </a:lnTo>
                  <a:cubicBezTo>
                    <a:pt x="7493" y="8519414"/>
                    <a:pt x="0" y="8511794"/>
                    <a:pt x="0" y="8502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02523"/>
                  </a:lnTo>
                  <a:lnTo>
                    <a:pt x="16891" y="8502523"/>
                  </a:lnTo>
                  <a:lnTo>
                    <a:pt x="16891" y="8485632"/>
                  </a:lnTo>
                  <a:lnTo>
                    <a:pt x="6234811" y="8485632"/>
                  </a:lnTo>
                  <a:lnTo>
                    <a:pt x="6234811" y="8502523"/>
                  </a:lnTo>
                  <a:lnTo>
                    <a:pt x="6217920" y="8502523"/>
                  </a:lnTo>
                  <a:lnTo>
                    <a:pt x="6217920" y="16891"/>
                  </a:lnTo>
                  <a:lnTo>
                    <a:pt x="6234811" y="16891"/>
                  </a:lnTo>
                  <a:lnTo>
                    <a:pt x="6234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258800" y="3438144"/>
            <a:ext cx="4480560" cy="694944"/>
            <a:chOff x="0" y="0"/>
            <a:chExt cx="5974080" cy="92659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5974080" cy="926592"/>
            </a:xfrm>
            <a:custGeom>
              <a:avLst/>
              <a:gdLst/>
              <a:ahLst/>
              <a:cxnLst/>
              <a:rect r="r" b="b" t="t" l="l"/>
              <a:pathLst>
                <a:path h="926592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27" r="0" b="-75627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47625"/>
              <a:ext cx="59740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Parse Result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3337543" y="4412999"/>
            <a:ext cx="4231643" cy="647195"/>
            <a:chOff x="0" y="0"/>
            <a:chExt cx="5642191" cy="862927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5608320" cy="829056"/>
            </a:xfrm>
            <a:custGeom>
              <a:avLst/>
              <a:gdLst/>
              <a:ahLst/>
              <a:cxnLst/>
              <a:rect r="r" b="b" t="t" l="l"/>
              <a:pathLst>
                <a:path h="829056" w="5608320">
                  <a:moveTo>
                    <a:pt x="0" y="121920"/>
                  </a:moveTo>
                  <a:cubicBezTo>
                    <a:pt x="0" y="54610"/>
                    <a:pt x="56515" y="0"/>
                    <a:pt x="126111" y="0"/>
                  </a:cubicBezTo>
                  <a:lnTo>
                    <a:pt x="5482209" y="0"/>
                  </a:lnTo>
                  <a:cubicBezTo>
                    <a:pt x="5551932" y="0"/>
                    <a:pt x="5608320" y="54610"/>
                    <a:pt x="5608320" y="121920"/>
                  </a:cubicBezTo>
                  <a:lnTo>
                    <a:pt x="5608320" y="707136"/>
                  </a:lnTo>
                  <a:cubicBezTo>
                    <a:pt x="5608320" y="774446"/>
                    <a:pt x="5551805" y="829056"/>
                    <a:pt x="5482209" y="829056"/>
                  </a:cubicBezTo>
                  <a:lnTo>
                    <a:pt x="126238" y="829056"/>
                  </a:lnTo>
                  <a:cubicBezTo>
                    <a:pt x="56515" y="829056"/>
                    <a:pt x="127" y="774446"/>
                    <a:pt x="127" y="707136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5642229" cy="862838"/>
            </a:xfrm>
            <a:custGeom>
              <a:avLst/>
              <a:gdLst/>
              <a:ahLst/>
              <a:cxnLst/>
              <a:rect r="r" b="b" t="t" l="l"/>
              <a:pathLst>
                <a:path h="862838" w="5642229">
                  <a:moveTo>
                    <a:pt x="0" y="138811"/>
                  </a:moveTo>
                  <a:cubicBezTo>
                    <a:pt x="0" y="61595"/>
                    <a:pt x="64643" y="0"/>
                    <a:pt x="143129" y="0"/>
                  </a:cubicBezTo>
                  <a:lnTo>
                    <a:pt x="5499100" y="0"/>
                  </a:lnTo>
                  <a:lnTo>
                    <a:pt x="5499100" y="16891"/>
                  </a:lnTo>
                  <a:lnTo>
                    <a:pt x="5499100" y="0"/>
                  </a:lnTo>
                  <a:cubicBezTo>
                    <a:pt x="5577586" y="0"/>
                    <a:pt x="5642229" y="61595"/>
                    <a:pt x="5642229" y="138811"/>
                  </a:cubicBezTo>
                  <a:lnTo>
                    <a:pt x="5625338" y="138811"/>
                  </a:lnTo>
                  <a:lnTo>
                    <a:pt x="5642229" y="138811"/>
                  </a:lnTo>
                  <a:lnTo>
                    <a:pt x="5642229" y="724027"/>
                  </a:lnTo>
                  <a:lnTo>
                    <a:pt x="5625338" y="724027"/>
                  </a:lnTo>
                  <a:lnTo>
                    <a:pt x="5642229" y="724027"/>
                  </a:lnTo>
                  <a:cubicBezTo>
                    <a:pt x="5642229" y="801243"/>
                    <a:pt x="5577586" y="862838"/>
                    <a:pt x="5499100" y="862838"/>
                  </a:cubicBezTo>
                  <a:lnTo>
                    <a:pt x="5499100" y="845947"/>
                  </a:lnTo>
                  <a:lnTo>
                    <a:pt x="5499100" y="862838"/>
                  </a:lnTo>
                  <a:lnTo>
                    <a:pt x="143129" y="862838"/>
                  </a:lnTo>
                  <a:lnTo>
                    <a:pt x="143129" y="845947"/>
                  </a:lnTo>
                  <a:lnTo>
                    <a:pt x="143129" y="862838"/>
                  </a:lnTo>
                  <a:cubicBezTo>
                    <a:pt x="64643" y="862965"/>
                    <a:pt x="0" y="801243"/>
                    <a:pt x="0" y="72402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24027"/>
                  </a:lnTo>
                  <a:lnTo>
                    <a:pt x="16891" y="724027"/>
                  </a:lnTo>
                  <a:lnTo>
                    <a:pt x="33909" y="724027"/>
                  </a:lnTo>
                  <a:cubicBezTo>
                    <a:pt x="33909" y="781431"/>
                    <a:pt x="82296" y="829056"/>
                    <a:pt x="143129" y="829056"/>
                  </a:cubicBezTo>
                  <a:lnTo>
                    <a:pt x="5499100" y="829056"/>
                  </a:lnTo>
                  <a:cubicBezTo>
                    <a:pt x="5559933" y="829056"/>
                    <a:pt x="5608320" y="781558"/>
                    <a:pt x="5608320" y="724027"/>
                  </a:cubicBezTo>
                  <a:lnTo>
                    <a:pt x="5608320" y="138811"/>
                  </a:lnTo>
                  <a:cubicBezTo>
                    <a:pt x="5608320" y="81407"/>
                    <a:pt x="5559933" y="33782"/>
                    <a:pt x="5499100" y="33782"/>
                  </a:cubicBezTo>
                  <a:lnTo>
                    <a:pt x="143129" y="33782"/>
                  </a:lnTo>
                  <a:lnTo>
                    <a:pt x="143129" y="16891"/>
                  </a:lnTo>
                  <a:lnTo>
                    <a:pt x="143129" y="33909"/>
                  </a:lnTo>
                  <a:cubicBezTo>
                    <a:pt x="82296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3337543" y="5382263"/>
            <a:ext cx="1854203" cy="647195"/>
            <a:chOff x="0" y="0"/>
            <a:chExt cx="2472271" cy="862927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6891" y="16891"/>
              <a:ext cx="2438527" cy="829056"/>
            </a:xfrm>
            <a:custGeom>
              <a:avLst/>
              <a:gdLst/>
              <a:ahLst/>
              <a:cxnLst/>
              <a:rect r="r" b="b" t="t" l="l"/>
              <a:pathLst>
                <a:path h="829056" w="2438527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2313305" y="0"/>
                  </a:lnTo>
                  <a:cubicBezTo>
                    <a:pt x="2382393" y="0"/>
                    <a:pt x="2438527" y="54610"/>
                    <a:pt x="2438527" y="121920"/>
                  </a:cubicBezTo>
                  <a:lnTo>
                    <a:pt x="2438527" y="707136"/>
                  </a:lnTo>
                  <a:cubicBezTo>
                    <a:pt x="2438527" y="774446"/>
                    <a:pt x="2382520" y="829056"/>
                    <a:pt x="2313305" y="829056"/>
                  </a:cubicBezTo>
                  <a:lnTo>
                    <a:pt x="125222" y="829056"/>
                  </a:lnTo>
                  <a:cubicBezTo>
                    <a:pt x="56134" y="829056"/>
                    <a:pt x="0" y="774446"/>
                    <a:pt x="0" y="707136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472309" cy="862838"/>
            </a:xfrm>
            <a:custGeom>
              <a:avLst/>
              <a:gdLst/>
              <a:ahLst/>
              <a:cxnLst/>
              <a:rect r="r" b="b" t="t" l="l"/>
              <a:pathLst>
                <a:path h="862838" w="2472309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2330196" y="0"/>
                  </a:lnTo>
                  <a:lnTo>
                    <a:pt x="2330196" y="16891"/>
                  </a:lnTo>
                  <a:lnTo>
                    <a:pt x="2330196" y="0"/>
                  </a:lnTo>
                  <a:cubicBezTo>
                    <a:pt x="2408301" y="0"/>
                    <a:pt x="2472309" y="61722"/>
                    <a:pt x="2472309" y="138811"/>
                  </a:cubicBezTo>
                  <a:lnTo>
                    <a:pt x="2455418" y="138811"/>
                  </a:lnTo>
                  <a:lnTo>
                    <a:pt x="2472309" y="138811"/>
                  </a:lnTo>
                  <a:lnTo>
                    <a:pt x="2472309" y="724027"/>
                  </a:lnTo>
                  <a:lnTo>
                    <a:pt x="2455418" y="724027"/>
                  </a:lnTo>
                  <a:lnTo>
                    <a:pt x="2472309" y="724027"/>
                  </a:lnTo>
                  <a:cubicBezTo>
                    <a:pt x="2472309" y="801116"/>
                    <a:pt x="2408301" y="862838"/>
                    <a:pt x="2330196" y="862838"/>
                  </a:cubicBezTo>
                  <a:lnTo>
                    <a:pt x="2330196" y="845947"/>
                  </a:lnTo>
                  <a:lnTo>
                    <a:pt x="2330196" y="862838"/>
                  </a:lnTo>
                  <a:lnTo>
                    <a:pt x="142113" y="862838"/>
                  </a:lnTo>
                  <a:lnTo>
                    <a:pt x="142113" y="845947"/>
                  </a:lnTo>
                  <a:lnTo>
                    <a:pt x="142113" y="862838"/>
                  </a:lnTo>
                  <a:cubicBezTo>
                    <a:pt x="64008" y="862965"/>
                    <a:pt x="0" y="801116"/>
                    <a:pt x="0" y="72402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24027"/>
                  </a:lnTo>
                  <a:lnTo>
                    <a:pt x="16891" y="724027"/>
                  </a:lnTo>
                  <a:lnTo>
                    <a:pt x="33909" y="724027"/>
                  </a:lnTo>
                  <a:cubicBezTo>
                    <a:pt x="33909" y="781558"/>
                    <a:pt x="81915" y="829056"/>
                    <a:pt x="142113" y="829056"/>
                  </a:cubicBezTo>
                  <a:lnTo>
                    <a:pt x="2330196" y="829056"/>
                  </a:lnTo>
                  <a:cubicBezTo>
                    <a:pt x="2390394" y="829056"/>
                    <a:pt x="2438400" y="781685"/>
                    <a:pt x="2438400" y="724027"/>
                  </a:cubicBezTo>
                  <a:lnTo>
                    <a:pt x="2438400" y="138811"/>
                  </a:lnTo>
                  <a:cubicBezTo>
                    <a:pt x="2438400" y="81280"/>
                    <a:pt x="2390394" y="33782"/>
                    <a:pt x="2330196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81C784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5532103" y="5382263"/>
            <a:ext cx="1854203" cy="647195"/>
            <a:chOff x="0" y="0"/>
            <a:chExt cx="2472271" cy="862927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6891" y="16891"/>
              <a:ext cx="2438527" cy="829056"/>
            </a:xfrm>
            <a:custGeom>
              <a:avLst/>
              <a:gdLst/>
              <a:ahLst/>
              <a:cxnLst/>
              <a:rect r="r" b="b" t="t" l="l"/>
              <a:pathLst>
                <a:path h="829056" w="2438527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2313305" y="0"/>
                  </a:lnTo>
                  <a:cubicBezTo>
                    <a:pt x="2382393" y="0"/>
                    <a:pt x="2438527" y="54610"/>
                    <a:pt x="2438527" y="121920"/>
                  </a:cubicBezTo>
                  <a:lnTo>
                    <a:pt x="2438527" y="707136"/>
                  </a:lnTo>
                  <a:cubicBezTo>
                    <a:pt x="2438527" y="774446"/>
                    <a:pt x="2382520" y="829056"/>
                    <a:pt x="2313305" y="829056"/>
                  </a:cubicBezTo>
                  <a:lnTo>
                    <a:pt x="125222" y="829056"/>
                  </a:lnTo>
                  <a:cubicBezTo>
                    <a:pt x="56134" y="829056"/>
                    <a:pt x="0" y="774446"/>
                    <a:pt x="0" y="707136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472309" cy="862838"/>
            </a:xfrm>
            <a:custGeom>
              <a:avLst/>
              <a:gdLst/>
              <a:ahLst/>
              <a:cxnLst/>
              <a:rect r="r" b="b" t="t" l="l"/>
              <a:pathLst>
                <a:path h="862838" w="2472309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2330196" y="0"/>
                  </a:lnTo>
                  <a:lnTo>
                    <a:pt x="2330196" y="16891"/>
                  </a:lnTo>
                  <a:lnTo>
                    <a:pt x="2330196" y="0"/>
                  </a:lnTo>
                  <a:cubicBezTo>
                    <a:pt x="2408301" y="0"/>
                    <a:pt x="2472309" y="61722"/>
                    <a:pt x="2472309" y="138811"/>
                  </a:cubicBezTo>
                  <a:lnTo>
                    <a:pt x="2455418" y="138811"/>
                  </a:lnTo>
                  <a:lnTo>
                    <a:pt x="2472309" y="138811"/>
                  </a:lnTo>
                  <a:lnTo>
                    <a:pt x="2472309" y="724027"/>
                  </a:lnTo>
                  <a:lnTo>
                    <a:pt x="2455418" y="724027"/>
                  </a:lnTo>
                  <a:lnTo>
                    <a:pt x="2472309" y="724027"/>
                  </a:lnTo>
                  <a:cubicBezTo>
                    <a:pt x="2472309" y="801116"/>
                    <a:pt x="2408301" y="862838"/>
                    <a:pt x="2330196" y="862838"/>
                  </a:cubicBezTo>
                  <a:lnTo>
                    <a:pt x="2330196" y="845947"/>
                  </a:lnTo>
                  <a:lnTo>
                    <a:pt x="2330196" y="862838"/>
                  </a:lnTo>
                  <a:lnTo>
                    <a:pt x="142113" y="862838"/>
                  </a:lnTo>
                  <a:lnTo>
                    <a:pt x="142113" y="845947"/>
                  </a:lnTo>
                  <a:lnTo>
                    <a:pt x="142113" y="862838"/>
                  </a:lnTo>
                  <a:cubicBezTo>
                    <a:pt x="64008" y="862965"/>
                    <a:pt x="0" y="801116"/>
                    <a:pt x="0" y="72402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24027"/>
                  </a:lnTo>
                  <a:lnTo>
                    <a:pt x="16891" y="724027"/>
                  </a:lnTo>
                  <a:lnTo>
                    <a:pt x="33909" y="724027"/>
                  </a:lnTo>
                  <a:cubicBezTo>
                    <a:pt x="33909" y="781558"/>
                    <a:pt x="81915" y="829056"/>
                    <a:pt x="142113" y="829056"/>
                  </a:cubicBezTo>
                  <a:lnTo>
                    <a:pt x="2330196" y="829056"/>
                  </a:lnTo>
                  <a:cubicBezTo>
                    <a:pt x="2390394" y="829056"/>
                    <a:pt x="2438400" y="781685"/>
                    <a:pt x="2438400" y="724027"/>
                  </a:cubicBezTo>
                  <a:lnTo>
                    <a:pt x="2438400" y="138811"/>
                  </a:lnTo>
                  <a:cubicBezTo>
                    <a:pt x="2438400" y="81280"/>
                    <a:pt x="2390394" y="33782"/>
                    <a:pt x="2330196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5532103" y="6333239"/>
            <a:ext cx="1854203" cy="647195"/>
            <a:chOff x="0" y="0"/>
            <a:chExt cx="2472271" cy="862927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16891" y="16891"/>
              <a:ext cx="2438527" cy="829056"/>
            </a:xfrm>
            <a:custGeom>
              <a:avLst/>
              <a:gdLst/>
              <a:ahLst/>
              <a:cxnLst/>
              <a:rect r="r" b="b" t="t" l="l"/>
              <a:pathLst>
                <a:path h="829056" w="2438527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2313305" y="0"/>
                  </a:lnTo>
                  <a:cubicBezTo>
                    <a:pt x="2382393" y="0"/>
                    <a:pt x="2438527" y="54610"/>
                    <a:pt x="2438527" y="121920"/>
                  </a:cubicBezTo>
                  <a:lnTo>
                    <a:pt x="2438527" y="707136"/>
                  </a:lnTo>
                  <a:cubicBezTo>
                    <a:pt x="2438527" y="774446"/>
                    <a:pt x="2382520" y="829056"/>
                    <a:pt x="2313305" y="829056"/>
                  </a:cubicBezTo>
                  <a:lnTo>
                    <a:pt x="125222" y="829056"/>
                  </a:lnTo>
                  <a:cubicBezTo>
                    <a:pt x="56134" y="829056"/>
                    <a:pt x="0" y="774446"/>
                    <a:pt x="0" y="707136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472309" cy="862838"/>
            </a:xfrm>
            <a:custGeom>
              <a:avLst/>
              <a:gdLst/>
              <a:ahLst/>
              <a:cxnLst/>
              <a:rect r="r" b="b" t="t" l="l"/>
              <a:pathLst>
                <a:path h="862838" w="2472309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2330196" y="0"/>
                  </a:lnTo>
                  <a:lnTo>
                    <a:pt x="2330196" y="16891"/>
                  </a:lnTo>
                  <a:lnTo>
                    <a:pt x="2330196" y="0"/>
                  </a:lnTo>
                  <a:cubicBezTo>
                    <a:pt x="2408301" y="0"/>
                    <a:pt x="2472309" y="61722"/>
                    <a:pt x="2472309" y="138811"/>
                  </a:cubicBezTo>
                  <a:lnTo>
                    <a:pt x="2455418" y="138811"/>
                  </a:lnTo>
                  <a:lnTo>
                    <a:pt x="2472309" y="138811"/>
                  </a:lnTo>
                  <a:lnTo>
                    <a:pt x="2472309" y="724027"/>
                  </a:lnTo>
                  <a:lnTo>
                    <a:pt x="2455418" y="724027"/>
                  </a:lnTo>
                  <a:lnTo>
                    <a:pt x="2472309" y="724027"/>
                  </a:lnTo>
                  <a:cubicBezTo>
                    <a:pt x="2472309" y="801116"/>
                    <a:pt x="2408301" y="862838"/>
                    <a:pt x="2330196" y="862838"/>
                  </a:cubicBezTo>
                  <a:lnTo>
                    <a:pt x="2330196" y="845947"/>
                  </a:lnTo>
                  <a:lnTo>
                    <a:pt x="2330196" y="862838"/>
                  </a:lnTo>
                  <a:lnTo>
                    <a:pt x="142113" y="862838"/>
                  </a:lnTo>
                  <a:lnTo>
                    <a:pt x="142113" y="845947"/>
                  </a:lnTo>
                  <a:lnTo>
                    <a:pt x="142113" y="862838"/>
                  </a:lnTo>
                  <a:cubicBezTo>
                    <a:pt x="64008" y="862965"/>
                    <a:pt x="0" y="801116"/>
                    <a:pt x="0" y="72402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24027"/>
                  </a:lnTo>
                  <a:lnTo>
                    <a:pt x="16891" y="724027"/>
                  </a:lnTo>
                  <a:lnTo>
                    <a:pt x="33909" y="724027"/>
                  </a:lnTo>
                  <a:cubicBezTo>
                    <a:pt x="33909" y="781558"/>
                    <a:pt x="81915" y="829056"/>
                    <a:pt x="142113" y="829056"/>
                  </a:cubicBezTo>
                  <a:lnTo>
                    <a:pt x="2330196" y="829056"/>
                  </a:lnTo>
                  <a:cubicBezTo>
                    <a:pt x="2390394" y="829056"/>
                    <a:pt x="2438400" y="781685"/>
                    <a:pt x="2438400" y="724027"/>
                  </a:cubicBezTo>
                  <a:lnTo>
                    <a:pt x="2438400" y="138811"/>
                  </a:lnTo>
                  <a:cubicBezTo>
                    <a:pt x="2438400" y="81280"/>
                    <a:pt x="2390394" y="33782"/>
                    <a:pt x="2330196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CE93D8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3386816" y="4425696"/>
            <a:ext cx="4206240" cy="621792"/>
            <a:chOff x="0" y="0"/>
            <a:chExt cx="5608320" cy="82905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5608320" cy="829056"/>
            </a:xfrm>
            <a:custGeom>
              <a:avLst/>
              <a:gdLst/>
              <a:ahLst/>
              <a:cxnLst/>
              <a:rect r="r" b="b" t="t" l="l"/>
              <a:pathLst>
                <a:path h="829056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10" r="0" b="-81810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560832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D5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खाता [ROOT]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3350240" y="5394960"/>
            <a:ext cx="1975104" cy="585216"/>
            <a:chOff x="0" y="0"/>
            <a:chExt cx="2633472" cy="78028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633472" cy="780288"/>
            </a:xfrm>
            <a:custGeom>
              <a:avLst/>
              <a:gdLst/>
              <a:ahLst/>
              <a:cxnLst/>
              <a:rect r="r" b="b" t="t" l="l"/>
              <a:pathLst>
                <a:path h="780288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62" r="0" b="-15762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263347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81C78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राम [nsubj]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5398496" y="5394960"/>
            <a:ext cx="1975104" cy="585216"/>
            <a:chOff x="0" y="0"/>
            <a:chExt cx="2633472" cy="780288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2633472" cy="780288"/>
            </a:xfrm>
            <a:custGeom>
              <a:avLst/>
              <a:gdLst/>
              <a:ahLst/>
              <a:cxnLst/>
              <a:rect r="r" b="b" t="t" l="l"/>
              <a:pathLst>
                <a:path h="780288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62" r="0" b="-15762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263347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90CA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आम [obj]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3350240" y="6345936"/>
            <a:ext cx="1975104" cy="585216"/>
            <a:chOff x="0" y="0"/>
            <a:chExt cx="2633472" cy="78028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633472" cy="780288"/>
            </a:xfrm>
            <a:custGeom>
              <a:avLst/>
              <a:gdLst/>
              <a:ahLst/>
              <a:cxnLst/>
              <a:rect r="r" b="b" t="t" l="l"/>
              <a:pathLst>
                <a:path h="780288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62" r="0" b="-15762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263347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CE93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है [aux]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3252447" y="7308847"/>
            <a:ext cx="4493257" cy="2024377"/>
            <a:chOff x="0" y="0"/>
            <a:chExt cx="5991009" cy="2699169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8509" y="8509"/>
              <a:ext cx="59740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5991098" cy="2699258"/>
            </a:xfrm>
            <a:custGeom>
              <a:avLst/>
              <a:gdLst/>
              <a:ahLst/>
              <a:cxnLst/>
              <a:rect r="r" b="b" t="t" l="l"/>
              <a:pathLst>
                <a:path h="2699258" w="5991098">
                  <a:moveTo>
                    <a:pt x="8509" y="0"/>
                  </a:moveTo>
                  <a:lnTo>
                    <a:pt x="5982589" y="0"/>
                  </a:lnTo>
                  <a:cubicBezTo>
                    <a:pt x="5987288" y="0"/>
                    <a:pt x="5991098" y="3810"/>
                    <a:pt x="5991098" y="8509"/>
                  </a:cubicBezTo>
                  <a:lnTo>
                    <a:pt x="5991098" y="2690749"/>
                  </a:lnTo>
                  <a:cubicBezTo>
                    <a:pt x="5991098" y="2695448"/>
                    <a:pt x="5987288" y="2699258"/>
                    <a:pt x="5982589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5982589" y="2682240"/>
                  </a:lnTo>
                  <a:lnTo>
                    <a:pt x="5982589" y="2690749"/>
                  </a:lnTo>
                  <a:lnTo>
                    <a:pt x="5974080" y="2690749"/>
                  </a:lnTo>
                  <a:lnTo>
                    <a:pt x="5974080" y="8509"/>
                  </a:lnTo>
                  <a:lnTo>
                    <a:pt x="5982589" y="8509"/>
                  </a:lnTo>
                  <a:lnTo>
                    <a:pt x="5982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3350240" y="7351776"/>
            <a:ext cx="4389120" cy="1920240"/>
            <a:chOff x="0" y="0"/>
            <a:chExt cx="5852160" cy="256032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58521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5852160" cy="259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Multilingual Success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Stanza stanza.Pipeline('hi')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successfully parsed Hindi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pretrained UD model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450847" y="9320527"/>
            <a:ext cx="12448537" cy="707641"/>
            <a:chOff x="0" y="0"/>
            <a:chExt cx="16598049" cy="943521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8509" y="8509"/>
              <a:ext cx="16581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16598137" cy="943610"/>
            </a:xfrm>
            <a:custGeom>
              <a:avLst/>
              <a:gdLst/>
              <a:ahLst/>
              <a:cxnLst/>
              <a:rect r="r" b="b" t="t" l="l"/>
              <a:pathLst>
                <a:path h="943610" w="16598137">
                  <a:moveTo>
                    <a:pt x="8509" y="0"/>
                  </a:moveTo>
                  <a:lnTo>
                    <a:pt x="16589629" y="0"/>
                  </a:lnTo>
                  <a:cubicBezTo>
                    <a:pt x="16594328" y="0"/>
                    <a:pt x="16598137" y="3810"/>
                    <a:pt x="16598137" y="8509"/>
                  </a:cubicBezTo>
                  <a:lnTo>
                    <a:pt x="16598137" y="935101"/>
                  </a:lnTo>
                  <a:cubicBezTo>
                    <a:pt x="16598137" y="939800"/>
                    <a:pt x="16594328" y="943610"/>
                    <a:pt x="1658962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16589629" y="926592"/>
                  </a:lnTo>
                  <a:lnTo>
                    <a:pt x="16589629" y="935101"/>
                  </a:lnTo>
                  <a:lnTo>
                    <a:pt x="16581120" y="935101"/>
                  </a:lnTo>
                  <a:lnTo>
                    <a:pt x="16581120" y="8509"/>
                  </a:lnTo>
                  <a:lnTo>
                    <a:pt x="16589629" y="8509"/>
                  </a:lnTo>
                  <a:lnTo>
                    <a:pt x="165896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731520" y="9326880"/>
            <a:ext cx="11887200" cy="694944"/>
            <a:chOff x="0" y="0"/>
            <a:chExt cx="15849600" cy="926592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15849600" cy="926592"/>
            </a:xfrm>
            <a:custGeom>
              <a:avLst/>
              <a:gdLst/>
              <a:ahLst/>
              <a:cxnLst/>
              <a:rect r="r" b="b" t="t" l="l"/>
              <a:pathLst>
                <a:path h="92659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296" r="0" b="-283296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47625"/>
              <a:ext cx="15849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5E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Hindi parsing successful — demonstrates multilingual NLP capability of the system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92096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Code Snippets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816103"/>
            <a:ext cx="8437883" cy="3865883"/>
            <a:chOff x="0" y="0"/>
            <a:chExt cx="11250511" cy="51545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5137531"/>
                  </a:lnTo>
                  <a:cubicBezTo>
                    <a:pt x="11250422" y="5146929"/>
                    <a:pt x="11242802" y="5154422"/>
                    <a:pt x="112335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233531" y="5120640"/>
                  </a:lnTo>
                  <a:lnTo>
                    <a:pt x="11233531" y="5137531"/>
                  </a:lnTo>
                  <a:lnTo>
                    <a:pt x="11216640" y="51375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3" y="1816103"/>
            <a:ext cx="8437883" cy="793499"/>
            <a:chOff x="0" y="0"/>
            <a:chExt cx="11250511" cy="10579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216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5042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41019"/>
                  </a:lnTo>
                  <a:cubicBezTo>
                    <a:pt x="11250422" y="1050417"/>
                    <a:pt x="11242802" y="1057910"/>
                    <a:pt x="1123353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233531" y="1024128"/>
                  </a:lnTo>
                  <a:lnTo>
                    <a:pt x="11233531" y="1041019"/>
                  </a:lnTo>
                  <a:lnTo>
                    <a:pt x="11216640" y="104101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76656" y="1828800"/>
            <a:ext cx="8193024" cy="768096"/>
            <a:chOff x="0" y="0"/>
            <a:chExt cx="10924032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240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240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Stanza Pipeline Initialization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76656" y="2705100"/>
            <a:ext cx="8083296" cy="281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import stanza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# English pipeline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nlp_en = stanza.Pipeline(lang='en')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# Hindi pipeline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nlp_hi = stanza.Pipeline(lang='hi')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05623" y="1816103"/>
            <a:ext cx="8437883" cy="3865883"/>
            <a:chOff x="0" y="0"/>
            <a:chExt cx="11250511" cy="51545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12166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504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5137531"/>
                  </a:lnTo>
                  <a:cubicBezTo>
                    <a:pt x="11250422" y="5146929"/>
                    <a:pt x="11242802" y="5154422"/>
                    <a:pt x="112335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233531" y="5120640"/>
                  </a:lnTo>
                  <a:lnTo>
                    <a:pt x="11233531" y="5137531"/>
                  </a:lnTo>
                  <a:lnTo>
                    <a:pt x="11216640" y="51375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405623" y="1816103"/>
            <a:ext cx="8437883" cy="793499"/>
            <a:chOff x="0" y="0"/>
            <a:chExt cx="11250511" cy="10579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1216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5042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41019"/>
                  </a:lnTo>
                  <a:cubicBezTo>
                    <a:pt x="11250422" y="1050417"/>
                    <a:pt x="11242802" y="1057910"/>
                    <a:pt x="1123353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233531" y="1024128"/>
                  </a:lnTo>
                  <a:lnTo>
                    <a:pt x="11233531" y="1041019"/>
                  </a:lnTo>
                  <a:lnTo>
                    <a:pt x="11216640" y="104101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37776" y="1828800"/>
            <a:ext cx="8193024" cy="768096"/>
            <a:chOff x="0" y="0"/>
            <a:chExt cx="10924032" cy="10241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240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240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parse_sentence() — Language Dispatcher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637776" y="2705100"/>
            <a:ext cx="8083296" cy="281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parse_sentence(text, lang='en'):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lang == 'hi':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nlp = nlp_hi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else: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nlp = nlp_en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doc = nlp(text)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extract_deps(doc)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44503" y="5930903"/>
            <a:ext cx="8437883" cy="3865883"/>
            <a:chOff x="0" y="0"/>
            <a:chExt cx="11250511" cy="51545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12166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504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5137531"/>
                  </a:lnTo>
                  <a:cubicBezTo>
                    <a:pt x="11250422" y="5146929"/>
                    <a:pt x="11242802" y="5154422"/>
                    <a:pt x="112335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233531" y="5120640"/>
                  </a:lnTo>
                  <a:lnTo>
                    <a:pt x="11233531" y="5137531"/>
                  </a:lnTo>
                  <a:lnTo>
                    <a:pt x="11216640" y="51375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44503" y="5930903"/>
            <a:ext cx="8437883" cy="793499"/>
            <a:chOff x="0" y="0"/>
            <a:chExt cx="11250511" cy="10579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1216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25042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41019"/>
                  </a:lnTo>
                  <a:cubicBezTo>
                    <a:pt x="11250422" y="1050417"/>
                    <a:pt x="11242802" y="1057910"/>
                    <a:pt x="1123353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233531" y="1024128"/>
                  </a:lnTo>
                  <a:lnTo>
                    <a:pt x="11233531" y="1041019"/>
                  </a:lnTo>
                  <a:lnTo>
                    <a:pt x="11216640" y="104101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76656" y="5943600"/>
            <a:ext cx="8193024" cy="768096"/>
            <a:chOff x="0" y="0"/>
            <a:chExt cx="10924032" cy="10241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240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240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Dependency Extraction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76656" y="6819900"/>
            <a:ext cx="8083296" cy="281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extract_deps(doc):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relations = []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for sent in doc.sentences: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for word in sent.words: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relations.append({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'word': word.text,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'dep': word.deprel,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'head': word.head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})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relations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405623" y="5930903"/>
            <a:ext cx="8437883" cy="3865883"/>
            <a:chOff x="0" y="0"/>
            <a:chExt cx="11250511" cy="51545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12166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504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5137531"/>
                  </a:lnTo>
                  <a:cubicBezTo>
                    <a:pt x="11250422" y="5146929"/>
                    <a:pt x="11242802" y="5154422"/>
                    <a:pt x="112335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233531" y="5120640"/>
                  </a:lnTo>
                  <a:lnTo>
                    <a:pt x="11233531" y="5137531"/>
                  </a:lnTo>
                  <a:lnTo>
                    <a:pt x="11216640" y="51375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405623" y="5930903"/>
            <a:ext cx="8437883" cy="793499"/>
            <a:chOff x="0" y="0"/>
            <a:chExt cx="11250511" cy="105799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1216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25042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41019"/>
                  </a:lnTo>
                  <a:cubicBezTo>
                    <a:pt x="11250422" y="1050417"/>
                    <a:pt x="11242802" y="1057910"/>
                    <a:pt x="1123353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233531" y="1024128"/>
                  </a:lnTo>
                  <a:lnTo>
                    <a:pt x="11233531" y="1041019"/>
                  </a:lnTo>
                  <a:lnTo>
                    <a:pt x="11216640" y="104101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37776" y="5943600"/>
            <a:ext cx="8193024" cy="768096"/>
            <a:chOff x="0" y="0"/>
            <a:chExt cx="10924032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240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240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Django View — render()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637776" y="6819900"/>
            <a:ext cx="8083296" cy="281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parse_view(request):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request.method == 'POST':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text = request.POST['text']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lang = request.POST['lang']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result = parse_sentence(text, lang)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render(request,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'result.html', {'deps': result})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92096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&amp; Output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12114" y="1780362"/>
            <a:ext cx="5515165" cy="6462210"/>
            <a:chOff x="0" y="0"/>
            <a:chExt cx="10001998" cy="117195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5017" y="39334"/>
              <a:ext cx="9971887" cy="11640631"/>
            </a:xfrm>
            <a:custGeom>
              <a:avLst/>
              <a:gdLst/>
              <a:ahLst/>
              <a:cxnLst/>
              <a:rect r="r" b="b" t="t" l="l"/>
              <a:pathLst>
                <a:path h="11640631" w="9971887">
                  <a:moveTo>
                    <a:pt x="0" y="0"/>
                  </a:moveTo>
                  <a:lnTo>
                    <a:pt x="9971887" y="0"/>
                  </a:lnTo>
                  <a:lnTo>
                    <a:pt x="9971887" y="11640631"/>
                  </a:lnTo>
                  <a:lnTo>
                    <a:pt x="0" y="11640631"/>
                  </a:lnTo>
                  <a:close/>
                </a:path>
              </a:pathLst>
            </a:custGeom>
            <a:blipFill>
              <a:blip r:embed="rId4"/>
              <a:stretch>
                <a:fillRect l="-1202" t="-337" r="-1209" b="7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01919" cy="11719300"/>
            </a:xfrm>
            <a:custGeom>
              <a:avLst/>
              <a:gdLst/>
              <a:ahLst/>
              <a:cxnLst/>
              <a:rect r="r" b="b" t="t" l="l"/>
              <a:pathLst>
                <a:path h="11719300" w="10001919">
                  <a:moveTo>
                    <a:pt x="15017" y="0"/>
                  </a:moveTo>
                  <a:lnTo>
                    <a:pt x="9986904" y="0"/>
                  </a:lnTo>
                  <a:cubicBezTo>
                    <a:pt x="9995258" y="0"/>
                    <a:pt x="10001919" y="17745"/>
                    <a:pt x="10001919" y="39334"/>
                  </a:cubicBezTo>
                  <a:lnTo>
                    <a:pt x="10001919" y="11679965"/>
                  </a:lnTo>
                  <a:cubicBezTo>
                    <a:pt x="10001919" y="11701851"/>
                    <a:pt x="9995145" y="11719300"/>
                    <a:pt x="9986904" y="11719300"/>
                  </a:cubicBezTo>
                  <a:lnTo>
                    <a:pt x="15017" y="11719300"/>
                  </a:lnTo>
                  <a:cubicBezTo>
                    <a:pt x="6661" y="11719300"/>
                    <a:pt x="0" y="11701555"/>
                    <a:pt x="0" y="11679965"/>
                  </a:cubicBezTo>
                  <a:lnTo>
                    <a:pt x="0" y="39334"/>
                  </a:lnTo>
                  <a:cubicBezTo>
                    <a:pt x="0" y="17745"/>
                    <a:pt x="6774" y="0"/>
                    <a:pt x="15017" y="0"/>
                  </a:cubicBezTo>
                  <a:moveTo>
                    <a:pt x="15017" y="78965"/>
                  </a:moveTo>
                  <a:lnTo>
                    <a:pt x="15017" y="39334"/>
                  </a:lnTo>
                  <a:lnTo>
                    <a:pt x="30146" y="39334"/>
                  </a:lnTo>
                  <a:lnTo>
                    <a:pt x="30146" y="11679965"/>
                  </a:lnTo>
                  <a:lnTo>
                    <a:pt x="15017" y="11679965"/>
                  </a:lnTo>
                  <a:lnTo>
                    <a:pt x="15017" y="11640631"/>
                  </a:lnTo>
                  <a:lnTo>
                    <a:pt x="9986904" y="11640631"/>
                  </a:lnTo>
                  <a:lnTo>
                    <a:pt x="9986904" y="11679965"/>
                  </a:lnTo>
                  <a:lnTo>
                    <a:pt x="9971887" y="11679965"/>
                  </a:lnTo>
                  <a:lnTo>
                    <a:pt x="9971887" y="39334"/>
                  </a:lnTo>
                  <a:lnTo>
                    <a:pt x="9986904" y="39334"/>
                  </a:lnTo>
                  <a:lnTo>
                    <a:pt x="9986904" y="78965"/>
                  </a:lnTo>
                  <a:lnTo>
                    <a:pt x="15017" y="78965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8705088"/>
            <a:ext cx="8046720" cy="512064"/>
            <a:chOff x="0" y="0"/>
            <a:chExt cx="1072896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728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English </a:t>
              </a: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Parse Output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3376" y="1664310"/>
            <a:ext cx="2980387" cy="7053734"/>
            <a:chOff x="0" y="0"/>
            <a:chExt cx="1291115" cy="30557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1115" cy="3055706"/>
            </a:xfrm>
            <a:custGeom>
              <a:avLst/>
              <a:gdLst/>
              <a:ahLst/>
              <a:cxnLst/>
              <a:rect r="r" b="b" t="t" l="l"/>
              <a:pathLst>
                <a:path h="3055706" w="1291115">
                  <a:moveTo>
                    <a:pt x="0" y="0"/>
                  </a:moveTo>
                  <a:lnTo>
                    <a:pt x="1291115" y="0"/>
                  </a:lnTo>
                  <a:lnTo>
                    <a:pt x="1291115" y="3055706"/>
                  </a:lnTo>
                  <a:lnTo>
                    <a:pt x="0" y="3055706"/>
                  </a:lnTo>
                  <a:close/>
                </a:path>
              </a:pathLst>
            </a:custGeom>
            <a:blipFill>
              <a:blip r:embed="rId5"/>
              <a:stretch>
                <a:fillRect l="-3152" t="0" r="-3152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1019711" y="2327835"/>
            <a:ext cx="6719649" cy="3641616"/>
          </a:xfrm>
          <a:custGeom>
            <a:avLst/>
            <a:gdLst/>
            <a:ahLst/>
            <a:cxnLst/>
            <a:rect r="r" b="b" t="t" l="l"/>
            <a:pathLst>
              <a:path h="3641616" w="6719649">
                <a:moveTo>
                  <a:pt x="0" y="0"/>
                </a:moveTo>
                <a:lnTo>
                  <a:pt x="6719649" y="0"/>
                </a:lnTo>
                <a:lnTo>
                  <a:pt x="6719649" y="3641616"/>
                </a:lnTo>
                <a:lnTo>
                  <a:pt x="0" y="3641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224422" y="6123030"/>
            <a:ext cx="8046720" cy="512064"/>
            <a:chOff x="0" y="0"/>
            <a:chExt cx="1072896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72351" r="-2278" b="-4723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728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Interface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77154" y="8746236"/>
            <a:ext cx="8046720" cy="512064"/>
            <a:chOff x="0" y="0"/>
            <a:chExt cx="1072896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72351" r="-2278" b="-47235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728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Hindi Parse Output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92096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Faced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816103"/>
            <a:ext cx="8437883" cy="2549147"/>
            <a:chOff x="0" y="0"/>
            <a:chExt cx="11250511" cy="33988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81883"/>
                  </a:lnTo>
                  <a:cubicBezTo>
                    <a:pt x="11250422" y="3391281"/>
                    <a:pt x="11242802" y="3398774"/>
                    <a:pt x="1123353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1233531" y="3364992"/>
                  </a:lnTo>
                  <a:lnTo>
                    <a:pt x="11233531" y="3381883"/>
                  </a:lnTo>
                  <a:lnTo>
                    <a:pt x="11216640" y="338188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3" y="1816103"/>
            <a:ext cx="1214123" cy="2549147"/>
            <a:chOff x="0" y="0"/>
            <a:chExt cx="1618831" cy="33988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58496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1874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3381883"/>
                  </a:lnTo>
                  <a:cubicBezTo>
                    <a:pt x="1618742" y="3391281"/>
                    <a:pt x="1611122" y="3398774"/>
                    <a:pt x="160185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601851" y="3364992"/>
                  </a:lnTo>
                  <a:lnTo>
                    <a:pt x="1601851" y="3381883"/>
                  </a:lnTo>
                  <a:lnTo>
                    <a:pt x="1584960" y="3381883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76656" y="2651760"/>
            <a:ext cx="731520" cy="731520"/>
            <a:chOff x="0" y="0"/>
            <a:chExt cx="975360" cy="97536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828800" y="2011680"/>
            <a:ext cx="6803136" cy="768096"/>
            <a:chOff x="0" y="0"/>
            <a:chExt cx="9070848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708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07084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Library Compatibility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828800" y="2796540"/>
            <a:ext cx="6803136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Version conflicts between Stanza, spaCy, and Django dependencies required careful environment management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69047" y="1816103"/>
            <a:ext cx="8437883" cy="2549147"/>
            <a:chOff x="0" y="0"/>
            <a:chExt cx="11250511" cy="33988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12166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5042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81883"/>
                  </a:lnTo>
                  <a:cubicBezTo>
                    <a:pt x="11250422" y="3391281"/>
                    <a:pt x="11242802" y="3398774"/>
                    <a:pt x="1123353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1233531" y="3364992"/>
                  </a:lnTo>
                  <a:lnTo>
                    <a:pt x="11233531" y="3381883"/>
                  </a:lnTo>
                  <a:lnTo>
                    <a:pt x="11216640" y="338188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369047" y="1816103"/>
            <a:ext cx="1214123" cy="2549147"/>
            <a:chOff x="0" y="0"/>
            <a:chExt cx="1618831" cy="33988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58496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1874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3381883"/>
                  </a:lnTo>
                  <a:cubicBezTo>
                    <a:pt x="1618742" y="3391281"/>
                    <a:pt x="1611122" y="3398774"/>
                    <a:pt x="160185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601851" y="3364992"/>
                  </a:lnTo>
                  <a:lnTo>
                    <a:pt x="1601851" y="3381883"/>
                  </a:lnTo>
                  <a:lnTo>
                    <a:pt x="1584960" y="3381883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01200" y="2651760"/>
            <a:ext cx="731520" cy="731520"/>
            <a:chOff x="0" y="0"/>
            <a:chExt cx="975360" cy="97536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753344" y="2011680"/>
            <a:ext cx="6803136" cy="768096"/>
            <a:chOff x="0" y="0"/>
            <a:chExt cx="9070848" cy="10241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708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07084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spaCy → Stanza Migration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753344" y="2796540"/>
            <a:ext cx="6803136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Refactoring the parse pipeline, output format, and API calls from spaCy to Stanza required significant rework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44503" y="4595879"/>
            <a:ext cx="8437883" cy="2549147"/>
            <a:chOff x="0" y="0"/>
            <a:chExt cx="11250511" cy="33988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12166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5042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81883"/>
                  </a:lnTo>
                  <a:cubicBezTo>
                    <a:pt x="11250422" y="3391281"/>
                    <a:pt x="11242802" y="3398774"/>
                    <a:pt x="1123353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1233531" y="3364992"/>
                  </a:lnTo>
                  <a:lnTo>
                    <a:pt x="11233531" y="3381883"/>
                  </a:lnTo>
                  <a:lnTo>
                    <a:pt x="11216640" y="338188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44503" y="4595879"/>
            <a:ext cx="1214123" cy="2549147"/>
            <a:chOff x="0" y="0"/>
            <a:chExt cx="1618831" cy="33988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58496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1874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3381883"/>
                  </a:lnTo>
                  <a:cubicBezTo>
                    <a:pt x="1618742" y="3391281"/>
                    <a:pt x="1611122" y="3398774"/>
                    <a:pt x="160185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601851" y="3364992"/>
                  </a:lnTo>
                  <a:lnTo>
                    <a:pt x="1601851" y="3381883"/>
                  </a:lnTo>
                  <a:lnTo>
                    <a:pt x="1584960" y="3381883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76656" y="5431536"/>
            <a:ext cx="731520" cy="731520"/>
            <a:chOff x="0" y="0"/>
            <a:chExt cx="975360" cy="97536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828800" y="4791456"/>
            <a:ext cx="6803136" cy="768096"/>
            <a:chOff x="0" y="0"/>
            <a:chExt cx="9070848" cy="10241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708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07084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Multilingual Integration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828800" y="5576316"/>
            <a:ext cx="6803136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Loading and managing two separate language pipelines (en + hi) within a single Django application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369047" y="4595879"/>
            <a:ext cx="8437883" cy="2549147"/>
            <a:chOff x="0" y="0"/>
            <a:chExt cx="11250511" cy="339886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12166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5042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81883"/>
                  </a:lnTo>
                  <a:cubicBezTo>
                    <a:pt x="11250422" y="3391281"/>
                    <a:pt x="11242802" y="3398774"/>
                    <a:pt x="1123353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1233531" y="3364992"/>
                  </a:lnTo>
                  <a:lnTo>
                    <a:pt x="11233531" y="3381883"/>
                  </a:lnTo>
                  <a:lnTo>
                    <a:pt x="11216640" y="338188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369047" y="4595879"/>
            <a:ext cx="1214123" cy="2549147"/>
            <a:chOff x="0" y="0"/>
            <a:chExt cx="1618831" cy="33988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58496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1874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3381883"/>
                  </a:lnTo>
                  <a:cubicBezTo>
                    <a:pt x="1618742" y="3391281"/>
                    <a:pt x="1611122" y="3398774"/>
                    <a:pt x="160185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601851" y="3364992"/>
                  </a:lnTo>
                  <a:lnTo>
                    <a:pt x="1601851" y="3381883"/>
                  </a:lnTo>
                  <a:lnTo>
                    <a:pt x="1584960" y="3381883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01200" y="5431536"/>
            <a:ext cx="731520" cy="731520"/>
            <a:chOff x="0" y="0"/>
            <a:chExt cx="975360" cy="97536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753344" y="4791456"/>
            <a:ext cx="6803136" cy="768096"/>
            <a:chOff x="0" y="0"/>
            <a:chExt cx="9070848" cy="102412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0708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07084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Django Debugging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0753344" y="5576316"/>
            <a:ext cx="6803136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Tracing issues in request handling, template rendering, and backend-frontend data passing during development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444503" y="7375655"/>
            <a:ext cx="8437883" cy="2549147"/>
            <a:chOff x="0" y="0"/>
            <a:chExt cx="11250511" cy="33988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12166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25042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81883"/>
                  </a:lnTo>
                  <a:cubicBezTo>
                    <a:pt x="11250422" y="3391281"/>
                    <a:pt x="11242802" y="3398774"/>
                    <a:pt x="1123353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1233531" y="3364992"/>
                  </a:lnTo>
                  <a:lnTo>
                    <a:pt x="11233531" y="3381883"/>
                  </a:lnTo>
                  <a:lnTo>
                    <a:pt x="11216640" y="338188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44503" y="7375655"/>
            <a:ext cx="1214123" cy="2549147"/>
            <a:chOff x="0" y="0"/>
            <a:chExt cx="1618831" cy="33988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58496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00838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61874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3381883"/>
                  </a:lnTo>
                  <a:cubicBezTo>
                    <a:pt x="1618742" y="3391281"/>
                    <a:pt x="1611122" y="3398774"/>
                    <a:pt x="160185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601851" y="3364992"/>
                  </a:lnTo>
                  <a:lnTo>
                    <a:pt x="1601851" y="3381883"/>
                  </a:lnTo>
                  <a:lnTo>
                    <a:pt x="1584960" y="3381883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38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76656" y="8211312"/>
            <a:ext cx="731520" cy="731520"/>
            <a:chOff x="0" y="0"/>
            <a:chExt cx="975360" cy="975360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828800" y="7571232"/>
            <a:ext cx="6803136" cy="768096"/>
            <a:chOff x="0" y="0"/>
            <a:chExt cx="9070848" cy="102412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0708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907084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Dependency Tree Generation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828800" y="8356092"/>
            <a:ext cx="6803136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Structuring and rendering hierarchical dependency trees from flat token-level Stanza output in the browser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369047" y="7375655"/>
            <a:ext cx="8437883" cy="2549147"/>
            <a:chOff x="0" y="0"/>
            <a:chExt cx="11250511" cy="339886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12166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25042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81883"/>
                  </a:lnTo>
                  <a:cubicBezTo>
                    <a:pt x="11250422" y="3391281"/>
                    <a:pt x="11242802" y="3398774"/>
                    <a:pt x="1123353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1233531" y="3364992"/>
                  </a:lnTo>
                  <a:lnTo>
                    <a:pt x="11233531" y="3381883"/>
                  </a:lnTo>
                  <a:lnTo>
                    <a:pt x="11216640" y="338188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369047" y="7375655"/>
            <a:ext cx="1214123" cy="2549147"/>
            <a:chOff x="0" y="0"/>
            <a:chExt cx="1618831" cy="339886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584960" cy="3364992"/>
            </a:xfrm>
            <a:custGeom>
              <a:avLst/>
              <a:gdLst/>
              <a:ahLst/>
              <a:cxnLst/>
              <a:rect r="r" b="b" t="t" l="l"/>
              <a:pathLst>
                <a:path h="336499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618742" cy="3398774"/>
            </a:xfrm>
            <a:custGeom>
              <a:avLst/>
              <a:gdLst/>
              <a:ahLst/>
              <a:cxnLst/>
              <a:rect r="r" b="b" t="t" l="l"/>
              <a:pathLst>
                <a:path h="3398774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3381883"/>
                  </a:lnTo>
                  <a:cubicBezTo>
                    <a:pt x="1618742" y="3391281"/>
                    <a:pt x="1611122" y="3398774"/>
                    <a:pt x="160185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601851" y="3364992"/>
                  </a:lnTo>
                  <a:lnTo>
                    <a:pt x="1601851" y="3381883"/>
                  </a:lnTo>
                  <a:lnTo>
                    <a:pt x="1584960" y="3381883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01200" y="8211312"/>
            <a:ext cx="731520" cy="731520"/>
            <a:chOff x="0" y="0"/>
            <a:chExt cx="975360" cy="975360"/>
          </a:xfrm>
        </p:grpSpPr>
        <p:sp>
          <p:nvSpPr>
            <p:cNvPr name="Freeform 78" id="78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753344" y="7571232"/>
            <a:ext cx="6803136" cy="768096"/>
            <a:chOff x="0" y="0"/>
            <a:chExt cx="9070848" cy="102412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0708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907084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Loading Delay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10753344" y="8356092"/>
            <a:ext cx="6803136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Stanza pretrained models take time to load at startup; managing this gracefully in a web context was a challenge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0"/>
            <a:ext cx="17190720" cy="1554480"/>
            <a:chOff x="0" y="0"/>
            <a:chExt cx="2292096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92096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816103"/>
            <a:ext cx="5603243" cy="3500123"/>
            <a:chOff x="0" y="0"/>
            <a:chExt cx="7470991" cy="4666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4371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70901" cy="4666742"/>
            </a:xfrm>
            <a:custGeom>
              <a:avLst/>
              <a:gdLst/>
              <a:ahLst/>
              <a:cxnLst/>
              <a:rect r="r" b="b" t="t" l="l"/>
              <a:pathLst>
                <a:path h="466674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649851"/>
                  </a:lnTo>
                  <a:cubicBezTo>
                    <a:pt x="7470901" y="4659249"/>
                    <a:pt x="7463282" y="4666742"/>
                    <a:pt x="74540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454011" y="4632960"/>
                  </a:lnTo>
                  <a:lnTo>
                    <a:pt x="7454011" y="4649851"/>
                  </a:lnTo>
                  <a:lnTo>
                    <a:pt x="7437120" y="464985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3" y="1816103"/>
            <a:ext cx="5603243" cy="153419"/>
            <a:chOff x="0" y="0"/>
            <a:chExt cx="7470991" cy="204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437120" cy="170688"/>
            </a:xfrm>
            <a:custGeom>
              <a:avLst/>
              <a:gdLst/>
              <a:ahLst/>
              <a:cxnLst/>
              <a:rect r="r" b="b" t="t" l="l"/>
              <a:pathLst>
                <a:path h="17068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70901" cy="204472"/>
            </a:xfrm>
            <a:custGeom>
              <a:avLst/>
              <a:gdLst/>
              <a:ahLst/>
              <a:cxnLst/>
              <a:rect r="r" b="b" t="t" l="l"/>
              <a:pathLst>
                <a:path h="20447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87579"/>
                  </a:lnTo>
                  <a:cubicBezTo>
                    <a:pt x="7470901" y="196977"/>
                    <a:pt x="7463282" y="204470"/>
                    <a:pt x="74540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454011" y="170688"/>
                  </a:lnTo>
                  <a:lnTo>
                    <a:pt x="7454011" y="187579"/>
                  </a:lnTo>
                  <a:lnTo>
                    <a:pt x="7437120" y="18757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63959" y="2090423"/>
            <a:ext cx="903227" cy="903227"/>
            <a:chOff x="0" y="0"/>
            <a:chExt cx="1204303" cy="12043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880E4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880E4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86384" y="2212848"/>
            <a:ext cx="658368" cy="658368"/>
            <a:chOff x="0" y="0"/>
            <a:chExt cx="877824" cy="877824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64208" y="2011680"/>
            <a:ext cx="822960" cy="548640"/>
            <a:chOff x="0" y="0"/>
            <a:chExt cx="109728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97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80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64208" y="2468880"/>
            <a:ext cx="4151376" cy="694944"/>
            <a:chOff x="0" y="0"/>
            <a:chExt cx="5535168" cy="926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35168" cy="926592"/>
            </a:xfrm>
            <a:custGeom>
              <a:avLst/>
              <a:gdLst/>
              <a:ahLst/>
              <a:cxnLst/>
              <a:rect r="r" b="b" t="t" l="l"/>
              <a:pathLst>
                <a:path h="926592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97" r="0" b="-6639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53516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More Indian Languages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76656" y="3290316"/>
            <a:ext cx="5175504" cy="18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Extend parsing support to Tamil, Telugu, Bengali, and other Stanza-supported Indic languages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333239" y="1816103"/>
            <a:ext cx="5603243" cy="3500123"/>
            <a:chOff x="0" y="0"/>
            <a:chExt cx="7470991" cy="46668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4371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70901" cy="4666742"/>
            </a:xfrm>
            <a:custGeom>
              <a:avLst/>
              <a:gdLst/>
              <a:ahLst/>
              <a:cxnLst/>
              <a:rect r="r" b="b" t="t" l="l"/>
              <a:pathLst>
                <a:path h="466674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649851"/>
                  </a:lnTo>
                  <a:cubicBezTo>
                    <a:pt x="7470901" y="4659249"/>
                    <a:pt x="7463282" y="4666742"/>
                    <a:pt x="74540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454011" y="4632960"/>
                  </a:lnTo>
                  <a:lnTo>
                    <a:pt x="7454011" y="4649851"/>
                  </a:lnTo>
                  <a:lnTo>
                    <a:pt x="7437120" y="464985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333239" y="1816103"/>
            <a:ext cx="5603243" cy="153419"/>
            <a:chOff x="0" y="0"/>
            <a:chExt cx="7470991" cy="2045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437120" cy="170688"/>
            </a:xfrm>
            <a:custGeom>
              <a:avLst/>
              <a:gdLst/>
              <a:ahLst/>
              <a:cxnLst/>
              <a:rect r="r" b="b" t="t" l="l"/>
              <a:pathLst>
                <a:path h="17068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70901" cy="204472"/>
            </a:xfrm>
            <a:custGeom>
              <a:avLst/>
              <a:gdLst/>
              <a:ahLst/>
              <a:cxnLst/>
              <a:rect r="r" b="b" t="t" l="l"/>
              <a:pathLst>
                <a:path h="20447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87579"/>
                  </a:lnTo>
                  <a:cubicBezTo>
                    <a:pt x="7470901" y="196977"/>
                    <a:pt x="7463282" y="204470"/>
                    <a:pt x="74540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454011" y="170688"/>
                  </a:lnTo>
                  <a:lnTo>
                    <a:pt x="7454011" y="187579"/>
                  </a:lnTo>
                  <a:lnTo>
                    <a:pt x="7437120" y="18757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52695" y="2090423"/>
            <a:ext cx="903227" cy="903227"/>
            <a:chOff x="0" y="0"/>
            <a:chExt cx="1204303" cy="120430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675120" y="2212848"/>
            <a:ext cx="658368" cy="658368"/>
            <a:chOff x="0" y="0"/>
            <a:chExt cx="877824" cy="877824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552944" y="2011680"/>
            <a:ext cx="822960" cy="548640"/>
            <a:chOff x="0" y="0"/>
            <a:chExt cx="109728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97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552944" y="2468880"/>
            <a:ext cx="4151376" cy="694944"/>
            <a:chOff x="0" y="0"/>
            <a:chExt cx="5535168" cy="9265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35168" cy="926592"/>
            </a:xfrm>
            <a:custGeom>
              <a:avLst/>
              <a:gdLst/>
              <a:ahLst/>
              <a:cxnLst/>
              <a:rect r="r" b="b" t="t" l="l"/>
              <a:pathLst>
                <a:path h="926592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97" r="0" b="-663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53516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Interactive Dependency Trees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565392" y="3290316"/>
            <a:ext cx="5175504" cy="18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Add JavaScript-based interactive tree visualization for intuitive syntactic exploration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221975" y="1816103"/>
            <a:ext cx="5603243" cy="3500123"/>
            <a:chOff x="0" y="0"/>
            <a:chExt cx="7470991" cy="46668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74371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470901" cy="4666742"/>
            </a:xfrm>
            <a:custGeom>
              <a:avLst/>
              <a:gdLst/>
              <a:ahLst/>
              <a:cxnLst/>
              <a:rect r="r" b="b" t="t" l="l"/>
              <a:pathLst>
                <a:path h="466674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649851"/>
                  </a:lnTo>
                  <a:cubicBezTo>
                    <a:pt x="7470901" y="4659249"/>
                    <a:pt x="7463282" y="4666742"/>
                    <a:pt x="74540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454011" y="4632960"/>
                  </a:lnTo>
                  <a:lnTo>
                    <a:pt x="7454011" y="4649851"/>
                  </a:lnTo>
                  <a:lnTo>
                    <a:pt x="7437120" y="464985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221975" y="1816103"/>
            <a:ext cx="5603243" cy="153419"/>
            <a:chOff x="0" y="0"/>
            <a:chExt cx="7470991" cy="2045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437120" cy="170688"/>
            </a:xfrm>
            <a:custGeom>
              <a:avLst/>
              <a:gdLst/>
              <a:ahLst/>
              <a:cxnLst/>
              <a:rect r="r" b="b" t="t" l="l"/>
              <a:pathLst>
                <a:path h="17068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470901" cy="204472"/>
            </a:xfrm>
            <a:custGeom>
              <a:avLst/>
              <a:gdLst/>
              <a:ahLst/>
              <a:cxnLst/>
              <a:rect r="r" b="b" t="t" l="l"/>
              <a:pathLst>
                <a:path h="20447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87579"/>
                  </a:lnTo>
                  <a:cubicBezTo>
                    <a:pt x="7470901" y="196977"/>
                    <a:pt x="7463282" y="204470"/>
                    <a:pt x="74540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454011" y="170688"/>
                  </a:lnTo>
                  <a:lnTo>
                    <a:pt x="7454011" y="187579"/>
                  </a:lnTo>
                  <a:lnTo>
                    <a:pt x="7437120" y="18757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441431" y="2090423"/>
            <a:ext cx="903227" cy="903227"/>
            <a:chOff x="0" y="0"/>
            <a:chExt cx="1204303" cy="120430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563856" y="2212848"/>
            <a:ext cx="658368" cy="658368"/>
            <a:chOff x="0" y="0"/>
            <a:chExt cx="877824" cy="877824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441680" y="2011680"/>
            <a:ext cx="822960" cy="548640"/>
            <a:chOff x="0" y="0"/>
            <a:chExt cx="109728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97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7D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441680" y="2468880"/>
            <a:ext cx="4151376" cy="694944"/>
            <a:chOff x="0" y="0"/>
            <a:chExt cx="5535168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535168" cy="926592"/>
            </a:xfrm>
            <a:custGeom>
              <a:avLst/>
              <a:gdLst/>
              <a:ahLst/>
              <a:cxnLst/>
              <a:rect r="r" b="b" t="t" l="l"/>
              <a:pathLst>
                <a:path h="926592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97" r="0" b="-6639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553516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Improved Visualization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2454128" y="3290316"/>
            <a:ext cx="5175504" cy="18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Enhanced UI with color-coded dependency arcs, tooltips, and relationship legends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444503" y="5620007"/>
            <a:ext cx="8437883" cy="3500123"/>
            <a:chOff x="0" y="0"/>
            <a:chExt cx="11250511" cy="466683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121664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250422" cy="4666742"/>
            </a:xfrm>
            <a:custGeom>
              <a:avLst/>
              <a:gdLst/>
              <a:ahLst/>
              <a:cxnLst/>
              <a:rect r="r" b="b" t="t" l="l"/>
              <a:pathLst>
                <a:path h="466674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649851"/>
                  </a:lnTo>
                  <a:cubicBezTo>
                    <a:pt x="11250422" y="4659249"/>
                    <a:pt x="11242802" y="4666742"/>
                    <a:pt x="1123353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1233531" y="4632960"/>
                  </a:lnTo>
                  <a:lnTo>
                    <a:pt x="11233531" y="4649851"/>
                  </a:lnTo>
                  <a:lnTo>
                    <a:pt x="11216640" y="464985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44503" y="5620007"/>
            <a:ext cx="8437883" cy="153419"/>
            <a:chOff x="0" y="0"/>
            <a:chExt cx="11250511" cy="20455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1216640" cy="170688"/>
            </a:xfrm>
            <a:custGeom>
              <a:avLst/>
              <a:gdLst/>
              <a:ahLst/>
              <a:cxnLst/>
              <a:rect r="r" b="b" t="t" l="l"/>
              <a:pathLst>
                <a:path h="1706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250422" cy="204472"/>
            </a:xfrm>
            <a:custGeom>
              <a:avLst/>
              <a:gdLst/>
              <a:ahLst/>
              <a:cxnLst/>
              <a:rect r="r" b="b" t="t" l="l"/>
              <a:pathLst>
                <a:path h="20447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87579"/>
                  </a:lnTo>
                  <a:cubicBezTo>
                    <a:pt x="11250422" y="196977"/>
                    <a:pt x="11242802" y="204470"/>
                    <a:pt x="112335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233531" y="170688"/>
                  </a:lnTo>
                  <a:lnTo>
                    <a:pt x="11233531" y="187579"/>
                  </a:lnTo>
                  <a:lnTo>
                    <a:pt x="11216640" y="18757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63959" y="5894327"/>
            <a:ext cx="903227" cy="903227"/>
            <a:chOff x="0" y="0"/>
            <a:chExt cx="1204303" cy="120430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86384" y="6016752"/>
            <a:ext cx="658368" cy="658368"/>
            <a:chOff x="0" y="0"/>
            <a:chExt cx="877824" cy="877824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664208" y="5815584"/>
            <a:ext cx="822960" cy="548640"/>
            <a:chOff x="0" y="0"/>
            <a:chExt cx="109728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097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5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664208" y="6272784"/>
            <a:ext cx="6986016" cy="694944"/>
            <a:chOff x="0" y="0"/>
            <a:chExt cx="9314688" cy="9265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314688" cy="926592"/>
            </a:xfrm>
            <a:custGeom>
              <a:avLst/>
              <a:gdLst/>
              <a:ahLst/>
              <a:cxnLst/>
              <a:rect r="r" b="b" t="t" l="l"/>
              <a:pathLst>
                <a:path h="92659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875" r="0" b="-14587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931468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Chatbot Integration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676656" y="7094220"/>
            <a:ext cx="8010144" cy="18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Plug the parser into a conversational agent for intent analysis and entity relationship extraction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9369047" y="5620007"/>
            <a:ext cx="8437883" cy="3500123"/>
            <a:chOff x="0" y="0"/>
            <a:chExt cx="11250511" cy="466683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21664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250422" cy="4666742"/>
            </a:xfrm>
            <a:custGeom>
              <a:avLst/>
              <a:gdLst/>
              <a:ahLst/>
              <a:cxnLst/>
              <a:rect r="r" b="b" t="t" l="l"/>
              <a:pathLst>
                <a:path h="466674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649851"/>
                  </a:lnTo>
                  <a:cubicBezTo>
                    <a:pt x="11250422" y="4659249"/>
                    <a:pt x="11242802" y="4666742"/>
                    <a:pt x="1123353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1233531" y="4632960"/>
                  </a:lnTo>
                  <a:lnTo>
                    <a:pt x="11233531" y="4649851"/>
                  </a:lnTo>
                  <a:lnTo>
                    <a:pt x="11216640" y="464985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C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369047" y="5620007"/>
            <a:ext cx="8437883" cy="153419"/>
            <a:chOff x="0" y="0"/>
            <a:chExt cx="11250511" cy="20455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1216640" cy="170688"/>
            </a:xfrm>
            <a:custGeom>
              <a:avLst/>
              <a:gdLst/>
              <a:ahLst/>
              <a:cxnLst/>
              <a:rect r="r" b="b" t="t" l="l"/>
              <a:pathLst>
                <a:path h="1706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250422" cy="204472"/>
            </a:xfrm>
            <a:custGeom>
              <a:avLst/>
              <a:gdLst/>
              <a:ahLst/>
              <a:cxnLst/>
              <a:rect r="r" b="b" t="t" l="l"/>
              <a:pathLst>
                <a:path h="20447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87579"/>
                  </a:lnTo>
                  <a:cubicBezTo>
                    <a:pt x="11250422" y="196977"/>
                    <a:pt x="11242802" y="204470"/>
                    <a:pt x="112335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233531" y="170688"/>
                  </a:lnTo>
                  <a:lnTo>
                    <a:pt x="11233531" y="187579"/>
                  </a:lnTo>
                  <a:lnTo>
                    <a:pt x="11216640" y="18757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588503" y="5894327"/>
            <a:ext cx="903227" cy="903227"/>
            <a:chOff x="0" y="0"/>
            <a:chExt cx="1204303" cy="120430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710928" y="6016752"/>
            <a:ext cx="658368" cy="658368"/>
            <a:chOff x="0" y="0"/>
            <a:chExt cx="877824" cy="877824"/>
          </a:xfrm>
        </p:grpSpPr>
        <p:sp>
          <p:nvSpPr>
            <p:cNvPr name="Freeform 93" id="93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588752" y="5815584"/>
            <a:ext cx="822960" cy="548640"/>
            <a:chOff x="0" y="0"/>
            <a:chExt cx="1097280" cy="7315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097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A1B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588752" y="6272784"/>
            <a:ext cx="6986016" cy="694944"/>
            <a:chOff x="0" y="0"/>
            <a:chExt cx="9314688" cy="92659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314688" cy="926592"/>
            </a:xfrm>
            <a:custGeom>
              <a:avLst/>
              <a:gdLst/>
              <a:ahLst/>
              <a:cxnLst/>
              <a:rect r="r" b="b" t="t" l="l"/>
              <a:pathLst>
                <a:path h="92659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875" r="0" b="-14587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931468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Multilingual NLP Extensions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9601200" y="7094220"/>
            <a:ext cx="8010144" cy="18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Add NER, coreference resolution, and sentiment analysis in the same multilingual pipeline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402336"/>
            <a:ext cx="17190720" cy="1097280"/>
            <a:chOff x="0" y="0"/>
            <a:chExt cx="229209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265" r="0" b="-2552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292096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1523495"/>
            <a:ext cx="6426203" cy="98555"/>
            <a:chOff x="0" y="0"/>
            <a:chExt cx="856827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8534400" cy="97536"/>
            </a:xfrm>
            <a:custGeom>
              <a:avLst/>
              <a:gdLst/>
              <a:ahLst/>
              <a:cxnLst/>
              <a:rect r="r" b="b" t="t" l="l"/>
              <a:pathLst>
                <a:path h="97536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68182" cy="131320"/>
            </a:xfrm>
            <a:custGeom>
              <a:avLst/>
              <a:gdLst/>
              <a:ahLst/>
              <a:cxnLst/>
              <a:rect r="r" b="b" t="t" l="l"/>
              <a:pathLst>
                <a:path h="13132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14427"/>
                  </a:lnTo>
                  <a:cubicBezTo>
                    <a:pt x="8568182" y="123825"/>
                    <a:pt x="8560562" y="131318"/>
                    <a:pt x="85512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8551291" y="97536"/>
                  </a:lnTo>
                  <a:lnTo>
                    <a:pt x="8551291" y="114427"/>
                  </a:lnTo>
                  <a:lnTo>
                    <a:pt x="8534400" y="114427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44503" y="1907543"/>
            <a:ext cx="8437883" cy="2256539"/>
            <a:chOff x="0" y="0"/>
            <a:chExt cx="11250511" cy="30087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2974848"/>
            </a:xfrm>
            <a:custGeom>
              <a:avLst/>
              <a:gdLst/>
              <a:ahLst/>
              <a:cxnLst/>
              <a:rect r="r" b="b" t="t" l="l"/>
              <a:pathLst>
                <a:path h="297484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3008630"/>
            </a:xfrm>
            <a:custGeom>
              <a:avLst/>
              <a:gdLst/>
              <a:ahLst/>
              <a:cxnLst/>
              <a:rect r="r" b="b" t="t" l="l"/>
              <a:pathLst>
                <a:path h="300863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2991739"/>
                  </a:lnTo>
                  <a:cubicBezTo>
                    <a:pt x="11250422" y="3001137"/>
                    <a:pt x="11242802" y="3008630"/>
                    <a:pt x="1123353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1233531" y="2974848"/>
                  </a:lnTo>
                  <a:lnTo>
                    <a:pt x="11233531" y="2991739"/>
                  </a:lnTo>
                  <a:lnTo>
                    <a:pt x="11216640" y="299173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63959" y="2602487"/>
            <a:ext cx="830075" cy="830075"/>
            <a:chOff x="0" y="0"/>
            <a:chExt cx="1106767" cy="11067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86384" y="2724912"/>
            <a:ext cx="585216" cy="585216"/>
            <a:chOff x="0" y="0"/>
            <a:chExt cx="780288" cy="780288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45920" y="2103120"/>
            <a:ext cx="6986016" cy="1865376"/>
            <a:chOff x="0" y="0"/>
            <a:chExt cx="9314688" cy="24871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14688" cy="2487168"/>
            </a:xfrm>
            <a:custGeom>
              <a:avLst/>
              <a:gdLst/>
              <a:ahLst/>
              <a:cxnLst/>
              <a:rect r="r" b="b" t="t" l="l"/>
              <a:pathLst>
                <a:path h="24871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73" r="0" b="-2297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314688" cy="2534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Successfully implemented English and Hindi dependency parsing using Stanza NLP pretrained pipelines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69047" y="1907543"/>
            <a:ext cx="8437883" cy="2256539"/>
            <a:chOff x="0" y="0"/>
            <a:chExt cx="11250511" cy="30087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11216640" cy="2974848"/>
            </a:xfrm>
            <a:custGeom>
              <a:avLst/>
              <a:gdLst/>
              <a:ahLst/>
              <a:cxnLst/>
              <a:rect r="r" b="b" t="t" l="l"/>
              <a:pathLst>
                <a:path h="297484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50422" cy="3008630"/>
            </a:xfrm>
            <a:custGeom>
              <a:avLst/>
              <a:gdLst/>
              <a:ahLst/>
              <a:cxnLst/>
              <a:rect r="r" b="b" t="t" l="l"/>
              <a:pathLst>
                <a:path h="300863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2991739"/>
                  </a:lnTo>
                  <a:cubicBezTo>
                    <a:pt x="11250422" y="3001137"/>
                    <a:pt x="11242802" y="3008630"/>
                    <a:pt x="1123353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1233531" y="2974848"/>
                  </a:lnTo>
                  <a:lnTo>
                    <a:pt x="11233531" y="2991739"/>
                  </a:lnTo>
                  <a:lnTo>
                    <a:pt x="11216640" y="299173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88503" y="2602487"/>
            <a:ext cx="830075" cy="830075"/>
            <a:chOff x="0" y="0"/>
            <a:chExt cx="1106767" cy="11067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710928" y="2724912"/>
            <a:ext cx="585216" cy="585216"/>
            <a:chOff x="0" y="0"/>
            <a:chExt cx="780288" cy="780288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570464" y="2103120"/>
            <a:ext cx="6986016" cy="1865376"/>
            <a:chOff x="0" y="0"/>
            <a:chExt cx="9314688" cy="24871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14688" cy="2487168"/>
            </a:xfrm>
            <a:custGeom>
              <a:avLst/>
              <a:gdLst/>
              <a:ahLst/>
              <a:cxnLst/>
              <a:rect r="r" b="b" t="t" l="l"/>
              <a:pathLst>
                <a:path h="24871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73" r="0" b="-2297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314688" cy="2534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Delivered a working multilingual system supporting both English and Hindi from a single modular architecture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44503" y="4431287"/>
            <a:ext cx="8437883" cy="2256539"/>
            <a:chOff x="0" y="0"/>
            <a:chExt cx="11250511" cy="30087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11216640" cy="2974848"/>
            </a:xfrm>
            <a:custGeom>
              <a:avLst/>
              <a:gdLst/>
              <a:ahLst/>
              <a:cxnLst/>
              <a:rect r="r" b="b" t="t" l="l"/>
              <a:pathLst>
                <a:path h="297484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250422" cy="3008630"/>
            </a:xfrm>
            <a:custGeom>
              <a:avLst/>
              <a:gdLst/>
              <a:ahLst/>
              <a:cxnLst/>
              <a:rect r="r" b="b" t="t" l="l"/>
              <a:pathLst>
                <a:path h="300863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2991739"/>
                  </a:lnTo>
                  <a:cubicBezTo>
                    <a:pt x="11250422" y="3001137"/>
                    <a:pt x="11242802" y="3008630"/>
                    <a:pt x="1123353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1233531" y="2974848"/>
                  </a:lnTo>
                  <a:lnTo>
                    <a:pt x="11233531" y="2991739"/>
                  </a:lnTo>
                  <a:lnTo>
                    <a:pt x="11216640" y="299173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63959" y="5126231"/>
            <a:ext cx="830075" cy="830075"/>
            <a:chOff x="0" y="0"/>
            <a:chExt cx="1106767" cy="110676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86384" y="5248656"/>
            <a:ext cx="585216" cy="585216"/>
            <a:chOff x="0" y="0"/>
            <a:chExt cx="780288" cy="780288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5920" y="4626864"/>
            <a:ext cx="6986016" cy="1865376"/>
            <a:chOff x="0" y="0"/>
            <a:chExt cx="9314688" cy="24871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14688" cy="2487168"/>
            </a:xfrm>
            <a:custGeom>
              <a:avLst/>
              <a:gdLst/>
              <a:ahLst/>
              <a:cxnLst/>
              <a:rect r="r" b="b" t="t" l="l"/>
              <a:pathLst>
                <a:path h="24871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73" r="0" b="-2297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314688" cy="2534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Improved system quality by migrating from spaCy prototype to Stanza for richer linguistic and multilingual support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69047" y="4431287"/>
            <a:ext cx="8437883" cy="2256539"/>
            <a:chOff x="0" y="0"/>
            <a:chExt cx="11250511" cy="30087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1216640" cy="2974848"/>
            </a:xfrm>
            <a:custGeom>
              <a:avLst/>
              <a:gdLst/>
              <a:ahLst/>
              <a:cxnLst/>
              <a:rect r="r" b="b" t="t" l="l"/>
              <a:pathLst>
                <a:path h="297484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250422" cy="3008630"/>
            </a:xfrm>
            <a:custGeom>
              <a:avLst/>
              <a:gdLst/>
              <a:ahLst/>
              <a:cxnLst/>
              <a:rect r="r" b="b" t="t" l="l"/>
              <a:pathLst>
                <a:path h="300863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2991739"/>
                  </a:lnTo>
                  <a:cubicBezTo>
                    <a:pt x="11250422" y="3001137"/>
                    <a:pt x="11242802" y="3008630"/>
                    <a:pt x="1123353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1233531" y="2974848"/>
                  </a:lnTo>
                  <a:lnTo>
                    <a:pt x="11233531" y="2991739"/>
                  </a:lnTo>
                  <a:lnTo>
                    <a:pt x="11216640" y="299173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C27B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88503" y="5126231"/>
            <a:ext cx="830075" cy="830075"/>
            <a:chOff x="0" y="0"/>
            <a:chExt cx="1106767" cy="110676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9C27B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9C27B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10928" y="5248656"/>
            <a:ext cx="585216" cy="585216"/>
            <a:chOff x="0" y="0"/>
            <a:chExt cx="780288" cy="780288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570464" y="4626864"/>
            <a:ext cx="6986016" cy="1865376"/>
            <a:chOff x="0" y="0"/>
            <a:chExt cx="9314688" cy="24871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314688" cy="2487168"/>
            </a:xfrm>
            <a:custGeom>
              <a:avLst/>
              <a:gdLst/>
              <a:ahLst/>
              <a:cxnLst/>
              <a:rect r="r" b="b" t="t" l="l"/>
              <a:pathLst>
                <a:path h="24871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73" r="0" b="-2297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314688" cy="2534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Integrated the NLP backend with Django, enabling browser-based access to dependency parsing functionality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44503" y="6955031"/>
            <a:ext cx="8437883" cy="2256539"/>
            <a:chOff x="0" y="0"/>
            <a:chExt cx="11250511" cy="300871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1216640" cy="2974848"/>
            </a:xfrm>
            <a:custGeom>
              <a:avLst/>
              <a:gdLst/>
              <a:ahLst/>
              <a:cxnLst/>
              <a:rect r="r" b="b" t="t" l="l"/>
              <a:pathLst>
                <a:path h="297484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250422" cy="3008630"/>
            </a:xfrm>
            <a:custGeom>
              <a:avLst/>
              <a:gdLst/>
              <a:ahLst/>
              <a:cxnLst/>
              <a:rect r="r" b="b" t="t" l="l"/>
              <a:pathLst>
                <a:path h="300863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2991739"/>
                  </a:lnTo>
                  <a:cubicBezTo>
                    <a:pt x="11250422" y="3001137"/>
                    <a:pt x="11242802" y="3008630"/>
                    <a:pt x="1123353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1233531" y="2974848"/>
                  </a:lnTo>
                  <a:lnTo>
                    <a:pt x="11233531" y="2991739"/>
                  </a:lnTo>
                  <a:lnTo>
                    <a:pt x="11216640" y="299173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4336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63959" y="7649975"/>
            <a:ext cx="830075" cy="830075"/>
            <a:chOff x="0" y="0"/>
            <a:chExt cx="1106767" cy="110676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44336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F4433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786384" y="7772400"/>
            <a:ext cx="585216" cy="585216"/>
            <a:chOff x="0" y="0"/>
            <a:chExt cx="780288" cy="780288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645920" y="7150608"/>
            <a:ext cx="6986016" cy="1865376"/>
            <a:chOff x="0" y="0"/>
            <a:chExt cx="9314688" cy="24871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314688" cy="2487168"/>
            </a:xfrm>
            <a:custGeom>
              <a:avLst/>
              <a:gdLst/>
              <a:ahLst/>
              <a:cxnLst/>
              <a:rect r="r" b="b" t="t" l="l"/>
              <a:pathLst>
                <a:path h="24871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73" r="0" b="-2297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9314688" cy="2534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Demonstrated applicability to low-resource language NLP, demonstrating multilingual and low-resource language parsing capability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369047" y="6955031"/>
            <a:ext cx="8437883" cy="2256539"/>
            <a:chOff x="0" y="0"/>
            <a:chExt cx="11250511" cy="300871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11216640" cy="2974848"/>
            </a:xfrm>
            <a:custGeom>
              <a:avLst/>
              <a:gdLst/>
              <a:ahLst/>
              <a:cxnLst/>
              <a:rect r="r" b="b" t="t" l="l"/>
              <a:pathLst>
                <a:path h="297484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250422" cy="3008630"/>
            </a:xfrm>
            <a:custGeom>
              <a:avLst/>
              <a:gdLst/>
              <a:ahLst/>
              <a:cxnLst/>
              <a:rect r="r" b="b" t="t" l="l"/>
              <a:pathLst>
                <a:path h="300863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2991739"/>
                  </a:lnTo>
                  <a:cubicBezTo>
                    <a:pt x="11250422" y="3001137"/>
                    <a:pt x="11242802" y="3008630"/>
                    <a:pt x="1123353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1233531" y="2974848"/>
                  </a:lnTo>
                  <a:lnTo>
                    <a:pt x="11233531" y="2991739"/>
                  </a:lnTo>
                  <a:lnTo>
                    <a:pt x="11216640" y="299173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588503" y="7649975"/>
            <a:ext cx="830075" cy="830075"/>
            <a:chOff x="0" y="0"/>
            <a:chExt cx="1106767" cy="110676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710928" y="7772400"/>
            <a:ext cx="585216" cy="585216"/>
            <a:chOff x="0" y="0"/>
            <a:chExt cx="780288" cy="780288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570464" y="7150608"/>
            <a:ext cx="6986016" cy="1865376"/>
            <a:chOff x="0" y="0"/>
            <a:chExt cx="9314688" cy="24871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314688" cy="2487168"/>
            </a:xfrm>
            <a:custGeom>
              <a:avLst/>
              <a:gdLst/>
              <a:ahLst/>
              <a:cxnLst/>
              <a:rect r="r" b="b" t="t" l="l"/>
              <a:pathLst>
                <a:path h="24871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73" r="0" b="-2297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314688" cy="2534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Established an extensible foundation for future multilingual NLP features and additional Indian language support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50847" y="9466831"/>
            <a:ext cx="17386297" cy="561337"/>
            <a:chOff x="0" y="0"/>
            <a:chExt cx="23181729" cy="74844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8509" y="8509"/>
              <a:ext cx="23164801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1">
                  <a:moveTo>
                    <a:pt x="0" y="0"/>
                  </a:moveTo>
                  <a:lnTo>
                    <a:pt x="23164801" y="0"/>
                  </a:lnTo>
                  <a:lnTo>
                    <a:pt x="23164801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3181818" cy="748538"/>
            </a:xfrm>
            <a:custGeom>
              <a:avLst/>
              <a:gdLst/>
              <a:ahLst/>
              <a:cxnLst/>
              <a:rect r="r" b="b" t="t" l="l"/>
              <a:pathLst>
                <a:path h="748538" w="23181818">
                  <a:moveTo>
                    <a:pt x="8509" y="0"/>
                  </a:moveTo>
                  <a:lnTo>
                    <a:pt x="23173310" y="0"/>
                  </a:lnTo>
                  <a:cubicBezTo>
                    <a:pt x="23178008" y="0"/>
                    <a:pt x="23181818" y="3810"/>
                    <a:pt x="23181818" y="8509"/>
                  </a:cubicBezTo>
                  <a:lnTo>
                    <a:pt x="23181818" y="740029"/>
                  </a:lnTo>
                  <a:cubicBezTo>
                    <a:pt x="23181818" y="744728"/>
                    <a:pt x="23178008" y="748538"/>
                    <a:pt x="23173310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3173310" y="731520"/>
                  </a:lnTo>
                  <a:lnTo>
                    <a:pt x="23173310" y="740029"/>
                  </a:lnTo>
                  <a:lnTo>
                    <a:pt x="23164800" y="740029"/>
                  </a:lnTo>
                  <a:lnTo>
                    <a:pt x="23164800" y="8509"/>
                  </a:lnTo>
                  <a:lnTo>
                    <a:pt x="23173310" y="8509"/>
                  </a:lnTo>
                  <a:lnTo>
                    <a:pt x="231733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48640" y="9473184"/>
            <a:ext cx="17190720" cy="548640"/>
            <a:chOff x="0" y="0"/>
            <a:chExt cx="2292096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0BC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Science &amp; Engineering  |  IIT (BHU), Varanasi  |  2024–25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DAHIsF_Ut68</dc:identifier>
  <dcterms:modified xsi:type="dcterms:W3CDTF">2011-08-01T06:04:30Z</dcterms:modified>
  <cp:revision>1</cp:revision>
  <dc:title>dependency_parsing_nlp.pptx</dc:title>
</cp:coreProperties>
</file>